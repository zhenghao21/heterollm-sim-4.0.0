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描述五个已实现的抽象层级，不是一次访存的五个时间步骤。硬件组织和参数层提供显式几何与物理预算；数据地址层管理张量端点、owner、分配代次和物理范围；介质状态层维护HBM命令与HBF媒体/缓存；共享时间线与事件内核表达资源竞争和任务依赖；性能层再结合计算与链路模型输出系统指标。层级可被寻址，不意味着每一级都有独立总线或队列。已有机制模型不等于已校准目标芯片。来源：src/heterollm_sim/physical_contract.py:154–200、data_motion.py:314,1151,1250、memory_transfer.py:263–335、event_kernel.py:685,1036、memory_service.py:26–84、reporting.py:632,780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HBM正确组织是Device/内存端点→Stack→Physical Channel→PC→SID→Bank Group→Bank→Row→Column。图中只展开PC0，PC1拥有同样的组织。以16H HBM4参考为例：每Stack 32个物理Channel，每Channel两个PC；每PC四个SID，每SID两组，每组八个Bank，即每PC 64个Bank。bank_group在PC中连续编号，SID从bank/group地址推导，AddressMapping没有单独SID字段。SID/BG不提供额外DQ；Channel共享Row CA与Column CA，各PC有独立DQ，Bank有独立打开行与就绪状态。32B burst是服务粒度，不是新增硬件容器。当前per_stack几何中die映射为0，不能在PC与SID间再画一层独立Die执行资源或重复乘容量。HBM3/4的两个有效1KiB寻址页可共享2KiB激活页；Column是burst位置。analytical为另一简化模式，不能套用本图全部正常工作命令时序。来源：src/heterollm_sim/hbm_geometry.py:132,225,250,267、memory_types.py:577,589,593,629、memory_mapping.py:47,78,90,173、_hbm_control.py:70,79,95,206,309,318,364,486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本页区分物理HBF层级与通用NAND核心坐标。HBF设备由一个NandCore绑定owner并拥有聚合host接口。NandConfig没有独立stack几何字段；论文原生builder用连续16个Core channel表示一堆，每个实际Die映为一个Core channel并拥有内部搬运总线。Target、Core die、LUN作为通用几何坐标已经实现，但该配置都取1，不能再乘实际die数。每实际Die有25个Plane，各Plane独立阵列日历、媒体暂存就绪状态与两个读槽。同Die的Plane共享内部搬运总线，流量最后汇入设备host。Block是擦除、顺序写前沿和可选管理单位，Page是读/program、缓存标签和字节计费单位；Block/Page不各自拥有独立媒体执行日历。本例Page为4KiB，7堆形成112内部通道和2800个Plane。source：scripts/exploring_hbf_paper_config.py:272–342、src/heterollm_sim/memory_types.py:659,677,684,813、memory_mapping.py:124、nand_core.py:380–409,537,549,553,641,647,680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已实现范围的映射表，不是新增功能计划。数据地址层对权重、KV、激活和缓冲代次、owner、范围进行绑定和解析；两种介质按burst或page拆分。HBM的jedec_hbm维护Bank开行和正常工作命令、时序间隔、方向切换与刷新。HBF维护Plane媒体日历、媒体暂存和两个读缓存槽，槽标签、ready、最晚reader_end和LRU均有状态。资源层体现共享：Channel的两PC共用Row/Column CA但各有DQ；同实际Die的Plane共用内部通道，而Plane阵列资源独立，最后汇聚host。有状态Core结果在实际任务dispatch时回写事件内核，结合计算与链路模型产出系统指标。任务依赖来自任务图和访问描述，不应宣传为自动发现所有跨任务依赖。service_ns是可能重叠的完成跨度，不能当资源busy或整体makespan。来源：src/heterollm_sim/data_motion.py:314,1151,1250,1330–1496、event_kernel.py:685、memory_transfer.py:263–335、memory_service.py:26–84、_hbm_control.py:70–206、nand_core.py:380–409,647,1901–1956、reporting.py:632,780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范围需要分为媒体核心、可选管理和未覆盖细节。HBM有analytical与jedec_hbm，后者覆盖所示正常工作命令与时序，但不覆盖训练、自动预充电和完整刷新推迟策略。NandCore媒体核心本体不内置FTL/GC；论文generic_nand基线不启用上层管理。系统上层已存在strict ocp_hbf_0_7专用的HbfStagingController，提供有限HOST DRAM页合并、小型日志式FTL、异地写映射、free-block管理、victim选择、有效页复制及GC；strict OCP还约束页命令准入、完整对齐写、block顺序program和page-0自动erase。可选磨损反馈不等同于硬件级wear-level remapping。不要把模型已实现说成所有模式默认全部启用。仍不模拟逐bit/cell内容、电气电路、ECC/retention、完整AXI IDs与错误响应，也没有独立OOB/TSV阶段。参数有标准参考、论文输入和本地假设之分，尤其HBM4论文对照的tRRD/tFAW借用HBM3E参考；尚未目标芯片实测校准。来源：src/heterollm_sim/_hbm_control.py:1、dram_core.py:90、nand_core.py:353,608,680,716、memory_types.py:740–771、hbf_staging.py:476,491,503,864,908、scripts/exploring_hbf_paper_config.py:207–258,314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 /  覆盖总览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我们已完成哪些建模层级？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1018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/ HBF 已连接硬件组织、数据地址、介质时序、资源竞争与推理指标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当前工作区实现  ·  几何示例与模式范围均明确标注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492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6812280" cy="62179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93976"/>
            <a:ext cx="365760" cy="365760"/>
          </a:xfrm>
          <a:prstGeom prst="ellipse">
            <a:avLst/>
          </a:prstGeom>
          <a:solidFill>
            <a:srgbClr val="66D0E5"/>
          </a:solidFill>
          <a:ln w="12700">
            <a:solidFill>
              <a:srgbClr val="66D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75688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硬件组织与参数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77056" y="207568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几何、容量、方向带宽、时序、模式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594360" y="2715768"/>
            <a:ext cx="6812280" cy="62179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2843784"/>
            <a:ext cx="365760" cy="365760"/>
          </a:xfrm>
          <a:prstGeom prst="ellipse">
            <a:avLst/>
          </a:prstGeom>
          <a:solidFill>
            <a:srgbClr val="66D0E5"/>
          </a:solidFill>
          <a:ln w="12700">
            <a:solidFill>
              <a:srgbClr val="66D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25496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数据与物理地址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77056" y="282549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张量放置、地址与缓冲生命周期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94360" y="3465576"/>
            <a:ext cx="6812280" cy="62179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3593592"/>
            <a:ext cx="365760" cy="365760"/>
          </a:xfrm>
          <a:prstGeom prst="ellipse">
            <a:avLst/>
          </a:prstGeom>
          <a:solidFill>
            <a:srgbClr val="66D0E5"/>
          </a:solidFill>
          <a:ln w="12700">
            <a:solidFill>
              <a:srgbClr val="66D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575304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介质状态与时序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77056" y="357530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行与命令；HBF 页、块、读缓存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594360" y="4215384"/>
            <a:ext cx="6812280" cy="62179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343400"/>
            <a:ext cx="365760" cy="365760"/>
          </a:xfrm>
          <a:prstGeom prst="ellipse">
            <a:avLst/>
          </a:prstGeom>
          <a:solidFill>
            <a:srgbClr val="66D0E5"/>
          </a:solidFill>
          <a:ln w="12700">
            <a:solidFill>
              <a:srgbClr val="66D0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32511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共享资源与事件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77056" y="4325112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 Core、准入、排队、任务依赖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594360" y="4965192"/>
            <a:ext cx="6812280" cy="62179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5093208"/>
            <a:ext cx="365760" cy="365760"/>
          </a:xfrm>
          <a:prstGeom prst="ellipse">
            <a:avLst/>
          </a:prstGeom>
          <a:solidFill>
            <a:srgbClr val="66D0E5"/>
          </a:solidFill>
          <a:ln w="12700">
            <a:solidFill>
              <a:srgbClr val="66D0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074920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观测与性能输出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877056" y="507492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流量、busy、延迟与 Token 吞吐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7882128" y="195681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物理组织也已进入模型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882128" y="2624328"/>
            <a:ext cx="3730752" cy="126187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2779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6D0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10728" y="3218688"/>
            <a:ext cx="3246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→ Channel → PC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SID / BG → Bank / Row</a:t>
            </a:r>
            <a:endParaRPr lang="en-US" sz="1620" dirty="0"/>
          </a:p>
        </p:txBody>
      </p:sp>
      <p:sp>
        <p:nvSpPr>
          <p:cNvPr id="36" name="Shape 34"/>
          <p:cNvSpPr/>
          <p:nvPr/>
        </p:nvSpPr>
        <p:spPr>
          <a:xfrm>
            <a:off x="7882128" y="4215384"/>
            <a:ext cx="3730752" cy="1261872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0728" y="4370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B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110728" y="4800600"/>
            <a:ext cx="3246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/ 实际 Die → Plane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Block → Page → 页内字节</a:t>
            </a:r>
            <a:endParaRPr lang="en-US" sz="1620" dirty="0"/>
          </a:p>
        </p:txBody>
      </p:sp>
      <p:sp>
        <p:nvSpPr>
          <p:cNvPr id="39" name="Text 37"/>
          <p:cNvSpPr/>
          <p:nvPr/>
        </p:nvSpPr>
        <p:spPr>
          <a:xfrm>
            <a:off x="7882128" y="5815584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“有层级”与“有独立执行资源”需要分开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 /  物理组织 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HBM：已覆盖到 Bank / Row / Column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1018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16H HBM4 参考组织；以下状态与时序以 jedec_hbm 模式说明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当前工作区实现  ·  几何示例与模式范围均明确标注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492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6903720" cy="4087368"/>
          </a:xfrm>
          <a:prstGeom prst="rect">
            <a:avLst/>
          </a:prstGeom>
          <a:solidFill>
            <a:srgbClr val="F2F5F8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57400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/ 内存端点（一个 DramCore）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96112" y="2596896"/>
            <a:ext cx="6300216" cy="3136392"/>
          </a:xfrm>
          <a:prstGeom prst="rect">
            <a:avLst/>
          </a:prstGeom>
          <a:solidFill>
            <a:srgbClr val="E8F4F8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7340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15968" y="2752344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Channel / Stack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97864" y="3182112"/>
            <a:ext cx="569671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329184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9504" y="330098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Row CA + Column CA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490472" y="3703320"/>
            <a:ext cx="2990088" cy="1508760"/>
          </a:xfrm>
          <a:prstGeom prst="rect">
            <a:avLst/>
          </a:prstGeom>
          <a:solidFill>
            <a:srgbClr val="E8F4F8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377647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45536" y="37947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DQ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91640" y="408736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 × 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36776" y="4242816"/>
            <a:ext cx="0" cy="100584"/>
          </a:xfrm>
          <a:prstGeom prst="line">
            <a:avLst/>
          </a:prstGeom>
          <a:noFill/>
          <a:ln w="12700">
            <a:solidFill>
              <a:srgbClr val="0B7A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36776" y="4343400"/>
            <a:ext cx="128016" cy="0"/>
          </a:xfrm>
          <a:prstGeom prst="line">
            <a:avLst/>
          </a:prstGeom>
          <a:noFill/>
          <a:ln w="12700">
            <a:solidFill>
              <a:srgbClr val="0B7A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01368" y="4329684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Group × 2 / SID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746504" y="4485132"/>
            <a:ext cx="0" cy="100584"/>
          </a:xfrm>
          <a:prstGeom prst="line">
            <a:avLst/>
          </a:prstGeom>
          <a:noFill/>
          <a:ln w="12700">
            <a:solidFill>
              <a:srgbClr val="0B7A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46504" y="4585716"/>
            <a:ext cx="128016" cy="0"/>
          </a:xfrm>
          <a:prstGeom prst="line">
            <a:avLst/>
          </a:prstGeom>
          <a:noFill/>
          <a:ln w="12700">
            <a:solidFill>
              <a:srgbClr val="0B7A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11096" y="4572000"/>
            <a:ext cx="2249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× 8 / Group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856232" y="4727448"/>
            <a:ext cx="0" cy="100584"/>
          </a:xfrm>
          <a:prstGeom prst="line">
            <a:avLst/>
          </a:prstGeom>
          <a:noFill/>
          <a:ln w="12700">
            <a:solidFill>
              <a:srgbClr val="0B7A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56232" y="4828032"/>
            <a:ext cx="128016" cy="0"/>
          </a:xfrm>
          <a:prstGeom prst="line">
            <a:avLst/>
          </a:prstGeom>
          <a:noFill/>
          <a:ln w="12700">
            <a:solidFill>
              <a:srgbClr val="0B7A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4814316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→ Column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718304" y="3703320"/>
            <a:ext cx="1883664" cy="1508760"/>
          </a:xfrm>
          <a:prstGeom prst="rect">
            <a:avLst/>
          </a:prstGeom>
          <a:solidFill>
            <a:srgbClr val="E8F4F8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80390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01184" y="42793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 / BG / Bank 组织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901184" y="4873752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另有独立 DQ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18704" y="1975104"/>
            <a:ext cx="3675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组织层级 ≠ 总线数量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918704" y="2706624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918704" y="30175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PC 共享行命令与列命令总线</a:t>
            </a:r>
            <a:endParaRPr lang="en-US" sz="1530" dirty="0"/>
          </a:p>
        </p:txBody>
      </p:sp>
      <p:sp>
        <p:nvSpPr>
          <p:cNvPr id="35" name="Text 33"/>
          <p:cNvSpPr/>
          <p:nvPr/>
        </p:nvSpPr>
        <p:spPr>
          <a:xfrm>
            <a:off x="7918704" y="347472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918704" y="3785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PC 独立数据通道 DQ 及其时序历史</a:t>
            </a:r>
            <a:endParaRPr lang="en-US" sz="1530" dirty="0"/>
          </a:p>
        </p:txBody>
      </p:sp>
      <p:sp>
        <p:nvSpPr>
          <p:cNvPr id="37" name="Text 35"/>
          <p:cNvSpPr/>
          <p:nvPr/>
        </p:nvSpPr>
        <p:spPr>
          <a:xfrm>
            <a:off x="7918704" y="4242816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 / Bank Group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918704" y="4553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地址与时序区分维度；没有额外 DQ</a:t>
            </a:r>
            <a:endParaRPr lang="en-US" sz="1530" dirty="0"/>
          </a:p>
        </p:txBody>
      </p:sp>
      <p:sp>
        <p:nvSpPr>
          <p:cNvPr id="39" name="Text 37"/>
          <p:cNvSpPr/>
          <p:nvPr/>
        </p:nvSpPr>
        <p:spPr>
          <a:xfrm>
            <a:off x="7918704" y="5010912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/ Row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918704" y="53218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3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独立开行状态；行命中 / 冲突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 PRE / ACT 就绪时刻</a:t>
            </a:r>
            <a:endParaRPr lang="en-US" sz="1530" dirty="0"/>
          </a:p>
        </p:txBody>
      </p:sp>
      <p:sp>
        <p:nvSpPr>
          <p:cNvPr id="41" name="Text 39"/>
          <p:cNvSpPr/>
          <p:nvPr/>
        </p:nvSpPr>
        <p:spPr>
          <a:xfrm>
            <a:off x="594360" y="6181344"/>
            <a:ext cx="11018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B burst 是传输粒度；堆叠 die 已通过 SID 展开，容量不再重复乘一次 die 数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 /  物理组织 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HBF：已覆盖到 Plane / Block / Page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1018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论文原生配置：实际 Die 映射为内部 Channel；Stack 通过通道分组表达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当前工作区实现  ·  几何示例与模式范围均明确标注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492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929384"/>
            <a:ext cx="11018520" cy="594360"/>
          </a:xfrm>
          <a:prstGeom prst="rect">
            <a:avLst/>
          </a:prstGeom>
          <a:solidFill>
            <a:srgbClr val="FCEDD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6654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 设备 / 一个 NandCore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0" y="2084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host：1 个聚合接口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下面是组成与地址映射展开，不是读写步骤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1847088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3108960"/>
            <a:ext cx="2221992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0408" y="3108960"/>
            <a:ext cx="2432304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0768" y="3108960"/>
            <a:ext cx="3182112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4233672"/>
            <a:ext cx="292608" cy="0"/>
          </a:xfrm>
          <a:prstGeom prst="line">
            <a:avLst/>
          </a:prstGeom>
          <a:noFill/>
          <a:ln w="21590">
            <a:solidFill>
              <a:srgbClr val="AC622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4233672"/>
            <a:ext cx="292608" cy="0"/>
          </a:xfrm>
          <a:prstGeom prst="line">
            <a:avLst/>
          </a:prstGeom>
          <a:noFill/>
          <a:ln w="21590">
            <a:solidFill>
              <a:srgbClr val="AC62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4233672"/>
            <a:ext cx="292608" cy="0"/>
          </a:xfrm>
          <a:prstGeom prst="line">
            <a:avLst/>
          </a:prstGeom>
          <a:noFill/>
          <a:ln w="21590">
            <a:solidFill>
              <a:srgbClr val="AC622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8096" y="3273552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分组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9536" y="3849624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79576" y="3849624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9616" y="3849624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9656" y="3849624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4069080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9576" y="4069080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4069080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19656" y="4069080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288536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9576" y="4288536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99616" y="4288536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19656" y="4288536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" y="4507992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9576" y="4507992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99616" y="4507992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19656" y="4507992"/>
            <a:ext cx="228600" cy="137160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9011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个实际 Die / 堆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3072384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 Die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072384" y="365760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⇔ Core Channel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3072384" y="4160520"/>
            <a:ext cx="1819656" cy="649224"/>
          </a:xfrm>
          <a:prstGeom prst="rect">
            <a:avLst/>
          </a:prstGeom>
          <a:solidFill>
            <a:srgbClr val="FCEDDF"/>
          </a:solidFill>
          <a:ln w="10160">
            <a:solidFill>
              <a:srgbClr val="FCED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428853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内部搬运总线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72384" y="491032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Die 的 Plane 共享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5742432" y="3264408"/>
            <a:ext cx="2048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Plane × 25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742432" y="374904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独立阵列执行资源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介质暂存就绪状态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42432" y="453542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Plane 两个读槽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5742432" y="4910328"/>
            <a:ext cx="896112" cy="237744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85432" y="4910328"/>
            <a:ext cx="896112" cy="237744"/>
          </a:xfrm>
          <a:prstGeom prst="rect">
            <a:avLst/>
          </a:prstGeom>
          <a:solidFill>
            <a:srgbClr val="FCEDDF"/>
          </a:solidFill>
          <a:ln w="10160">
            <a:solidFill>
              <a:srgbClr val="AC62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3310128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C6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Block：擦除单位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641080" y="3803904"/>
            <a:ext cx="2734056" cy="1271016"/>
          </a:xfrm>
          <a:prstGeom prst="rect">
            <a:avLst/>
          </a:prstGeom>
          <a:solidFill>
            <a:srgbClr val="FCEDDF"/>
          </a:solidFill>
          <a:ln w="10160">
            <a:solidFill>
              <a:srgbClr val="C8D3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33104" y="3977640"/>
            <a:ext cx="2340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Page：Read / Program</a:t>
            </a:r>
            <a:endParaRPr lang="en-US" sz="1580" dirty="0"/>
          </a:p>
        </p:txBody>
      </p:sp>
      <p:sp>
        <p:nvSpPr>
          <p:cNvPr id="49" name="Text 47"/>
          <p:cNvSpPr/>
          <p:nvPr/>
        </p:nvSpPr>
        <p:spPr>
          <a:xfrm>
            <a:off x="8833104" y="44439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KiB 页 → 页内字节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641080" y="5120640"/>
            <a:ext cx="2752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 / Page 可寻址与计费，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不各自新增一条阵列总线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94360" y="580644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NAND 坐标：Channel → Target → Core die → LUN → Plane → Block → Page → offset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94360" y="6208776"/>
            <a:ext cx="11018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本配置 Target / Core die / LUN 每级数量均为 1；7 堆 = 112 个内部通道、2,800 个 Plane 阵列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 /  建模深度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每一层，都维护了哪些状态与资源？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1018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有地址层级，不代表每一层都有独立执行器；共享关系决定并行与等待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当前工作区实现  ·  几何示例与模式范围均明确标注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492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05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7672"/>
          <a:ext cx="110185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681728"/>
                <a:gridCol w="482803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作用层级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HBM：jedec_hbm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HBF：论文原生页服务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 / 地址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张量 → owner 与缓冲地址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B burst 拆分与物理映射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相同访问契约，按 Page 拆分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页内偏移、对齐、部分写 RMW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介质状态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Bank 开行；ACT / PRE / RD / WR / REF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命令间隔、方向切换、刷新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Plane 读 / Program / Erase、介质暂存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双槽标签 / ready / reader_end / LRU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共享资源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Channel 共享 Row CA / Column CA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 各有 DQ；Bank 各有行状态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每实际 Die 的内部通道由 Plane 共享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Plane 独立阵列，设备 host 汇聚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 / 观测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有状态 Core → 资源日历 → 任务依赖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完成时间、流量、命令、等待、busy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再结合计算与链路模型 → 系统指标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B2E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makespan、TTFT、TPOT、Token 吞吐</a:t>
                      </a:r>
                      <a:endParaRPr lang="en-US" sz="15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D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6318504"/>
            <a:ext cx="11018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27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统计口径分开：逻辑 / 物理字节；服务跨度 service_ns / 资源 busy / 总耗时 makespan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HeteroLLM-Sim  /  范围与边界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已实现范围与模型边界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1018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完成的是可配置机制模型；不同控制与协议模式启用不同能力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当前工作区实现  ·  几何示例与模式范围均明确标注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91088" y="6492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984248"/>
            <a:ext cx="5312664" cy="2386584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12848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6D0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媒体核心：已实现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2779776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HBM：组织、地址、行状态、命令与资源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255264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HBF：组织、块页操作、缓存与总线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3803904"/>
            <a:ext cx="4818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generic 基线不启用上层 FTL / GC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91072" y="1984248"/>
            <a:ext cx="5321808" cy="2386584"/>
          </a:xfrm>
          <a:prstGeom prst="rect">
            <a:avLst/>
          </a:prstGeom>
          <a:solidFill>
            <a:srgbClr val="1B3049"/>
          </a:solidFill>
          <a:ln w="10160">
            <a:solidFill>
              <a:srgbClr val="1B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12848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B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可选控制 / 管理：已实现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37960" y="2779776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OCP：页命令准入、顺序写、自动擦除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37960" y="3255264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HOST 暂存：页合并 + 日志式 FTL + GC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37960" y="3803904"/>
            <a:ext cx="4818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另有可选磨损反馈；均按配置启用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76402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321808"/>
            <a:ext cx="365760" cy="365760"/>
          </a:xfrm>
          <a:prstGeom prst="ellipse">
            <a:avLst/>
          </a:prstGeom>
          <a:solidFill>
            <a:srgbClr val="F2B46E"/>
          </a:solidFill>
          <a:ln w="12700">
            <a:solidFill>
              <a:srgbClr val="F2B4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4712" y="5330952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电路与内容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94360" y="580644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不模拟逐 bit / cell 内容、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ECC 与 retention 等行为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16552" y="5321808"/>
            <a:ext cx="365760" cy="365760"/>
          </a:xfrm>
          <a:prstGeom prst="ellipse">
            <a:avLst/>
          </a:prstGeom>
          <a:solidFill>
            <a:srgbClr val="F2B46E"/>
          </a:solidFill>
          <a:ln w="12700">
            <a:solidFill>
              <a:srgbClr val="F2B4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46904" y="5330952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完整协议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416552" y="580644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正常工作命令子集；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不宣称完整 JEDEC / AXI 复现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38744" y="5321808"/>
            <a:ext cx="365760" cy="365760"/>
          </a:xfrm>
          <a:prstGeom prst="ellipse">
            <a:avLst/>
          </a:prstGeom>
          <a:solidFill>
            <a:srgbClr val="F2B46E"/>
          </a:solidFill>
          <a:ln w="12700">
            <a:solidFill>
              <a:srgbClr val="F2B4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C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9096" y="5330952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参数与校准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8238744" y="580644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标准参考、论文输入与研究假设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9C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不等于目标芯片实测校准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HeteroLLM-Sim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HBM / HBF 已建模层级</dc:title>
  <dc:subject>当前代码中 HBM/HBF 已实现的组织、状态、资源及管理层级</dc:subject>
  <dc:creator>HeteroLLM-Sim</dc:creator>
  <cp:lastModifiedBy>HeteroLLM-Sim</cp:lastModifiedBy>
  <cp:revision>1</cp:revision>
  <dcterms:created xsi:type="dcterms:W3CDTF">2026-10-26T13:03:01Z</dcterms:created>
  <dcterms:modified xsi:type="dcterms:W3CDTF">2026-10-26T13:03:01Z</dcterms:modified>
</cp:coreProperties>
</file>