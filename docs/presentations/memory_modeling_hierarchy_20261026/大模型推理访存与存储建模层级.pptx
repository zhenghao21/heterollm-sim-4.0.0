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HBM</c:v>
                </c:pt>
              </c:strCache>
            </c:strRef>
          </c:tx>
          <c:spPr>
            <a:solidFill>
              <a:srgbClr val="2A78D6"/>
            </a:solidFill>
            <a:effectLst/>
          </c:spPr>
          <c:invertIfNegative val="0"/>
          <c:dLbls>
            <c:numFmt formatCode="#,##0" sourceLinked="0"/>
            <c:txPr>
              <a:bodyPr/>
              <a:lstStyle/>
              <a:p>
                <a:pPr>
                  <a:defRPr b="0" i="0" strike="noStrike" sz="1200" u="none">
                    <a:solidFill>
                      <a:srgbClr val="1A1D23"/>
                    </a:solidFill>
                    <a:latin typeface="Microsoft YaHei"/>
                  </a:defRPr>
                </a:pPr>
              </a:p>
            </c:txPr>
            <c:showLegendKey val="0"/>
            <c:showVal val="1"/>
            <c:showCatName val="0"/>
            <c:showSerName val="0"/>
            <c:showPercent val="0"/>
            <c:showBubbleSize val="0"/>
            <c:showLeaderLines val="0"/>
          </c:dLbls>
          <c:cat>
            <c:multiLvlStrRef>
              <c:f>Sheet1!$A$2:$A$3</c:f>
              <c:multiLvlStrCache>
                <c:ptCount val="2"/>
                <c:lvl>
                  <c:pt idx="0">
                    <c:v>相邻存放</c:v>
                  </c:pt>
                  <c:pt idx="1">
                    <c:v>随机分散存放</c:v>
                  </c:pt>
                </c:lvl>
              </c:multiLvlStrCache>
            </c:multiLvlStrRef>
          </c:cat>
          <c:val>
            <c:numRef>
              <c:f>Sheet1!$B$2:$B$3</c:f>
              <c:numCache>
                <c:formatCode>General</c:formatCode>
                <c:ptCount val="2"/>
                <c:pt idx="0">
                  <c:v>2925.7142857142853</c:v>
                </c:pt>
                <c:pt idx="1">
                  <c:v>1173.6389684813753</c:v>
                </c:pt>
              </c:numCache>
            </c:numRef>
          </c:val>
        </c:ser>
        <c:dLbls>
          <c:numFmt formatCode="#,##0" sourceLinked="0"/>
          <c:txPr>
            <a:bodyPr/>
            <a:lstStyle/>
            <a:p>
              <a:pPr>
                <a:defRPr b="0" i="0" strike="noStrike" sz="1200" u="none">
                  <a:solidFill>
                    <a:srgbClr val="1A1D23"/>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D23"/>
                </a:solidFill>
                <a:latin typeface="Microsoft YaHei"/>
              </a:defRPr>
            </a:pPr>
            <a:endParaRPr lang="en-US"/>
          </a:p>
        </c:txPr>
        <c:crossAx val="2094734552"/>
        <c:crosses val="autoZero"/>
        <c:auto val="1"/>
        <c:lblAlgn val="ctr"/>
        <c:noMultiLvlLbl val="1"/>
      </c:catAx>
      <c:valAx>
        <c:axId val="2094734552"/>
        <c:scaling>
          <c:orientation val="minMax"/>
          <c:max val="36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HBM</c:v>
                </c:pt>
              </c:strCache>
            </c:strRef>
          </c:tx>
          <c:spPr>
            <a:solidFill>
              <a:srgbClr val="2A78D6"/>
            </a:solidFill>
            <a:effectLst/>
          </c:spPr>
          <c:invertIfNegative val="0"/>
          <c:dLbls>
            <c:numFmt formatCode="#,##0" sourceLinked="0"/>
            <c:txPr>
              <a:bodyPr/>
              <a:lstStyle/>
              <a:p>
                <a:pPr>
                  <a:defRPr b="0" i="0" strike="noStrike" sz="1200" u="none">
                    <a:solidFill>
                      <a:srgbClr val="1A1D23"/>
                    </a:solidFill>
                    <a:latin typeface="Microsoft YaHei"/>
                  </a:defRPr>
                </a:pPr>
              </a:p>
            </c:txPr>
            <c:showLegendKey val="0"/>
            <c:showVal val="1"/>
            <c:showCatName val="0"/>
            <c:showSerName val="0"/>
            <c:showPercent val="0"/>
            <c:showBubbleSize val="0"/>
            <c:showLeaderLines val="0"/>
          </c:dLbls>
          <c:cat>
            <c:multiLvlStrRef>
              <c:f>Sheet1!$A$2:$A$4</c:f>
              <c:multiLvlStrCache>
                <c:ptCount val="3"/>
                <c:lvl>
                  <c:pt idx="0">
                    <c:v>地址连续</c:v>
                  </c:pt>
                  <c:pt idx="1">
                    <c:v>4 KiB 对齐分散</c:v>
                  </c:pt>
                  <c:pt idx="2">
                    <c:v>实际 KV 地址</c:v>
                  </c:pt>
                </c:lvl>
              </c:multiLvlStrCache>
            </c:multiLvlStrRef>
          </c:cat>
          <c:val>
            <c:numRef>
              <c:f>Sheet1!$B$2:$B$4</c:f>
              <c:numCache>
                <c:formatCode>General</c:formatCode>
                <c:ptCount val="3"/>
                <c:pt idx="0">
                  <c:v>9575</c:v>
                </c:pt>
                <c:pt idx="1">
                  <c:v>2494</c:v>
                </c:pt>
                <c:pt idx="2">
                  <c:v>2484</c:v>
                </c:pt>
              </c:numCache>
            </c:numRef>
          </c:val>
        </c:ser>
        <c:dLbls>
          <c:numFmt formatCode="#,##0" sourceLinked="0"/>
          <c:txPr>
            <a:bodyPr/>
            <a:lstStyle/>
            <a:p>
              <a:pPr>
                <a:defRPr b="0" i="0" strike="noStrike" sz="1200" u="none">
                  <a:solidFill>
                    <a:srgbClr val="1A1D23"/>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D23"/>
                </a:solidFill>
                <a:latin typeface="Microsoft YaHei"/>
              </a:defRPr>
            </a:pPr>
            <a:endParaRPr lang="en-US"/>
          </a:p>
        </c:txPr>
        <c:crossAx val="2094734552"/>
        <c:crosses val="autoZero"/>
        <c:auto val="1"/>
        <c:lblAlgn val="ctr"/>
        <c:noMultiLvlLbl val="1"/>
      </c:catAx>
      <c:valAx>
        <c:axId val="2094734552"/>
        <c:scaling>
          <c:orientation val="minMax"/>
          <c:max val="11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HBM</c:v>
                </c:pt>
              </c:strCache>
            </c:strRef>
          </c:tx>
          <c:spPr>
            <a:solidFill>
              <a:srgbClr val="2A78D6"/>
            </a:solidFill>
            <a:effectLst/>
          </c:spPr>
          <c:invertIfNegative val="0"/>
          <c:dLbls>
            <c:numFmt formatCode="[&lt;1]0.00;[&lt;100]0.0;#,##0" sourceLinked="0"/>
            <c:txPr>
              <a:bodyPr/>
              <a:lstStyle/>
              <a:p>
                <a:pPr>
                  <a:defRPr b="0" i="0" strike="noStrike" sz="1000" u="none">
                    <a:solidFill>
                      <a:srgbClr val="1A1D23"/>
                    </a:solidFill>
                    <a:latin typeface="Microsoft YaHei"/>
                  </a:defRPr>
                </a:pPr>
              </a:p>
            </c:txPr>
            <c:showLegendKey val="0"/>
            <c:showVal val="1"/>
            <c:showCatName val="0"/>
            <c:showSerName val="0"/>
            <c:showPercent val="0"/>
            <c:showBubbleSize val="0"/>
            <c:showLeaderLines val="0"/>
          </c:dLbls>
          <c:cat>
            <c:multiLvlStrRef>
              <c:f>Sheet1!$A$2:$A$6</c:f>
              <c:multiLvlStrCache>
                <c:ptCount val="5"/>
                <c:lvl>
                  <c:pt idx="0">
                    <c:v>1 token
256 B</c:v>
                  </c:pt>
                  <c:pt idx="1">
                    <c:v>16 token
4 KiB</c:v>
                  </c:pt>
                  <c:pt idx="2">
                    <c:v>SHORT
425 KB</c:v>
                  </c:pt>
                  <c:pt idx="3">
                    <c:v>MID
1.5 MB</c:v>
                  </c:pt>
                  <c:pt idx="4">
                    <c:v>LONG
26.5 MB</c:v>
                  </c:pt>
                </c:lvl>
              </c:multiLvlStrCache>
            </c:multiLvlStrRef>
          </c:cat>
          <c:val>
            <c:numRef>
              <c:f>Sheet1!$B$2:$B$6</c:f>
              <c:numCache>
                <c:formatCode>General</c:formatCode>
                <c:ptCount val="5"/>
                <c:pt idx="0">
                  <c:v>6.779661016949153</c:v>
                </c:pt>
                <c:pt idx="1">
                  <c:v>108.47457627118645</c:v>
                </c:pt>
                <c:pt idx="2">
                  <c:v>2573.6434108527133</c:v>
                </c:pt>
                <c:pt idx="3">
                  <c:v>3794.212218649518</c:v>
                </c:pt>
                <c:pt idx="4">
                  <c:v>10714.285714285714</c:v>
                </c:pt>
              </c:numCache>
            </c:numRef>
          </c:val>
        </c:ser>
        <c:ser>
          <c:idx val="1"/>
          <c:order val="1"/>
          <c:tx>
            <c:strRef>
              <c:f>Sheet1!$C$1</c:f>
              <c:strCache>
                <c:ptCount val="1"/>
                <c:pt idx="0">
                  <c:v>HBF</c:v>
                </c:pt>
              </c:strCache>
            </c:strRef>
          </c:tx>
          <c:spPr>
            <a:solidFill>
              <a:srgbClr val="EB6834"/>
            </a:solidFill>
            <a:effectLst/>
          </c:spPr>
          <c:invertIfNegative val="0"/>
          <c:dLbls>
            <c:numFmt formatCode="[&lt;1]0.00;[&lt;100]0.0;#,##0" sourceLinked="0"/>
            <c:txPr>
              <a:bodyPr/>
              <a:lstStyle/>
              <a:p>
                <a:pPr>
                  <a:defRPr b="0" i="0" strike="noStrike" sz="1000" u="none">
                    <a:solidFill>
                      <a:srgbClr val="1A1D23"/>
                    </a:solidFill>
                    <a:latin typeface="Microsoft YaHei"/>
                  </a:defRPr>
                </a:pPr>
              </a:p>
            </c:txPr>
            <c:showLegendKey val="0"/>
            <c:showVal val="1"/>
            <c:showCatName val="0"/>
            <c:showSerName val="0"/>
            <c:showPercent val="0"/>
            <c:showBubbleSize val="0"/>
            <c:showLeaderLines val="0"/>
          </c:dLbls>
          <c:cat>
            <c:multiLvlStrRef>
              <c:f>Sheet1!$A$2:$A$6</c:f>
              <c:multiLvlStrCache>
                <c:ptCount val="5"/>
                <c:lvl>
                  <c:pt idx="0">
                    <c:v>1 token
256 B</c:v>
                  </c:pt>
                  <c:pt idx="1">
                    <c:v>16 token
4 KiB</c:v>
                  </c:pt>
                  <c:pt idx="2">
                    <c:v>SHORT
425 KB</c:v>
                  </c:pt>
                  <c:pt idx="3">
                    <c:v>MID
1.5 MB</c:v>
                  </c:pt>
                  <c:pt idx="4">
                    <c:v>LONG
26.5 MB</c:v>
                  </c:pt>
                </c:lvl>
              </c:multiLvlStrCache>
            </c:multiLvlStrRef>
          </c:cat>
          <c:val>
            <c:numRef>
              <c:f>Sheet1!$C$2:$C$6</c:f>
              <c:numCache>
                <c:formatCode>General</c:formatCode>
                <c:ptCount val="5"/>
                <c:pt idx="0">
                  <c:v>0.24584046709688745</c:v>
                </c:pt>
                <c:pt idx="1">
                  <c:v>3.933447473550199</c:v>
                </c:pt>
                <c:pt idx="2">
                  <c:v>393.84823963055203</c:v>
                </c:pt>
                <c:pt idx="3">
                  <c:v>1284.4536018348977</c:v>
                </c:pt>
                <c:pt idx="4">
                  <c:v>7700.790540091702</c:v>
                </c:pt>
              </c:numCache>
            </c:numRef>
          </c:val>
        </c:ser>
        <c:dLbls>
          <c:numFmt formatCode="[&lt;1]0.00;[&lt;100]0.0;#,##0" sourceLinked="0"/>
          <c:txPr>
            <a:bodyPr/>
            <a:lstStyle/>
            <a:p>
              <a:pPr>
                <a:defRPr b="0" i="0" strike="noStrike" sz="1000" u="none">
                  <a:solidFill>
                    <a:srgbClr val="1A1D23"/>
                  </a:solidFill>
                  <a:latin typeface="Microsoft YaHe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D23"/>
                </a:solidFill>
                <a:latin typeface="Microsoft YaHei"/>
              </a:defRPr>
            </a:pPr>
            <a:endParaRPr lang="en-US"/>
          </a:p>
        </c:txPr>
        <c:crossAx val="2094734552"/>
        <c:crossesAt val="0.1"/>
        <c:auto val="1"/>
        <c:lblAlgn val="ctr"/>
        <c:noMultiLvlLbl val="1"/>
      </c:catAx>
      <c:valAx>
        <c:axId val="2094734552"/>
        <c:scaling>
          <c:logBase val="10"/>
          <c:orientation val="minMax"/>
          <c:max val="100000"/>
          <c:min val="0.1"/>
        </c:scaling>
        <c:delete val="0"/>
        <c:axPos val="l"/>
        <c:majorGridlines>
          <c:spPr>
            <a:ln w="6350" cap="flat">
              <a:solidFill>
                <a:srgbClr val="E8E8E4"/>
              </a:solidFill>
              <a:prstDash val="solid"/>
              <a:round/>
            </a:ln>
          </c:spPr>
        </c:majorGridlines>
        <c:numFmt formatCode="[&lt;1]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各位领导好。今天我想讲清楚一件事：我们的仿真器，为什么要把 HBM、HBF、SRAM 这几种存储器建模得这么细，细到每一次读写、每一个存储单元当时的状态。
一句话的答案是：大模型推理的时候，读一次数据要多久，不是由存储器的带宽决定的，而是由“怎么读”决定的。同样这么多字节，快慢能差几十倍，甚至几千倍。
下面我用仿真器自己跑出来的数据，把这件事讲清楚。
—— 备查（数据与代码出处）——
这份材料回答一个问题：为什么仿真器要把 HBM、HBF、SRAM 建模到 burst、页、端口这一级，而不是用一个带宽数折算。核心观点：大模型推理里单次访存的大小、存放位置、并发度、读写方向差别很大，同样的字节数耗时可以差几十到几万倍；只有按介质的物理层级逐请求计算，仿真才能反映这些情况。所有数字都是用仿真器自己的介质核心（DramCore、NandCore、SramCore）跑出来的，脚本 probe_memory_patterns.py，结果 probe_results.json。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先说结论，看三个例子。
第一个，只读一个 token 的 KV，也就是 256 字节，非常小。HBM 不到 40 纳秒，HBF 要 1 微秒多，差了将近 30 倍。这不是因为 HBF 带宽不够，而是因为 HBF 每次至少要从闪存里读出一整页 4 KB，哪怕你只要其中 256 字节。
第二个，同样读 1 MB，数据挨着放和散着放，HBM 的速度能差两倍半。字节数一模一样，只是存放的位置不同。
第三个，写一个 token 的 KV。HBM 二十几纳秒，HBF 要 100 微秒，差了四千多倍。打个比方：如果 HBM 写一次算 1 秒钟，HBF 这一次小写入要等一个多小时。
【指向下面一排因素】所以决定一次访存要多久的，是这几件事：一次读多大、数据放在哪、同时有多少请求在排队、是读还是写、存储器当时处在什么状态。只用一个带宽数字去算，这些因素全被抹掉了。
—— 备查（数据与代码出处）——
三张卡片对应汇报要回答的三类典型情况。卡片一：读 1 个 token 的 KV。405B、TP8 时每张卡每层每 token 的 K 只有 256 B。HBM 冷启动读完 37.76 ns，HBF 1041.3 ns，因为 HBF 要先做 1 µs 的阵列读页，再把整页 4 KiB 搬出来。卡片二：同样是 256 次 4 KiB 读、总共 1 MiB，相邻存放 2,926 GB/s，随机分散存放 1,174 GB/s；分散后行冲突 12288 次，相邻存放为 0。卡片三：写 1 个 token 的 KV，HBM 22.4 ns，HBF 101.08 µs（读改写：旧页读 1 µs + 整页编程 100 µs）。这些差异来自访问形态，不是来自介质标称带宽，所以必须精细建模。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那大模型推理时，实际的访存是什么样子？我们以 405B 模型、8 张卡做张量并行为例。每生成一个 token，每张卡上同时发生好几类访存。
第一类是权重。每层大约 0.8 GB，一大块连续读，每生成一个 token 都要完整读一遍。这种访问对存储器最友好。
第二类是读 KV，也就是模型对历史上下文的“记忆”。每个请求、每一层，各自读自己那一段。短对话几百 KB，长文档能到几十 MB。而且一批请求里，每个请求的长度都不一样，存的位置也是分散的。
第三类是写 KV。每生成一个 token，每层只追加 256 字节。量很小，但每一步都有。
再加上中间计算结果、从 Prefill 节点导入过来的 KV，等等。
关键在于，这些访存是同时发生的，在抢同一批存储资源。同一份数据，一次访问可能只有 256 字节，也可能是 GB 级。存储器表现得好不好，取决于这些访问混在一起之后的效果，而不是其中任何一种。
—— 备查（数据与代码出处）——
这一页把领导关心的“访存很复杂”具体化。数字按 405B、TP8 计算：每卡每层权重约 811.7 GB ÷ 126 层 ÷ 8 卡 ≈ 0.8 GB；KV 每 token 每层每卡 K、V 各 256 B（8 个 KV 头分到 8 张卡，每张 1 个头 × 128 维 × 2 B）。仿真器中 KV 的真实布局：每个请求、每一层各有独立的 K 缓冲区和 V 缓冲区，按 token 顺序连续存放（planner.py 的 _generic_kv_owner_contract，layout=separate_token_major_k_and_v）。所以 Decode 一步里既有权重的大块连续读，也有每个请求各一段的 KV 读，还有每 token 256 B 的 KV 追加写，以及 PD 导入的大块写。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仿真器怎么处理这么复杂的情况？我们没有用“字节数除以带宽”这种算法，而是让每一次访存都走一遍真实的路径。
算子声明要读写哪些数据；分配器给出这些数据实际存放的地址；然后生成一个访存请求，写明是读还是写、从哪个地址开始、多少字节、什么时候发出。
这个请求交给对应的存储器模型。它做两件事，也是今天的重点：第一，把请求拆成这种存储器能处理的最小单位，算出落在哪些物理单元上，再看这些单元当前处于什么状态；第二，这些单元、总线、通道都是大家共用的，忙了就得排队。
排完队得到的完成时间，再回到推理流程里，最终变成每 token 延迟、首 token 时间和吞吐。
所以在仿真器里，同样的字节数，会因为访问方式不同，算出相差几个数量级的时间。
—— 备查（数据与代码出处）——
这一页说明仿真器的总体结构，三种介质共用这条链路。第 1～3 步：算子声明缓冲区，分配器给出不重叠的物理地址，派发时生成 AccessRequest（操作、地址、字节数、到达时间）。第 4 步：介质核心按自己的物理组织拆分请求——HBM 拆成 32 B burst，HBF 拆成 4 KiB 页，SRAM 拆成 64 B burst——再把地址映射到具体的物理单元，查询当前状态（开着哪一行、页缓冲里有哪一页）。第 5 步：每一段操作都要在共享资源的时间表上预约，资源忙就排队。第 6 步：完成时间回到事件内核，决定算子何时结束，最终汇总成 Token 指标。与“字节数除以带宽”的区别：仿真器得到的是排队与依赖后的完成时刻，所以能反映访问形态的影响。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三种存储器，建模的细致程度不一样，原因是它们的物理结构不一样。
【指 HBM 列】HBM 可以想象成一大排档案柜。每个柜子就是一个 bank，柜子里有很多抽屉，就是“行”。规矩是：一个柜子同一时间只能拉开一个抽屉，换抽屉要先推回去、再拉开新的。我们一路建模到最小的搬运单位，一次 32 字节。HBM 的访问时间跟数据位置有关，根源就在这里。
【指 HBF 列】HBF 是闪存，更像一个大仓库，规矩是只能整箱出货，一箱 4 KB，取一箱要等 1 微秒，比 HBM 慢得多。但这个仓库有 2800 个拣货员，各自独立取货，可以同时开工，并行度非常高。
【指 SRAM 列】SRAM 最简单，就像手边的货架，没有抽屉也没有箱子，8 个窗口轮流服务。
每一列最下面那一格，就是这种存储器的最小单位。最小单位越大，小访问就越吃亏。
—— 备查（数据与代码出处）——
三列分别是三种介质在仿真器里的建模层级，从上到下是地址被逐级分解的顺序，最下面一格是最小搬运单位。HBM：8 堆 × 32 通道 × 2 个伪通道 = 512 条独立数据通路；每个伪通道 8 个 bank group × 8 个 bank；每个 bank 16,384 行、每行 1 KiB；一次 burst 32 B。仿真器记住每个 bank 当前开着哪一行，并模拟 ACT/PRE/RD/WR/刷新命令在共享命令总线上的发令与时序约束。HBF：7 堆 × 16 die × 25 plane = 2,800 个可独立读页的阵列；每个 die 一条 100 GB/s 内部通道，同一 die 的 25 个 plane 共用；最小读出单位是 4 KiB 页。每个 plane 有 2 个页缓冲，命中时不用重新读页。SRAM：没有行和页的概念，只按 64 B burst 轮流分到 8 个端口，端口带宽与在途额度是唯一会排队的资源。层级深度不是统一的，而是由介质的物理特性决定。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我们拿一段具体的 KV，看它在三种存储器里分别是怎么放的。一个请求、一层的 K，按 token 顺序排好，每个 token 256 字节。
在 HBM 里，这 256 字节被切成 8 份，每份 32 字节，分到 8 条不同的数据通路上同时传。好处是并行；代价是每条通路都得先拉开一次抽屉。所以冷启动读一个 token 要 37 纳秒左右，其中将近一半时间花在开抽屉上，剩下的主要是读出数据的固定延迟。
在 HBF 里，前 16 个 token 正好凑满一页。读第一个 token，就得把整箱搬出来，1 微秒。但有个好处：这一箱会暂时留在拣货员手边的缓冲区里，下一步读第二个 token 时不用再进仓库取，不到 1 纳秒就拿到了。下一页、再下一页，会依次交给不同的拣货员，所以大块读能让很多拣货员同时干活。
SRAM 就很简单：切成 64 字节一份，分到几个窗口，1 纳秒左右。
这页想说明：同一段数据，在不同存储器里的物理形态完全不一样，所以不能用同一个公式去算。
—— 备查（数据与代码出处）——
这一页把“KV 访存需求”和“介质最小单位”对上号，直接对应汇报里提到的两个例子。HBM：地址按 32 B 交织到 512 条数据通路（每条是一个伪通道）。一个 token 的 256 B 落到 8 条通路上，可以同时传输；但每条通路上的 bank 都要先开行，所以冷启动是 37.8 ns 而不是几个纳秒。如果数据存放得很分散，每次 burst 都可能落到新的行上，开行/关行时间就成了主要开销（下一页细讲）。HBF：16 个 token 才凑满一个 4 KiB 页。只读 1 个 token 时，阵列仍要整页读出（1 µs），这是短读的代价；但读完后该页留在 plane 的页缓冲里，紧接着读同页的下一个 token 只需主机传输。相邻的页先轮转到 112 个 die 上，再换下一个 plane，所以大块连续读能同时动用很多 plane。SRAM：只按 64 B 轮流分到端口，没有状态，耗时基本就是 1 ns 流水线加传输。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细看 HBM 的一次读。同样读 32 字节，分三种情况。
第一种，要的那个抽屉正好开着，直接拿，22 纳秒。
第二种，柜子里没有抽屉开着，先拉开、等它打开，再拿，36 纳秒。
第三种，柜子里开着别的抽屉，得先推回去，再拉开要的那个，再拿，52 纳秒，是第一种的两倍多。
走哪条路，取决于上一次访问把这个柜子留在了什么状态。仿真器为每一个 bank 都记着“现在开着哪一行”，每一次访问都会改变这个状态，再影响下一次。
【指右侧】除此之外还有很多规则要同时遵守：同一片区域短时间内不能开太多抽屉；两个伪通道共用一套命令线；每隔 3.9 微秒还要停下来刷新一次。每条规则单独看都只是几纳秒的事，但成千上万次叠加起来，就决定了实际能跑出多少带宽。
—— 备查（数据与代码出处）——
三条时间轴来自仿真器实际输出的命令阶段（capture_details 模式），按同一比例绘制。行命中：只发一条 RD，经过 20.48 ns 读延迟后传 32 B，总 22.2 ns。未开行：先 ACT，等 tRCD 14 ns 才能发 RD，总 36.5 ns。行冲突：先 PRE 关掉旧行、等 tRP，再 ACT、等 tRCD，再 RD，总 52.3 ns，是命中的 2.4 倍。这就是“HBM 的访存时间与数据存储位置强相关”的物理来源：位置决定了落在哪个 bank、哪一行，而 bank 当前开着哪一行决定走哪条路径。右侧是同时生效的其他约束：开行速率 tRRD/tFAW 限制了“到处开新行”的速度；同组列命令间隔更长，所以地址映射让连续 burst 轮换 bank group；同一通道两个伪通道共用命令总线；周期刷新会阻塞访问。代码：_hbm_control.py（命令控制器）、memory_mapping.rotated_bank（bank group 轮换）。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这些规则加在一起，影响有多大？看实测结果。
左边：同样读 1 MB，挨着放的快，散着放的只有前者的四成。散着放的时候，出现了一万多次“先推回抽屉、再拉开新抽屉”。
右边更有说服力。这是 405B 模型真实运行时的 KV 地址。同样多的字节，如果连续存放，速度接近每秒 9.6 TB；按真实的 KV 地址去读，只有每秒 2.5 TB 左右，大约四分之一。所以“数据存得分散，带宽就被拉低”，这不是理论推演，在真实推理里就是这样发生的。
下面再补充两点。第一，HBM 一次至少搬 32 字节。如果这 32 字节里只有 8 字节有用，搬运的工作一点没少，有效带宽就只剩四分之一；要是只有 32 比特，也就是 4 字节有用，就只剩八分之一。第二，反过来，一次读得越大，已经拉开的抽屉被反复用到的次数越多。长上下文的时候，96% 的读都直接命中已开的行，能跑到每秒 10 TB 以上。
—— 备查（数据与代码出处）——
左图：仿真器探针。同样 256 次 4 KiB 读，地址相邻时 2.93 TB/s，随机分散时 1.17 TB/s；分散后有 12,288 次行冲突，每次都要先关行再开行，并受开行速率 tRRD/tFAW 限制。右图：项目文档记录的真实负载数据，405B、HBM4、SHORT、B=64，第 63 层 rank0 的 128 条 KV 读（每条 470,016 B）。把同样大小的读放在连续地址是 9,575 GB/s，4 KiB 对齐分散是 2,494 GB/s，真实 KV 地址 2,484 GB/s。说明真实推理中 KV 的分散存放确实会把带宽拉低到约四分之一。下方两点：其一，burst 是最小搬运单位，若一次 32 B burst 里只有 8 B 有用，搬运量不变，有用带宽就降为四分之一（汇报中“只有 32b 能用”的情况更极端，32 bit 只占 32 B burst 的 1/8）。其二，单次读越大，行被复用越多：26.5 MB 读时 96% 的 burst 命中已开行，达到 10.7 TB/s。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再看 HBF。HBF 读一次要过三关：先从闪存阵列里把整页读出来，1 微秒；再通过芯片内部的通道把这 4 KB 搬出来；最后通过主机链路送给 GPU。
有一条捷径：如果要的那一页还在缓冲区里，前两关直接跳过。
【指下面三个数字】下面三个数字说明三件事。
一是“读放大”：只要 256 字节，也得搬 4 KB，多搬了 16 倍。
二是并行：连续读 1 MB，就是 256 页。这 256 页本来就分给了不同的拣货员，几乎同时读完，只要 1.1 微秒，跟读一页差不多。
三是位置：如果是 256 个随机位置的页，运气不好，有的拣货员一下分到 3 页，只能一页一页排队，整体就被拖到 3.3 微秒。
所以对 HBF 来说，订单小，就是干等一箱；订单大，几千个拣货员一起干，效率就上来了。
—— 备查（数据与代码出处）——
HBF 的一次读在仿真器里拆成三段，每段占用不同的共享资源：阵列读页（每个 plane 一个资源，tR = 1 µs）、内部通道搬整页（每个 die 一条 100 GB/s 通道，同 die 的 25 个 plane 共用）、主机链路（所有堆合计 11.2 TB/s）。每个 plane 有 2 个页缓冲（LRU 替换），命中时跳过读页与内部传输。实测：读完 t0 后紧接着读同页的 t1，只要 0.37 ns。下面三点：一是读放大，只要 256 B 也要整页读出搬运，16 倍；二是并行，连续页依次铺到 112 个 die 再换 plane，所以 1 MiB 连续读 256 页几乎同时完成，约 1.13 µs；三是位置，随机分散的 256 个页里有的 plane 被分到 3 个页，只能串行读 3 次，整体 3.25 µs。注意：本配置把主机传输粒度也设成 4 KiB（研究假设）；OCP HBF 规范允许 64 B 读粒度，仿真器可配置。代码：nand_core.py _execute_detailed_accepted。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 HBF 好不好用，关键看“订单”够不够大。
【指图】这张图横轴是一次读多少，从 1 个 token 到一整篇长文档；纵轴是速度，注意是对数刻度，每往上一格就是 10 倍。
读 1 个 token，HBF 比 HBM 慢近 30 倍；短对话的一整段，慢 6 倍多；中等长度，慢 3 倍；长文档，只慢 1.4 倍。这就是我们常说的：短上下文时 HBF 一次读 4 KB 很吃亏，长上下文时 HBF 的收益就体现出来了。
但是右下角这个结果很重要：即使每个请求都是短对话，只要 64 个请求同时读，HBF 也只比 HBM 慢 1.4 倍。
所以真正决定 HBF 表现的，不只是上下文长短，而是“同一时刻有多少页在同时读”。这又取决于上下文长度、批量大小，还取决于计算上的先后关系，比如前一层算完，才会去读下一层的 KV。这几样东西纠缠在一起，没有一个公式能直接算出来，只能一次次地仿真。
—— 备查（数据与代码出处）——
这一页回答“短上下文 HBF 一次读 4 KiB 弊端大、长上下文收益大”。单个请求时：读 1 个 token，HBF 比 HBM 慢 27.6 倍；SHORT 上下文（425 KB）慢 6.5 倍；LONG 上下文（26.5 MB）只慢 1.39 倍，HBF 达到 7,701 GB/s。原因：大读铺到上千个 plane 上同时读页，1 µs 的读页时间被摊薄；小读只用到一两个 plane，1 µs 无法摊薄。但这并不只由上下文长度决定：64 个 SHORT 请求同时读时，HBF 也能达到 7,751 GB/s，与 HBM 只差 1.38 倍。所以判断 HBF 的优劣要看“同一时刻在途的页数”，它由上下文长度、批量、层间依赖（前一层算完才读下一层的 KV）共同决定。简单公式做不到，只能逐请求、逐 plane 仿真。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HBF 的写比读还要敏感。
写一整页 4 KB，要 100 微秒。如果只写 256 字节，不是更快，反而更慢：要先把旧的那一页读出来，拼上新数据，再整页写回去，101 微秒。而写 1 MB，256 页分给不同的拣货员同时写，也只要 109 微秒。
推理时，每生成一个 token，每层都要追加 256 字节的 KV，恰好是最差的情况。要是直接写进 HBF，会比 HBM 慢几千倍。
所以仿真器把“先攒满一页再写”作为一种策略单独建模：没写满的部分先放在主机内存里，写满了再整页写进 HBF；读的时候两边一起读。这个策略要占主机内存、要走链路，这些成本仿真器都会如实算进去，不会白给。值不值得用，也要靠仿真来回答。
—— 备查（数据与代码出处）——
HBF 的写比读更受访问形态影响。仿真器实测：写 256 B（一个 token 的 K 或 V）要 101 µs，因为不满一页的写需要读出旧页（1 µs）、合并后整页编程（100 µs）；写一整页 4 KiB 也是约 100 µs；写 1 MiB 的 256 页分到不同 plane 并行编程，只要 109 µs。HBM 写 256 B 只要 22 ns。所以如果把每 token 的 KV 追加直接写到 HBF，会严重拖慢 Decode。仿真器把“主机侧写合并”作为显式、可选的策略来建模（严格 OCP HBF 预设下的 host_write_staging）：不满一页的写先经链路写入主机 DRAM，凑满一页再整页写入 HBF；读的时候同时读 HBF 和主机 DRAM 的尾页；暂存容量、链路、读改写、空间回收与擦除全部按物理操作计费，不会把“主机收到”当成“介质写完”。这类策略是否划算，取决于批量、上下文长度和主机带宽，也只能靠仿真回答。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SRAM 我们建模得最简单，这是有意的。
SRAM 没有“拉抽屉”，也没有“整箱出货”，读多读少基本都是 1 纳秒级别。所以我们只保留真正会产生影响的东西：容量够不够放、8 个窗口忙不忙、一次最少搬 64 字节、最多同时处理多少个请求。
实测下来，读一个 token 1 纳秒；读 26 MB，基本跑满每秒 80 TB 的峰值。
这一页想说明一个原则：建模细到什么程度，跟着物理特性走。给 SRAM 加上“行”和“页”，不会让结果更准，只会让仿真变慢。
—— 备查（数据与代码出处）——
SRAM 是三种介质里建模最简单的，这是有意为之：SRAM 没有 DRAM 的行激活、也没有 NAND 的整页读出，访问时间几乎只由端口带宽和流水线时延决定。仿真器保留的是真正影响结果的部分：容量（中间数据放不放得下）、8 个端口的条带与争用、64 B 的最小搬运单位、1 ns 时延、256 个在途额度。实测：读 256 B 只要 1.01 ns；读 26.5 MB 达到 79,759 GB/s，接近 80 TB/s 峰值；分散的 32 B 小读因为 64 B burst，搬运量翻倍。这一页说明建模深度的原则：按介质的物理决定，SRAM 加行/页状态不会提高准确性，只会增加仿真开销。这里的 SRAM 指论文 HBF+ 配置中逻辑 die 上的中间数据 SRAM，GPU 自己的 L1/L2 在算子模型里处理。代码：sram_core.py，配置 scripts/exploring_hbf_native_config.py 的 sram_reference。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最后回到开头的问题：如果不精细建模，直接拿字节数除以峰值带宽，会差多少？
【指表格上三行】大块连续读，误差不大，在 1 到 1.5 倍之间。
【指表格下三行】但这三行就完全失真了：HBM 分散读，低估了 11 倍；HBF 读一个 token、写一个 token，低估了 4 万多倍。而大模型推理里，这种小读、小写、分散访问恰恰到处都是。
【指底部】这是我们自己踩过的坑。同一个 405B 模型、同样的负载，只是修正了 HBM 里地址怎么分配到 bank、什么时候提前关行，每生成一个 token 的时间就从 160 毫秒变成了 55 毫秒，差了 3 倍。也就是说，这些看上去很底层的细节，会直接改变“HBM 和 HBF 哪个更好”这类结论。
—— 备查（数据与代码出处）——
这一页是“为什么要精细建模”的量化回答。左两列分别是按峰值带宽折算和仿真器实测。大块连续访问时简单模型误差不大：SRAM 几乎一致，HBM 1.2 倍、HBF 1.5 倍。但大模型推理里充满小读、小写和分散访问：HBM 分散读差 10.9 倍；HBF 读 1 个 token 差 4 万多倍（峰值折算 0.02 ns，实际要 1 µs 读页）；HBF 写 1 个 token 差 4 万多倍。底部是项目中的真实例子（docs/exploring_hbf_native_comparison.md，2026-10-22，提交 add4a5d）：405B HBM4 B=512，原地址映射让连续 burst 落在同一个 bank group、行命令不能提前关行，修正后每层 1.275 → 0.437 ms，TPOT 约 160 → 55 ms。说明这些层级细节是一阶因素，会直接改变 HBM 与 HBF 的对比结论。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最后实事求是地讲一下现在做到了哪一步。
机制层面，表格中间“已经建模”这一列都已经实现，而且仿真时是一次一次请求真实地算出来的。参数层面，HBM 的结构来自 JEDEC 标准，HBF 的规模和读写时间来自论文，但具体的时序数值还是研究参考值，还没有拿到厂商的器件数据来标定。最右边一列是还没做的部分，比如 HBF 的闪存管理层和垃圾回收。
所以看我们的结果要这样看：在同一套机制下，比较不同的存储方案、不同的部署方式，结论是可靠的；某一个具体的绝对数值，会随参数而变。好在一旦拿到真实器件的时序表，只需要替换参数，不需要改模型本身。
我就讲到这里，谢谢大家。
—— 备查（数据与代码出处）——
最后说明建模边界，避免过度解读。HBM：已实现 JEDEC 正常操作命令子集（ACT、PRE、RD、WR、全 bank 刷新）和 bank 行状态，几何来自 JEDEC 协议原文；时序是参考工程值和研究假设，不是厂商速度档。未实现训练、PHY 细节、按 bank 刷新，调度器按请求窗口重排而不是逐命令 FR-FCFS。HBF：页级介质操作、plane 并行、内部通道、主机链路和页缓冲都已建模；论文配置使用通用 NAND 模式，没有 FTL 和垃圾回收；ECC、数据保持未建。SRAM：按池化的端口模型，没有区分各堆私有空间。因此：在同一套物理机制下比较 HBM、HBF、SRAM 的相对优劣是可靠的；绝对数值取决于参数。拿到目标器件的时序表后，只需替换参数。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3A"/>
        </a:solidFill>
      </p:bgPr>
    </p:bg>
    <p:spTree>
      <p:nvGrpSpPr>
        <p:cNvPr id="1" name=""/>
        <p:cNvGrpSpPr/>
        <p:nvPr/>
      </p:nvGrpSpPr>
      <p:grpSpPr>
        <a:xfrm>
          <a:off x="0" y="0"/>
          <a:ext cx="0" cy="0"/>
          <a:chOff x="0" y="0"/>
          <a:chExt cx="0" cy="0"/>
        </a:xfrm>
      </p:grpSpPr>
      <p:sp>
        <p:nvSpPr>
          <p:cNvPr id="2" name="Text 0"/>
          <p:cNvSpPr/>
          <p:nvPr/>
        </p:nvSpPr>
        <p:spPr>
          <a:xfrm>
            <a:off x="731520" y="731520"/>
            <a:ext cx="7315200" cy="274320"/>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B9C4D6"/>
                </a:solidFill>
                <a:latin typeface="Microsoft YaHei" pitchFamily="34" charset="0"/>
                <a:ea typeface="Microsoft YaHei" pitchFamily="34" charset="-122"/>
                <a:cs typeface="Microsoft YaHei" pitchFamily="34" charset="-120"/>
              </a:rPr>
              <a:t>HeteroLLM-Sim 4.0.0 · 存储建模汇报</a:t>
            </a:r>
            <a:endParaRPr lang="zh-CN" sz="1300" dirty="0"/>
          </a:p>
        </p:txBody>
      </p:sp>
      <p:sp>
        <p:nvSpPr>
          <p:cNvPr id="3" name="Text 1"/>
          <p:cNvSpPr/>
          <p:nvPr/>
        </p:nvSpPr>
        <p:spPr>
          <a:xfrm>
            <a:off x="731520" y="1325880"/>
            <a:ext cx="10789920" cy="1463040"/>
          </a:xfrm>
          <a:prstGeom prst="rect">
            <a:avLst/>
          </a:prstGeom>
          <a:noFill/>
          <a:ln/>
        </p:spPr>
        <p:txBody>
          <a:bodyPr wrap="square" lIns="0" tIns="0" rIns="0" bIns="0" rtlCol="0" anchor="t"/>
          <a:lstStyle/>
          <a:p>
            <a:pPr algn="l" indent="0" marL="0">
              <a:lnSpc>
                <a:spcPct val="115000"/>
              </a:lnSpc>
              <a:buNone/>
            </a:pPr>
            <a:r>
              <a:rPr lang="zh-CN" altLang="en-US" sz="3400" b="1" dirty="0">
                <a:solidFill>
                  <a:srgbClr val="FFFFFF"/>
                </a:solidFill>
                <a:latin typeface="Microsoft YaHei" pitchFamily="34" charset="0"/>
                <a:ea typeface="Microsoft YaHei" pitchFamily="34" charset="-122"/>
                <a:cs typeface="Microsoft YaHei" pitchFamily="34" charset="-120"/>
              </a:rPr>
              <a:t>大模型推理的访存需求极其复杂</a:t>
            </a:r>
            <a:endParaRPr lang="zh-CN" sz="3400" dirty="0"/>
          </a:p>
          <a:p>
            <a:pPr algn="l" indent="0" marL="0">
              <a:lnSpc>
                <a:spcPct val="115000"/>
              </a:lnSpc>
              <a:buNone/>
            </a:pPr>
            <a:r>
              <a:rPr lang="zh-CN" altLang="en-US" sz="3400" b="1" dirty="0">
                <a:solidFill>
                  <a:srgbClr val="FFFFFF"/>
                </a:solidFill>
                <a:latin typeface="Microsoft YaHei" pitchFamily="34" charset="0"/>
                <a:ea typeface="Microsoft YaHei" pitchFamily="34" charset="-122"/>
                <a:cs typeface="Microsoft YaHei" pitchFamily="34" charset="-120"/>
              </a:rPr>
              <a:t>仿真器如何对 HBM / HBF / SRAM 精细建模</a:t>
            </a:r>
            <a:endParaRPr lang="zh-CN" sz="3400" dirty="0"/>
          </a:p>
        </p:txBody>
      </p:sp>
      <p:sp>
        <p:nvSpPr>
          <p:cNvPr id="4" name="Text 2"/>
          <p:cNvSpPr/>
          <p:nvPr/>
        </p:nvSpPr>
        <p:spPr>
          <a:xfrm>
            <a:off x="731520" y="3017520"/>
            <a:ext cx="10515600" cy="822960"/>
          </a:xfrm>
          <a:prstGeom prst="rect">
            <a:avLst/>
          </a:prstGeom>
          <a:noFill/>
          <a:ln/>
        </p:spPr>
        <p:txBody>
          <a:bodyPr wrap="square" lIns="0" tIns="0" rIns="0" bIns="0" rtlCol="0" anchor="t"/>
          <a:lstStyle/>
          <a:p>
            <a:pPr algn="l" indent="0" marL="0">
              <a:lnSpc>
                <a:spcPct val="130000"/>
              </a:lnSpc>
              <a:buNone/>
            </a:pPr>
            <a:r>
              <a:rPr lang="zh-CN" altLang="en-US" sz="1700" dirty="0">
                <a:solidFill>
                  <a:srgbClr val="B9C4D6"/>
                </a:solidFill>
                <a:latin typeface="Microsoft YaHei" pitchFamily="34" charset="0"/>
                <a:ea typeface="Microsoft YaHei" pitchFamily="34" charset="-122"/>
                <a:cs typeface="Microsoft YaHei" pitchFamily="34" charset="-120"/>
              </a:rPr>
              <a:t>从每一次访存请求出发：拆成 burst / 页 / 端口，记住行与页的状态，</a:t>
            </a:r>
            <a:endParaRPr lang="zh-CN" sz="1700" dirty="0"/>
          </a:p>
          <a:p>
            <a:pPr algn="l" indent="0" marL="0">
              <a:lnSpc>
                <a:spcPct val="130000"/>
              </a:lnSpc>
              <a:buNone/>
            </a:pPr>
            <a:r>
              <a:rPr lang="zh-CN" altLang="en-US" sz="1700" dirty="0">
                <a:solidFill>
                  <a:srgbClr val="B9C4D6"/>
                </a:solidFill>
                <a:latin typeface="Microsoft YaHei" pitchFamily="34" charset="0"/>
                <a:ea typeface="Microsoft YaHei" pitchFamily="34" charset="-122"/>
                <a:cs typeface="Microsoft YaHei" pitchFamily="34" charset="-120"/>
              </a:rPr>
              <a:t>在共享的物理资源上排队计时，最后汇总成 Token 延迟与吞吐。</a:t>
            </a:r>
            <a:endParaRPr lang="zh-CN" sz="1700" dirty="0"/>
          </a:p>
        </p:txBody>
      </p:sp>
      <p:sp>
        <p:nvSpPr>
          <p:cNvPr id="5" name="Shape 3"/>
          <p:cNvSpPr/>
          <p:nvPr/>
        </p:nvSpPr>
        <p:spPr>
          <a:xfrm>
            <a:off x="731520" y="4343400"/>
            <a:ext cx="3383280" cy="960120"/>
          </a:xfrm>
          <a:prstGeom prst="rect">
            <a:avLst/>
          </a:prstGeom>
          <a:solidFill>
            <a:srgbClr val="1C2D4B"/>
          </a:solidFill>
          <a:ln w="12700">
            <a:solidFill>
              <a:srgbClr val="1C2D4B"/>
            </a:solidFill>
            <a:prstDash val="solid"/>
          </a:ln>
        </p:spPr>
      </p:sp>
      <p:sp>
        <p:nvSpPr>
          <p:cNvPr id="6" name="Shape 4"/>
          <p:cNvSpPr/>
          <p:nvPr/>
        </p:nvSpPr>
        <p:spPr>
          <a:xfrm>
            <a:off x="731520" y="4343400"/>
            <a:ext cx="82296" cy="960120"/>
          </a:xfrm>
          <a:prstGeom prst="rect">
            <a:avLst/>
          </a:prstGeom>
          <a:solidFill>
            <a:srgbClr val="1F5FAE"/>
          </a:solidFill>
          <a:ln w="12700">
            <a:solidFill>
              <a:srgbClr val="1F5FAE"/>
            </a:solidFill>
            <a:prstDash val="solid"/>
          </a:ln>
        </p:spPr>
      </p:sp>
      <p:sp>
        <p:nvSpPr>
          <p:cNvPr id="7" name="Text 5"/>
          <p:cNvSpPr/>
          <p:nvPr/>
        </p:nvSpPr>
        <p:spPr>
          <a:xfrm>
            <a:off x="1005840" y="4453128"/>
            <a:ext cx="2926080" cy="365760"/>
          </a:xfrm>
          <a:prstGeom prst="rect">
            <a:avLst/>
          </a:prstGeom>
          <a:noFill/>
          <a:ln/>
        </p:spPr>
        <p:txBody>
          <a:bodyPr wrap="square" lIns="0" tIns="0" rIns="0" bIns="0" rtlCol="0" anchor="t"/>
          <a:lstStyle/>
          <a:p>
            <a:pPr algn="l" indent="0" marL="0">
              <a:lnSpc>
                <a:spcPct val="112000"/>
              </a:lnSpc>
              <a:buNone/>
            </a:pPr>
            <a:r>
              <a:rPr lang="zh-CN" altLang="en-US" sz="2000" b="1" dirty="0">
                <a:solidFill>
                  <a:srgbClr val="FFFFFF"/>
                </a:solidFill>
                <a:latin typeface="Microsoft YaHei" pitchFamily="34" charset="0"/>
                <a:ea typeface="Microsoft YaHei" pitchFamily="34" charset="-122"/>
                <a:cs typeface="Microsoft YaHei" pitchFamily="34" charset="-120"/>
              </a:rPr>
              <a:t>HBM</a:t>
            </a:r>
            <a:endParaRPr lang="zh-CN" sz="2000" dirty="0"/>
          </a:p>
        </p:txBody>
      </p:sp>
      <p:sp>
        <p:nvSpPr>
          <p:cNvPr id="8" name="Text 6"/>
          <p:cNvSpPr/>
          <p:nvPr/>
        </p:nvSpPr>
        <p:spPr>
          <a:xfrm>
            <a:off x="1005840" y="4846320"/>
            <a:ext cx="3017520" cy="320040"/>
          </a:xfrm>
          <a:prstGeom prst="rect">
            <a:avLst/>
          </a:prstGeom>
          <a:noFill/>
          <a:ln/>
        </p:spPr>
        <p:txBody>
          <a:bodyPr wrap="square" lIns="0" tIns="0" rIns="0" bIns="0" rtlCol="0" anchor="t"/>
          <a:lstStyle/>
          <a:p>
            <a:pPr algn="l" indent="0" marL="0">
              <a:lnSpc>
                <a:spcPct val="112000"/>
              </a:lnSpc>
              <a:buNone/>
            </a:pPr>
            <a:r>
              <a:rPr lang="zh-CN" altLang="en-US" sz="1250" dirty="0">
                <a:solidFill>
                  <a:srgbClr val="B9C4D6"/>
                </a:solidFill>
                <a:latin typeface="Microsoft YaHei" pitchFamily="34" charset="0"/>
                <a:ea typeface="Microsoft YaHei" pitchFamily="34" charset="-122"/>
                <a:cs typeface="Microsoft YaHei" pitchFamily="34" charset="-120"/>
              </a:rPr>
              <a:t>32 B burst · bank 行状态 · 命令时序</a:t>
            </a:r>
            <a:endParaRPr lang="zh-CN" sz="1250" dirty="0"/>
          </a:p>
        </p:txBody>
      </p:sp>
      <p:sp>
        <p:nvSpPr>
          <p:cNvPr id="9" name="Shape 7"/>
          <p:cNvSpPr/>
          <p:nvPr/>
        </p:nvSpPr>
        <p:spPr>
          <a:xfrm>
            <a:off x="4343400" y="4343400"/>
            <a:ext cx="3383280" cy="960120"/>
          </a:xfrm>
          <a:prstGeom prst="rect">
            <a:avLst/>
          </a:prstGeom>
          <a:solidFill>
            <a:srgbClr val="1C2D4B"/>
          </a:solidFill>
          <a:ln w="12700">
            <a:solidFill>
              <a:srgbClr val="1C2D4B"/>
            </a:solidFill>
            <a:prstDash val="solid"/>
          </a:ln>
        </p:spPr>
      </p:sp>
      <p:sp>
        <p:nvSpPr>
          <p:cNvPr id="10" name="Shape 8"/>
          <p:cNvSpPr/>
          <p:nvPr/>
        </p:nvSpPr>
        <p:spPr>
          <a:xfrm>
            <a:off x="4343400" y="4343400"/>
            <a:ext cx="82296" cy="960120"/>
          </a:xfrm>
          <a:prstGeom prst="rect">
            <a:avLst/>
          </a:prstGeom>
          <a:solidFill>
            <a:srgbClr val="C4501F"/>
          </a:solidFill>
          <a:ln w="12700">
            <a:solidFill>
              <a:srgbClr val="C4501F"/>
            </a:solidFill>
            <a:prstDash val="solid"/>
          </a:ln>
        </p:spPr>
      </p:sp>
      <p:sp>
        <p:nvSpPr>
          <p:cNvPr id="11" name="Text 9"/>
          <p:cNvSpPr/>
          <p:nvPr/>
        </p:nvSpPr>
        <p:spPr>
          <a:xfrm>
            <a:off x="4617720" y="4453128"/>
            <a:ext cx="2926080" cy="365760"/>
          </a:xfrm>
          <a:prstGeom prst="rect">
            <a:avLst/>
          </a:prstGeom>
          <a:noFill/>
          <a:ln/>
        </p:spPr>
        <p:txBody>
          <a:bodyPr wrap="square" lIns="0" tIns="0" rIns="0" bIns="0" rtlCol="0" anchor="t"/>
          <a:lstStyle/>
          <a:p>
            <a:pPr algn="l" indent="0" marL="0">
              <a:lnSpc>
                <a:spcPct val="112000"/>
              </a:lnSpc>
              <a:buNone/>
            </a:pPr>
            <a:r>
              <a:rPr lang="zh-CN" altLang="en-US" sz="2000" b="1" dirty="0">
                <a:solidFill>
                  <a:srgbClr val="FFFFFF"/>
                </a:solidFill>
                <a:latin typeface="Microsoft YaHei" pitchFamily="34" charset="0"/>
                <a:ea typeface="Microsoft YaHei" pitchFamily="34" charset="-122"/>
                <a:cs typeface="Microsoft YaHei" pitchFamily="34" charset="-120"/>
              </a:rPr>
              <a:t>HBF</a:t>
            </a:r>
            <a:endParaRPr lang="zh-CN" sz="2000" dirty="0"/>
          </a:p>
        </p:txBody>
      </p:sp>
      <p:sp>
        <p:nvSpPr>
          <p:cNvPr id="12" name="Text 10"/>
          <p:cNvSpPr/>
          <p:nvPr/>
        </p:nvSpPr>
        <p:spPr>
          <a:xfrm>
            <a:off x="4617720" y="4846320"/>
            <a:ext cx="3017520" cy="320040"/>
          </a:xfrm>
          <a:prstGeom prst="rect">
            <a:avLst/>
          </a:prstGeom>
          <a:noFill/>
          <a:ln/>
        </p:spPr>
        <p:txBody>
          <a:bodyPr wrap="square" lIns="0" tIns="0" rIns="0" bIns="0" rtlCol="0" anchor="t"/>
          <a:lstStyle/>
          <a:p>
            <a:pPr algn="l" indent="0" marL="0">
              <a:lnSpc>
                <a:spcPct val="112000"/>
              </a:lnSpc>
              <a:buNone/>
            </a:pPr>
            <a:r>
              <a:rPr lang="zh-CN" altLang="en-US" sz="1250" dirty="0">
                <a:solidFill>
                  <a:srgbClr val="B9C4D6"/>
                </a:solidFill>
                <a:latin typeface="Microsoft YaHei" pitchFamily="34" charset="0"/>
                <a:ea typeface="Microsoft YaHei" pitchFamily="34" charset="-122"/>
                <a:cs typeface="Microsoft YaHei" pitchFamily="34" charset="-120"/>
              </a:rPr>
              <a:t>4 KiB 页 · plane 并行 · 页缓冲</a:t>
            </a:r>
            <a:endParaRPr lang="zh-CN" sz="1250" dirty="0"/>
          </a:p>
        </p:txBody>
      </p:sp>
      <p:sp>
        <p:nvSpPr>
          <p:cNvPr id="13" name="Shape 11"/>
          <p:cNvSpPr/>
          <p:nvPr/>
        </p:nvSpPr>
        <p:spPr>
          <a:xfrm>
            <a:off x="7955280" y="4343400"/>
            <a:ext cx="3383280" cy="960120"/>
          </a:xfrm>
          <a:prstGeom prst="rect">
            <a:avLst/>
          </a:prstGeom>
          <a:solidFill>
            <a:srgbClr val="1C2D4B"/>
          </a:solidFill>
          <a:ln w="12700">
            <a:solidFill>
              <a:srgbClr val="1C2D4B"/>
            </a:solidFill>
            <a:prstDash val="solid"/>
          </a:ln>
        </p:spPr>
      </p:sp>
      <p:sp>
        <p:nvSpPr>
          <p:cNvPr id="14" name="Shape 12"/>
          <p:cNvSpPr/>
          <p:nvPr/>
        </p:nvSpPr>
        <p:spPr>
          <a:xfrm>
            <a:off x="7955280" y="4343400"/>
            <a:ext cx="82296" cy="960120"/>
          </a:xfrm>
          <a:prstGeom prst="rect">
            <a:avLst/>
          </a:prstGeom>
          <a:solidFill>
            <a:srgbClr val="13845C"/>
          </a:solidFill>
          <a:ln w="12700">
            <a:solidFill>
              <a:srgbClr val="13845C"/>
            </a:solidFill>
            <a:prstDash val="solid"/>
          </a:ln>
        </p:spPr>
      </p:sp>
      <p:sp>
        <p:nvSpPr>
          <p:cNvPr id="15" name="Text 13"/>
          <p:cNvSpPr/>
          <p:nvPr/>
        </p:nvSpPr>
        <p:spPr>
          <a:xfrm>
            <a:off x="8229600" y="4453128"/>
            <a:ext cx="2926080" cy="365760"/>
          </a:xfrm>
          <a:prstGeom prst="rect">
            <a:avLst/>
          </a:prstGeom>
          <a:noFill/>
          <a:ln/>
        </p:spPr>
        <p:txBody>
          <a:bodyPr wrap="square" lIns="0" tIns="0" rIns="0" bIns="0" rtlCol="0" anchor="t"/>
          <a:lstStyle/>
          <a:p>
            <a:pPr algn="l" indent="0" marL="0">
              <a:lnSpc>
                <a:spcPct val="112000"/>
              </a:lnSpc>
              <a:buNone/>
            </a:pPr>
            <a:r>
              <a:rPr lang="zh-CN" altLang="en-US" sz="2000" b="1" dirty="0">
                <a:solidFill>
                  <a:srgbClr val="FFFFFF"/>
                </a:solidFill>
                <a:latin typeface="Microsoft YaHei" pitchFamily="34" charset="0"/>
                <a:ea typeface="Microsoft YaHei" pitchFamily="34" charset="-122"/>
                <a:cs typeface="Microsoft YaHei" pitchFamily="34" charset="-120"/>
              </a:rPr>
              <a:t>SRAM</a:t>
            </a:r>
            <a:endParaRPr lang="zh-CN" sz="2000" dirty="0"/>
          </a:p>
        </p:txBody>
      </p:sp>
      <p:sp>
        <p:nvSpPr>
          <p:cNvPr id="16" name="Text 14"/>
          <p:cNvSpPr/>
          <p:nvPr/>
        </p:nvSpPr>
        <p:spPr>
          <a:xfrm>
            <a:off x="8229600" y="4846320"/>
            <a:ext cx="3017520" cy="320040"/>
          </a:xfrm>
          <a:prstGeom prst="rect">
            <a:avLst/>
          </a:prstGeom>
          <a:noFill/>
          <a:ln/>
        </p:spPr>
        <p:txBody>
          <a:bodyPr wrap="square" lIns="0" tIns="0" rIns="0" bIns="0" rtlCol="0" anchor="t"/>
          <a:lstStyle/>
          <a:p>
            <a:pPr algn="l" indent="0" marL="0">
              <a:lnSpc>
                <a:spcPct val="112000"/>
              </a:lnSpc>
              <a:buNone/>
            </a:pPr>
            <a:r>
              <a:rPr lang="zh-CN" altLang="en-US" sz="1250" dirty="0">
                <a:solidFill>
                  <a:srgbClr val="B9C4D6"/>
                </a:solidFill>
                <a:latin typeface="Microsoft YaHei" pitchFamily="34" charset="0"/>
                <a:ea typeface="Microsoft YaHei" pitchFamily="34" charset="-122"/>
                <a:cs typeface="Microsoft YaHei" pitchFamily="34" charset="-120"/>
              </a:rPr>
              <a:t>64 B burst · 端口流水线</a:t>
            </a:r>
            <a:endParaRPr lang="zh-CN" sz="1250" dirty="0"/>
          </a:p>
        </p:txBody>
      </p:sp>
      <p:sp>
        <p:nvSpPr>
          <p:cNvPr id="17" name="Text 15"/>
          <p:cNvSpPr/>
          <p:nvPr/>
        </p:nvSpPr>
        <p:spPr>
          <a:xfrm>
            <a:off x="731520" y="6080760"/>
            <a:ext cx="10789920" cy="320040"/>
          </a:xfrm>
          <a:prstGeom prst="rect">
            <a:avLst/>
          </a:prstGeom>
          <a:noFill/>
          <a:ln/>
        </p:spPr>
        <p:txBody>
          <a:bodyPr wrap="square" lIns="0" tIns="0" rIns="0" bIns="0" rtlCol="0" anchor="t"/>
          <a:lstStyle/>
          <a:p>
            <a:pPr algn="l" indent="0" marL="0">
              <a:lnSpc>
                <a:spcPct val="112000"/>
              </a:lnSpc>
              <a:buNone/>
            </a:pPr>
            <a:r>
              <a:rPr lang="zh-CN" altLang="en-US" sz="1100" dirty="0">
                <a:solidFill>
                  <a:srgbClr val="8796AE"/>
                </a:solidFill>
                <a:latin typeface="Microsoft YaHei" pitchFamily="34" charset="0"/>
                <a:ea typeface="Microsoft YaHei" pitchFamily="34" charset="-122"/>
                <a:cs typeface="Microsoft YaHei" pitchFamily="34" charset="-120"/>
              </a:rPr>
              <a:t>2026-10-26　｜　文中数值来自仿真器自身的 HBM / HBF / SRAM 核心实测；配置为研究参考，未经厂商器件标定</a:t>
            </a:r>
            <a:endParaRPr lang="zh-CN"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01 · 结论先行</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访存耗时取决于“怎么访问”，不是一个带宽数能折算的</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探针：论文 Table I 的 HBM4（8 堆，12.8 TB/s）与 HBF（7 堆，读 11.2 TB/s）配置，冷启动单请求；数据 probe_results.json</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02</a:t>
            </a:r>
            <a:endParaRPr lang="zh-CN" sz="900" dirty="0"/>
          </a:p>
        </p:txBody>
      </p:sp>
      <p:sp>
        <p:nvSpPr>
          <p:cNvPr id="6" name="Shape 4"/>
          <p:cNvSpPr/>
          <p:nvPr/>
        </p:nvSpPr>
        <p:spPr>
          <a:xfrm>
            <a:off x="548640" y="1600200"/>
            <a:ext cx="3520440" cy="2971800"/>
          </a:xfrm>
          <a:prstGeom prst="rect">
            <a:avLst/>
          </a:prstGeom>
          <a:solidFill>
            <a:srgbClr val="F4F4F1"/>
          </a:solidFill>
          <a:ln w="12700">
            <a:solidFill>
              <a:srgbClr val="F4F4F1"/>
            </a:solidFill>
            <a:prstDash val="solid"/>
          </a:ln>
        </p:spPr>
      </p:sp>
      <p:sp>
        <p:nvSpPr>
          <p:cNvPr id="7" name="Shape 5"/>
          <p:cNvSpPr/>
          <p:nvPr/>
        </p:nvSpPr>
        <p:spPr>
          <a:xfrm>
            <a:off x="548640" y="1600200"/>
            <a:ext cx="3520440" cy="64008"/>
          </a:xfrm>
          <a:prstGeom prst="rect">
            <a:avLst/>
          </a:prstGeom>
          <a:solidFill>
            <a:srgbClr val="EB6834"/>
          </a:solidFill>
          <a:ln w="12700">
            <a:solidFill>
              <a:srgbClr val="EB6834"/>
            </a:solidFill>
            <a:prstDash val="solid"/>
          </a:ln>
        </p:spPr>
      </p:sp>
      <p:sp>
        <p:nvSpPr>
          <p:cNvPr id="8" name="Text 6"/>
          <p:cNvSpPr/>
          <p:nvPr/>
        </p:nvSpPr>
        <p:spPr>
          <a:xfrm>
            <a:off x="777240" y="1810512"/>
            <a:ext cx="310896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读 1 个 token 的 KV（256 B）</a:t>
            </a:r>
            <a:endParaRPr lang="zh-CN" sz="1400" dirty="0"/>
          </a:p>
        </p:txBody>
      </p:sp>
      <p:sp>
        <p:nvSpPr>
          <p:cNvPr id="9" name="Text 7"/>
          <p:cNvSpPr/>
          <p:nvPr/>
        </p:nvSpPr>
        <p:spPr>
          <a:xfrm>
            <a:off x="777240" y="2194560"/>
            <a:ext cx="3108960" cy="777240"/>
          </a:xfrm>
          <a:prstGeom prst="rect">
            <a:avLst/>
          </a:prstGeom>
          <a:noFill/>
          <a:ln/>
        </p:spPr>
        <p:txBody>
          <a:bodyPr wrap="square" lIns="0" tIns="0" rIns="0" bIns="0" rtlCol="0" anchor="t"/>
          <a:lstStyle/>
          <a:p>
            <a:pPr algn="l" indent="0" marL="0">
              <a:lnSpc>
                <a:spcPct val="112000"/>
              </a:lnSpc>
              <a:buNone/>
            </a:pPr>
            <a:r>
              <a:rPr lang="zh-CN" altLang="en-US" sz="4400" b="1" dirty="0">
                <a:solidFill>
                  <a:srgbClr val="1A1D23"/>
                </a:solidFill>
                <a:latin typeface="Microsoft YaHei" pitchFamily="34" charset="0"/>
                <a:ea typeface="Microsoft YaHei" pitchFamily="34" charset="-122"/>
                <a:cs typeface="Microsoft YaHei" pitchFamily="34" charset="-120"/>
              </a:rPr>
              <a:t>27.6×</a:t>
            </a:r>
            <a:endParaRPr lang="zh-CN" sz="4400" dirty="0"/>
          </a:p>
        </p:txBody>
      </p:sp>
      <p:sp>
        <p:nvSpPr>
          <p:cNvPr id="10" name="Text 8"/>
          <p:cNvSpPr/>
          <p:nvPr/>
        </p:nvSpPr>
        <p:spPr>
          <a:xfrm>
            <a:off x="777240" y="3035808"/>
            <a:ext cx="3154680" cy="320040"/>
          </a:xfrm>
          <a:prstGeom prst="rect">
            <a:avLst/>
          </a:prstGeom>
          <a:noFill/>
          <a:ln/>
        </p:spPr>
        <p:txBody>
          <a:bodyPr wrap="square" lIns="0" tIns="0" rIns="0" bIns="0" rtlCol="0" anchor="t"/>
          <a:lstStyle/>
          <a:p>
            <a:pPr algn="l" indent="0" marL="0">
              <a:lnSpc>
                <a:spcPct val="112000"/>
              </a:lnSpc>
              <a:buNone/>
            </a:pPr>
            <a:r>
              <a:rPr lang="zh-CN" altLang="en-US" sz="1350" dirty="0">
                <a:solidFill>
                  <a:srgbClr val="1A1D23"/>
                </a:solidFill>
                <a:latin typeface="Microsoft YaHei" pitchFamily="34" charset="0"/>
                <a:ea typeface="Microsoft YaHei" pitchFamily="34" charset="-122"/>
                <a:cs typeface="Microsoft YaHei" pitchFamily="34" charset="-120"/>
              </a:rPr>
              <a:t>HBM 37.8 ns　｜　HBF 1,041 ns</a:t>
            </a:r>
            <a:endParaRPr lang="zh-CN" sz="1350" dirty="0"/>
          </a:p>
        </p:txBody>
      </p:sp>
      <p:sp>
        <p:nvSpPr>
          <p:cNvPr id="11" name="Text 9"/>
          <p:cNvSpPr/>
          <p:nvPr/>
        </p:nvSpPr>
        <p:spPr>
          <a:xfrm>
            <a:off x="777240" y="3474720"/>
            <a:ext cx="3108960" cy="914400"/>
          </a:xfrm>
          <a:prstGeom prst="rect">
            <a:avLst/>
          </a:prstGeom>
          <a:noFill/>
          <a:ln/>
        </p:spPr>
        <p:txBody>
          <a:bodyPr wrap="square" lIns="0" tIns="0" rIns="0" bIns="0" rtlCol="0" anchor="t"/>
          <a:lstStyle/>
          <a:p>
            <a:pPr algn="l" indent="0" marL="0">
              <a:lnSpc>
                <a:spcPct val="125000"/>
              </a:lnSpc>
              <a:buNone/>
            </a:pPr>
            <a:r>
              <a:rPr lang="zh-CN" altLang="en-US" sz="1250" dirty="0">
                <a:solidFill>
                  <a:srgbClr val="52514E"/>
                </a:solidFill>
                <a:latin typeface="Microsoft YaHei" pitchFamily="34" charset="0"/>
                <a:ea typeface="Microsoft YaHei" pitchFamily="34" charset="-122"/>
                <a:cs typeface="Microsoft YaHei" pitchFamily="34" charset="-120"/>
              </a:rPr>
              <a:t>HBF 必须把整页 4 KiB 读出，1 µs 的阵列读页时间被这 256 B 独自承担。</a:t>
            </a:r>
            <a:endParaRPr lang="zh-CN" sz="1250" dirty="0"/>
          </a:p>
        </p:txBody>
      </p:sp>
      <p:sp>
        <p:nvSpPr>
          <p:cNvPr id="12" name="Shape 10"/>
          <p:cNvSpPr/>
          <p:nvPr/>
        </p:nvSpPr>
        <p:spPr>
          <a:xfrm>
            <a:off x="4334256" y="1600200"/>
            <a:ext cx="3520440" cy="2971800"/>
          </a:xfrm>
          <a:prstGeom prst="rect">
            <a:avLst/>
          </a:prstGeom>
          <a:solidFill>
            <a:srgbClr val="F4F4F1"/>
          </a:solidFill>
          <a:ln w="12700">
            <a:solidFill>
              <a:srgbClr val="F4F4F1"/>
            </a:solidFill>
            <a:prstDash val="solid"/>
          </a:ln>
        </p:spPr>
      </p:sp>
      <p:sp>
        <p:nvSpPr>
          <p:cNvPr id="13" name="Shape 11"/>
          <p:cNvSpPr/>
          <p:nvPr/>
        </p:nvSpPr>
        <p:spPr>
          <a:xfrm>
            <a:off x="4334256" y="1600200"/>
            <a:ext cx="3520440" cy="64008"/>
          </a:xfrm>
          <a:prstGeom prst="rect">
            <a:avLst/>
          </a:prstGeom>
          <a:solidFill>
            <a:srgbClr val="2A78D6"/>
          </a:solidFill>
          <a:ln w="12700">
            <a:solidFill>
              <a:srgbClr val="2A78D6"/>
            </a:solidFill>
            <a:prstDash val="solid"/>
          </a:ln>
        </p:spPr>
      </p:sp>
      <p:sp>
        <p:nvSpPr>
          <p:cNvPr id="14" name="Text 12"/>
          <p:cNvSpPr/>
          <p:nvPr/>
        </p:nvSpPr>
        <p:spPr>
          <a:xfrm>
            <a:off x="4562856" y="1810512"/>
            <a:ext cx="310896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同样读 1 MiB：相邻存放 vs 分散存放</a:t>
            </a:r>
            <a:endParaRPr lang="zh-CN" sz="1400" dirty="0"/>
          </a:p>
        </p:txBody>
      </p:sp>
      <p:sp>
        <p:nvSpPr>
          <p:cNvPr id="15" name="Text 13"/>
          <p:cNvSpPr/>
          <p:nvPr/>
        </p:nvSpPr>
        <p:spPr>
          <a:xfrm>
            <a:off x="4562856" y="2194560"/>
            <a:ext cx="3108960" cy="777240"/>
          </a:xfrm>
          <a:prstGeom prst="rect">
            <a:avLst/>
          </a:prstGeom>
          <a:noFill/>
          <a:ln/>
        </p:spPr>
        <p:txBody>
          <a:bodyPr wrap="square" lIns="0" tIns="0" rIns="0" bIns="0" rtlCol="0" anchor="t"/>
          <a:lstStyle/>
          <a:p>
            <a:pPr algn="l" indent="0" marL="0">
              <a:lnSpc>
                <a:spcPct val="112000"/>
              </a:lnSpc>
              <a:buNone/>
            </a:pPr>
            <a:r>
              <a:rPr lang="zh-CN" altLang="en-US" sz="4400" b="1" dirty="0">
                <a:solidFill>
                  <a:srgbClr val="1A1D23"/>
                </a:solidFill>
                <a:latin typeface="Microsoft YaHei" pitchFamily="34" charset="0"/>
                <a:ea typeface="Microsoft YaHei" pitchFamily="34" charset="-122"/>
                <a:cs typeface="Microsoft YaHei" pitchFamily="34" charset="-120"/>
              </a:rPr>
              <a:t>2.5×</a:t>
            </a:r>
            <a:endParaRPr lang="zh-CN" sz="4400" dirty="0"/>
          </a:p>
        </p:txBody>
      </p:sp>
      <p:sp>
        <p:nvSpPr>
          <p:cNvPr id="16" name="Text 14"/>
          <p:cNvSpPr/>
          <p:nvPr/>
        </p:nvSpPr>
        <p:spPr>
          <a:xfrm>
            <a:off x="4562856" y="3035808"/>
            <a:ext cx="3154680" cy="320040"/>
          </a:xfrm>
          <a:prstGeom prst="rect">
            <a:avLst/>
          </a:prstGeom>
          <a:noFill/>
          <a:ln/>
        </p:spPr>
        <p:txBody>
          <a:bodyPr wrap="square" lIns="0" tIns="0" rIns="0" bIns="0" rtlCol="0" anchor="t"/>
          <a:lstStyle/>
          <a:p>
            <a:pPr algn="l" indent="0" marL="0">
              <a:lnSpc>
                <a:spcPct val="112000"/>
              </a:lnSpc>
              <a:buNone/>
            </a:pPr>
            <a:r>
              <a:rPr lang="zh-CN" altLang="en-US" sz="1350" dirty="0">
                <a:solidFill>
                  <a:srgbClr val="1A1D23"/>
                </a:solidFill>
                <a:latin typeface="Microsoft YaHei" pitchFamily="34" charset="0"/>
                <a:ea typeface="Microsoft YaHei" pitchFamily="34" charset="-122"/>
                <a:cs typeface="Microsoft YaHei" pitchFamily="34" charset="-120"/>
              </a:rPr>
              <a:t>相邻 2.93 TB/s　｜　分散 1.17 TB/s</a:t>
            </a:r>
            <a:endParaRPr lang="zh-CN" sz="1350" dirty="0"/>
          </a:p>
        </p:txBody>
      </p:sp>
      <p:sp>
        <p:nvSpPr>
          <p:cNvPr id="17" name="Text 15"/>
          <p:cNvSpPr/>
          <p:nvPr/>
        </p:nvSpPr>
        <p:spPr>
          <a:xfrm>
            <a:off x="4562856" y="3474720"/>
            <a:ext cx="3108960" cy="914400"/>
          </a:xfrm>
          <a:prstGeom prst="rect">
            <a:avLst/>
          </a:prstGeom>
          <a:noFill/>
          <a:ln/>
        </p:spPr>
        <p:txBody>
          <a:bodyPr wrap="square" lIns="0" tIns="0" rIns="0" bIns="0" rtlCol="0" anchor="t"/>
          <a:lstStyle/>
          <a:p>
            <a:pPr algn="l" indent="0" marL="0">
              <a:lnSpc>
                <a:spcPct val="125000"/>
              </a:lnSpc>
              <a:buNone/>
            </a:pPr>
            <a:r>
              <a:rPr lang="zh-CN" altLang="en-US" sz="1250" dirty="0">
                <a:solidFill>
                  <a:srgbClr val="52514E"/>
                </a:solidFill>
                <a:latin typeface="Microsoft YaHei" pitchFamily="34" charset="0"/>
                <a:ea typeface="Microsoft YaHei" pitchFamily="34" charset="-122"/>
                <a:cs typeface="Microsoft YaHei" pitchFamily="34" charset="-120"/>
              </a:rPr>
              <a:t>分散后出现 12,288 次行冲突：bank 要先关掉旧行，再打开新行。</a:t>
            </a:r>
            <a:endParaRPr lang="zh-CN" sz="1250" dirty="0"/>
          </a:p>
        </p:txBody>
      </p:sp>
      <p:sp>
        <p:nvSpPr>
          <p:cNvPr id="18" name="Shape 16"/>
          <p:cNvSpPr/>
          <p:nvPr/>
        </p:nvSpPr>
        <p:spPr>
          <a:xfrm>
            <a:off x="8119872" y="1600200"/>
            <a:ext cx="3520440" cy="2971800"/>
          </a:xfrm>
          <a:prstGeom prst="rect">
            <a:avLst/>
          </a:prstGeom>
          <a:solidFill>
            <a:srgbClr val="F4F4F1"/>
          </a:solidFill>
          <a:ln w="12700">
            <a:solidFill>
              <a:srgbClr val="F4F4F1"/>
            </a:solidFill>
            <a:prstDash val="solid"/>
          </a:ln>
        </p:spPr>
      </p:sp>
      <p:sp>
        <p:nvSpPr>
          <p:cNvPr id="19" name="Shape 17"/>
          <p:cNvSpPr/>
          <p:nvPr/>
        </p:nvSpPr>
        <p:spPr>
          <a:xfrm>
            <a:off x="8119872" y="1600200"/>
            <a:ext cx="3520440" cy="64008"/>
          </a:xfrm>
          <a:prstGeom prst="rect">
            <a:avLst/>
          </a:prstGeom>
          <a:solidFill>
            <a:srgbClr val="EB6834"/>
          </a:solidFill>
          <a:ln w="12700">
            <a:solidFill>
              <a:srgbClr val="EB6834"/>
            </a:solidFill>
            <a:prstDash val="solid"/>
          </a:ln>
        </p:spPr>
      </p:sp>
      <p:sp>
        <p:nvSpPr>
          <p:cNvPr id="20" name="Text 18"/>
          <p:cNvSpPr/>
          <p:nvPr/>
        </p:nvSpPr>
        <p:spPr>
          <a:xfrm>
            <a:off x="8348472" y="1810512"/>
            <a:ext cx="310896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写 1 个 token 的 KV（256 B）</a:t>
            </a:r>
            <a:endParaRPr lang="zh-CN" sz="1400" dirty="0"/>
          </a:p>
        </p:txBody>
      </p:sp>
      <p:sp>
        <p:nvSpPr>
          <p:cNvPr id="21" name="Text 19"/>
          <p:cNvSpPr/>
          <p:nvPr/>
        </p:nvSpPr>
        <p:spPr>
          <a:xfrm>
            <a:off x="8348472" y="2194560"/>
            <a:ext cx="3108960" cy="777240"/>
          </a:xfrm>
          <a:prstGeom prst="rect">
            <a:avLst/>
          </a:prstGeom>
          <a:noFill/>
          <a:ln/>
        </p:spPr>
        <p:txBody>
          <a:bodyPr wrap="square" lIns="0" tIns="0" rIns="0" bIns="0" rtlCol="0" anchor="t"/>
          <a:lstStyle/>
          <a:p>
            <a:pPr algn="l" indent="0" marL="0">
              <a:lnSpc>
                <a:spcPct val="112000"/>
              </a:lnSpc>
              <a:buNone/>
            </a:pPr>
            <a:r>
              <a:rPr lang="zh-CN" altLang="en-US" sz="4400" b="1" dirty="0">
                <a:solidFill>
                  <a:srgbClr val="1A1D23"/>
                </a:solidFill>
                <a:latin typeface="Microsoft YaHei" pitchFamily="34" charset="0"/>
                <a:ea typeface="Microsoft YaHei" pitchFamily="34" charset="-122"/>
                <a:cs typeface="Microsoft YaHei" pitchFamily="34" charset="-120"/>
              </a:rPr>
              <a:t>约 4,500×</a:t>
            </a:r>
            <a:endParaRPr lang="zh-CN" sz="4400" dirty="0"/>
          </a:p>
        </p:txBody>
      </p:sp>
      <p:sp>
        <p:nvSpPr>
          <p:cNvPr id="22" name="Text 20"/>
          <p:cNvSpPr/>
          <p:nvPr/>
        </p:nvSpPr>
        <p:spPr>
          <a:xfrm>
            <a:off x="8348472" y="3035808"/>
            <a:ext cx="3154680" cy="320040"/>
          </a:xfrm>
          <a:prstGeom prst="rect">
            <a:avLst/>
          </a:prstGeom>
          <a:noFill/>
          <a:ln/>
        </p:spPr>
        <p:txBody>
          <a:bodyPr wrap="square" lIns="0" tIns="0" rIns="0" bIns="0" rtlCol="0" anchor="t"/>
          <a:lstStyle/>
          <a:p>
            <a:pPr algn="l" indent="0" marL="0">
              <a:lnSpc>
                <a:spcPct val="112000"/>
              </a:lnSpc>
              <a:buNone/>
            </a:pPr>
            <a:r>
              <a:rPr lang="zh-CN" altLang="en-US" sz="1350" dirty="0">
                <a:solidFill>
                  <a:srgbClr val="1A1D23"/>
                </a:solidFill>
                <a:latin typeface="Microsoft YaHei" pitchFamily="34" charset="0"/>
                <a:ea typeface="Microsoft YaHei" pitchFamily="34" charset="-122"/>
                <a:cs typeface="Microsoft YaHei" pitchFamily="34" charset="-120"/>
              </a:rPr>
              <a:t>HBM 22.4 ns　｜　HBF 101.1 µs</a:t>
            </a:r>
            <a:endParaRPr lang="zh-CN" sz="1350" dirty="0"/>
          </a:p>
        </p:txBody>
      </p:sp>
      <p:sp>
        <p:nvSpPr>
          <p:cNvPr id="23" name="Text 21"/>
          <p:cNvSpPr/>
          <p:nvPr/>
        </p:nvSpPr>
        <p:spPr>
          <a:xfrm>
            <a:off x="8348472" y="3474720"/>
            <a:ext cx="3108960" cy="914400"/>
          </a:xfrm>
          <a:prstGeom prst="rect">
            <a:avLst/>
          </a:prstGeom>
          <a:noFill/>
          <a:ln/>
        </p:spPr>
        <p:txBody>
          <a:bodyPr wrap="square" lIns="0" tIns="0" rIns="0" bIns="0" rtlCol="0" anchor="t"/>
          <a:lstStyle/>
          <a:p>
            <a:pPr algn="l" indent="0" marL="0">
              <a:lnSpc>
                <a:spcPct val="125000"/>
              </a:lnSpc>
              <a:buNone/>
            </a:pPr>
            <a:r>
              <a:rPr lang="zh-CN" altLang="en-US" sz="1250" dirty="0">
                <a:solidFill>
                  <a:srgbClr val="52514E"/>
                </a:solidFill>
                <a:latin typeface="Microsoft YaHei" pitchFamily="34" charset="0"/>
                <a:ea typeface="Microsoft YaHei" pitchFamily="34" charset="-122"/>
                <a:cs typeface="Microsoft YaHei" pitchFamily="34" charset="-120"/>
              </a:rPr>
              <a:t>不满一页的写要先读出旧页、合并后整页编程，编程一次 100 µs。</a:t>
            </a:r>
            <a:endParaRPr lang="zh-CN" sz="1250" dirty="0"/>
          </a:p>
        </p:txBody>
      </p:sp>
      <p:sp>
        <p:nvSpPr>
          <p:cNvPr id="24" name="Text 22"/>
          <p:cNvSpPr/>
          <p:nvPr/>
        </p:nvSpPr>
        <p:spPr>
          <a:xfrm>
            <a:off x="548640" y="4828032"/>
            <a:ext cx="365760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52514E"/>
                </a:solidFill>
                <a:latin typeface="Microsoft YaHei" pitchFamily="34" charset="0"/>
                <a:ea typeface="Microsoft YaHei" pitchFamily="34" charset="-122"/>
                <a:cs typeface="Microsoft YaHei" pitchFamily="34" charset="-120"/>
              </a:rPr>
              <a:t>决定一次访存耗时的因素</a:t>
            </a:r>
            <a:endParaRPr lang="zh-CN" sz="1300" dirty="0"/>
          </a:p>
        </p:txBody>
      </p:sp>
      <p:sp>
        <p:nvSpPr>
          <p:cNvPr id="25" name="Shape 23"/>
          <p:cNvSpPr/>
          <p:nvPr/>
        </p:nvSpPr>
        <p:spPr>
          <a:xfrm>
            <a:off x="548640" y="5193792"/>
            <a:ext cx="1572768" cy="438912"/>
          </a:xfrm>
          <a:prstGeom prst="rect">
            <a:avLst/>
          </a:prstGeom>
          <a:solidFill>
            <a:srgbClr val="F4F4F1"/>
          </a:solidFill>
          <a:ln w="9525">
            <a:solidFill>
              <a:srgbClr val="D9D9D4"/>
            </a:solidFill>
            <a:prstDash val="solid"/>
          </a:ln>
        </p:spPr>
      </p:sp>
      <p:sp>
        <p:nvSpPr>
          <p:cNvPr id="26" name="Text 24"/>
          <p:cNvSpPr/>
          <p:nvPr/>
        </p:nvSpPr>
        <p:spPr>
          <a:xfrm>
            <a:off x="548640" y="5193792"/>
            <a:ext cx="1572768" cy="438912"/>
          </a:xfrm>
          <a:prstGeom prst="rect">
            <a:avLst/>
          </a:prstGeom>
          <a:noFill/>
          <a:ln/>
        </p:spPr>
        <p:txBody>
          <a:bodyPr wrap="square" lIns="0" tIns="0" rIns="0" bIns="0" rtlCol="0" anchor="ctr"/>
          <a:lstStyle/>
          <a:p>
            <a:pPr algn="ctr" indent="0" marL="0">
              <a:lnSpc>
                <a:spcPct val="112000"/>
              </a:lnSpc>
              <a:buNone/>
            </a:pPr>
            <a:r>
              <a:rPr lang="zh-CN" altLang="en-US" sz="1250" dirty="0">
                <a:solidFill>
                  <a:srgbClr val="1A1D23"/>
                </a:solidFill>
                <a:latin typeface="Microsoft YaHei" pitchFamily="34" charset="0"/>
                <a:ea typeface="Microsoft YaHei" pitchFamily="34" charset="-122"/>
                <a:cs typeface="Microsoft YaHei" pitchFamily="34" charset="-120"/>
              </a:rPr>
              <a:t>单次访问多大</a:t>
            </a:r>
            <a:endParaRPr lang="zh-CN" sz="1250" dirty="0"/>
          </a:p>
        </p:txBody>
      </p:sp>
      <p:sp>
        <p:nvSpPr>
          <p:cNvPr id="27" name="Shape 25"/>
          <p:cNvSpPr/>
          <p:nvPr/>
        </p:nvSpPr>
        <p:spPr>
          <a:xfrm>
            <a:off x="2304288" y="5193792"/>
            <a:ext cx="1572768" cy="438912"/>
          </a:xfrm>
          <a:prstGeom prst="rect">
            <a:avLst/>
          </a:prstGeom>
          <a:solidFill>
            <a:srgbClr val="F4F4F1"/>
          </a:solidFill>
          <a:ln w="9525">
            <a:solidFill>
              <a:srgbClr val="D9D9D4"/>
            </a:solidFill>
            <a:prstDash val="solid"/>
          </a:ln>
        </p:spPr>
      </p:sp>
      <p:sp>
        <p:nvSpPr>
          <p:cNvPr id="28" name="Text 26"/>
          <p:cNvSpPr/>
          <p:nvPr/>
        </p:nvSpPr>
        <p:spPr>
          <a:xfrm>
            <a:off x="2304288" y="5193792"/>
            <a:ext cx="1572768" cy="438912"/>
          </a:xfrm>
          <a:prstGeom prst="rect">
            <a:avLst/>
          </a:prstGeom>
          <a:noFill/>
          <a:ln/>
        </p:spPr>
        <p:txBody>
          <a:bodyPr wrap="square" lIns="0" tIns="0" rIns="0" bIns="0" rtlCol="0" anchor="ctr"/>
          <a:lstStyle/>
          <a:p>
            <a:pPr algn="ctr" indent="0" marL="0">
              <a:lnSpc>
                <a:spcPct val="112000"/>
              </a:lnSpc>
              <a:buNone/>
            </a:pPr>
            <a:r>
              <a:rPr lang="zh-CN" altLang="en-US" sz="1250" dirty="0">
                <a:solidFill>
                  <a:srgbClr val="1A1D23"/>
                </a:solidFill>
                <a:latin typeface="Microsoft YaHei" pitchFamily="34" charset="0"/>
                <a:ea typeface="Microsoft YaHei" pitchFamily="34" charset="-122"/>
                <a:cs typeface="Microsoft YaHei" pitchFamily="34" charset="-120"/>
              </a:rPr>
              <a:t>数据存放在哪</a:t>
            </a:r>
            <a:endParaRPr lang="zh-CN" sz="1250" dirty="0"/>
          </a:p>
        </p:txBody>
      </p:sp>
      <p:sp>
        <p:nvSpPr>
          <p:cNvPr id="29" name="Shape 27"/>
          <p:cNvSpPr/>
          <p:nvPr/>
        </p:nvSpPr>
        <p:spPr>
          <a:xfrm>
            <a:off x="4059936" y="5193792"/>
            <a:ext cx="1572768" cy="438912"/>
          </a:xfrm>
          <a:prstGeom prst="rect">
            <a:avLst/>
          </a:prstGeom>
          <a:solidFill>
            <a:srgbClr val="F4F4F1"/>
          </a:solidFill>
          <a:ln w="9525">
            <a:solidFill>
              <a:srgbClr val="D9D9D4"/>
            </a:solidFill>
            <a:prstDash val="solid"/>
          </a:ln>
        </p:spPr>
      </p:sp>
      <p:sp>
        <p:nvSpPr>
          <p:cNvPr id="30" name="Text 28"/>
          <p:cNvSpPr/>
          <p:nvPr/>
        </p:nvSpPr>
        <p:spPr>
          <a:xfrm>
            <a:off x="4059936" y="5193792"/>
            <a:ext cx="1572768" cy="438912"/>
          </a:xfrm>
          <a:prstGeom prst="rect">
            <a:avLst/>
          </a:prstGeom>
          <a:noFill/>
          <a:ln/>
        </p:spPr>
        <p:txBody>
          <a:bodyPr wrap="square" lIns="0" tIns="0" rIns="0" bIns="0" rtlCol="0" anchor="ctr"/>
          <a:lstStyle/>
          <a:p>
            <a:pPr algn="ctr" indent="0" marL="0">
              <a:lnSpc>
                <a:spcPct val="112000"/>
              </a:lnSpc>
              <a:buNone/>
            </a:pPr>
            <a:r>
              <a:rPr lang="zh-CN" altLang="en-US" sz="1250" dirty="0">
                <a:solidFill>
                  <a:srgbClr val="1A1D23"/>
                </a:solidFill>
                <a:latin typeface="Microsoft YaHei" pitchFamily="34" charset="0"/>
                <a:ea typeface="Microsoft YaHei" pitchFamily="34" charset="-122"/>
                <a:cs typeface="Microsoft YaHei" pitchFamily="34" charset="-120"/>
              </a:rPr>
              <a:t>同时在途多少</a:t>
            </a:r>
            <a:endParaRPr lang="zh-CN" sz="1250" dirty="0"/>
          </a:p>
        </p:txBody>
      </p:sp>
      <p:sp>
        <p:nvSpPr>
          <p:cNvPr id="31" name="Shape 29"/>
          <p:cNvSpPr/>
          <p:nvPr/>
        </p:nvSpPr>
        <p:spPr>
          <a:xfrm>
            <a:off x="5815584" y="5193792"/>
            <a:ext cx="1572768" cy="438912"/>
          </a:xfrm>
          <a:prstGeom prst="rect">
            <a:avLst/>
          </a:prstGeom>
          <a:solidFill>
            <a:srgbClr val="F4F4F1"/>
          </a:solidFill>
          <a:ln w="9525">
            <a:solidFill>
              <a:srgbClr val="D9D9D4"/>
            </a:solidFill>
            <a:prstDash val="solid"/>
          </a:ln>
        </p:spPr>
      </p:sp>
      <p:sp>
        <p:nvSpPr>
          <p:cNvPr id="32" name="Text 30"/>
          <p:cNvSpPr/>
          <p:nvPr/>
        </p:nvSpPr>
        <p:spPr>
          <a:xfrm>
            <a:off x="5815584" y="5193792"/>
            <a:ext cx="1572768" cy="438912"/>
          </a:xfrm>
          <a:prstGeom prst="rect">
            <a:avLst/>
          </a:prstGeom>
          <a:noFill/>
          <a:ln/>
        </p:spPr>
        <p:txBody>
          <a:bodyPr wrap="square" lIns="0" tIns="0" rIns="0" bIns="0" rtlCol="0" anchor="ctr"/>
          <a:lstStyle/>
          <a:p>
            <a:pPr algn="ctr" indent="0" marL="0">
              <a:lnSpc>
                <a:spcPct val="112000"/>
              </a:lnSpc>
              <a:buNone/>
            </a:pPr>
            <a:r>
              <a:rPr lang="zh-CN" altLang="en-US" sz="1250" dirty="0">
                <a:solidFill>
                  <a:srgbClr val="1A1D23"/>
                </a:solidFill>
                <a:latin typeface="Microsoft YaHei" pitchFamily="34" charset="0"/>
                <a:ea typeface="Microsoft YaHei" pitchFamily="34" charset="-122"/>
                <a:cs typeface="Microsoft YaHei" pitchFamily="34" charset="-120"/>
              </a:rPr>
              <a:t>读还是写</a:t>
            </a:r>
            <a:endParaRPr lang="zh-CN" sz="1250" dirty="0"/>
          </a:p>
        </p:txBody>
      </p:sp>
      <p:sp>
        <p:nvSpPr>
          <p:cNvPr id="33" name="Shape 31"/>
          <p:cNvSpPr/>
          <p:nvPr/>
        </p:nvSpPr>
        <p:spPr>
          <a:xfrm>
            <a:off x="7571232" y="5193792"/>
            <a:ext cx="3931920" cy="438912"/>
          </a:xfrm>
          <a:prstGeom prst="rect">
            <a:avLst/>
          </a:prstGeom>
          <a:solidFill>
            <a:srgbClr val="F4F4F1"/>
          </a:solidFill>
          <a:ln w="9525">
            <a:solidFill>
              <a:srgbClr val="D9D9D4"/>
            </a:solidFill>
            <a:prstDash val="solid"/>
          </a:ln>
        </p:spPr>
      </p:sp>
      <p:sp>
        <p:nvSpPr>
          <p:cNvPr id="34" name="Text 32"/>
          <p:cNvSpPr/>
          <p:nvPr/>
        </p:nvSpPr>
        <p:spPr>
          <a:xfrm>
            <a:off x="7571232" y="5193792"/>
            <a:ext cx="3931920" cy="438912"/>
          </a:xfrm>
          <a:prstGeom prst="rect">
            <a:avLst/>
          </a:prstGeom>
          <a:noFill/>
          <a:ln/>
        </p:spPr>
        <p:txBody>
          <a:bodyPr wrap="square" lIns="0" tIns="0" rIns="0" bIns="0" rtlCol="0" anchor="ctr"/>
          <a:lstStyle/>
          <a:p>
            <a:pPr algn="ctr" indent="0" marL="0">
              <a:lnSpc>
                <a:spcPct val="112000"/>
              </a:lnSpc>
              <a:buNone/>
            </a:pPr>
            <a:r>
              <a:rPr lang="zh-CN" altLang="en-US" sz="1250" dirty="0">
                <a:solidFill>
                  <a:srgbClr val="1A1D23"/>
                </a:solidFill>
                <a:latin typeface="Microsoft YaHei" pitchFamily="34" charset="0"/>
                <a:ea typeface="Microsoft YaHei" pitchFamily="34" charset="-122"/>
                <a:cs typeface="Microsoft YaHei" pitchFamily="34" charset="-120"/>
              </a:rPr>
              <a:t>介质当前状态（开着哪一行、缓存着哪一页）</a:t>
            </a:r>
            <a:endParaRPr lang="zh-CN" sz="1250" dirty="0"/>
          </a:p>
        </p:txBody>
      </p:sp>
      <p:sp>
        <p:nvSpPr>
          <p:cNvPr id="35" name="Text 33"/>
          <p:cNvSpPr/>
          <p:nvPr/>
        </p:nvSpPr>
        <p:spPr>
          <a:xfrm>
            <a:off x="548640" y="5833872"/>
            <a:ext cx="11064240" cy="365760"/>
          </a:xfrm>
          <a:prstGeom prst="rect">
            <a:avLst/>
          </a:prstGeom>
          <a:noFill/>
          <a:ln/>
        </p:spPr>
        <p:txBody>
          <a:bodyPr wrap="square" lIns="0" tIns="0" rIns="0" bIns="0" rtlCol="0" anchor="t"/>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 仿真器逐请求、按介质的物理层级计算完成时间，而不是“字节数 ÷ 峰值带宽”。</a:t>
            </a:r>
            <a:endParaRPr lang="zh-CN"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02 · 推理访存的真实形态</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同一个 Decode 步里，几类截然不同的访存同时发生、争用同一组资源</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尺寸按 Llama 3.1 405B、BF16、TP8（每卡 1 个 KV 头 × 128 维）计算；SHORT / LONG 为论文负载 1,660 / 103,500 输入 token</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03</a:t>
            </a:r>
            <a:endParaRPr lang="zh-CN"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600200"/>
                <a:gridCol w="3383280"/>
                <a:gridCol w="3044952"/>
                <a:gridCol w="3063240"/>
              </a:tblGrid>
              <a:tr h="384048">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数据</a:t>
                      </a:r>
                      <a:endParaRPr lang="en-US" sz="130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单次访问有多大（每卡、每层）</a:t>
                      </a:r>
                      <a:endParaRPr lang="en-US" sz="130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访问特点</a:t>
                      </a:r>
                      <a:endParaRPr lang="en-US" sz="130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对存储的考验</a:t>
                      </a:r>
                      <a:endParaRPr lang="en-US" sz="130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r>
              <a:tr h="502920">
                <a:tc>
                  <a:txBody>
                    <a:bodyPr/>
                    <a:lstStyle/>
                    <a:p>
                      <a:pPr indent="0" marL="0">
                        <a:buNone/>
                      </a:pPr>
                      <a:r>
                        <a:rPr lang="en-US" sz="1350" b="1" dirty="0">
                          <a:solidFill>
                            <a:srgbClr val="1A1D23"/>
                          </a:solidFill>
                          <a:latin typeface="Microsoft YaHei" pitchFamily="34" charset="0"/>
                          <a:ea typeface="Microsoft YaHei" pitchFamily="34" charset="-122"/>
                          <a:cs typeface="Microsoft YaHei" pitchFamily="34" charset="-120"/>
                        </a:rPr>
                        <a:t>权重</a:t>
                      </a:r>
                      <a:endParaRPr lang="en-US" sz="13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4F4F1"/>
                    </a:solidFill>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约 0.8 GB，大块连续</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每生成一个 token 完整读一遍；只读</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持续带宽；已开的行能否连续命中</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960120">
                <a:tc>
                  <a:txBody>
                    <a:bodyPr/>
                    <a:lstStyle/>
                    <a:p>
                      <a:pPr indent="0" marL="0">
                        <a:buNone/>
                      </a:pPr>
                      <a:r>
                        <a:rPr lang="en-US" sz="1350" b="1" dirty="0">
                          <a:solidFill>
                            <a:srgbClr val="1A1D23"/>
                          </a:solidFill>
                          <a:latin typeface="Microsoft YaHei" pitchFamily="34" charset="0"/>
                          <a:ea typeface="Microsoft YaHei" pitchFamily="34" charset="-122"/>
                          <a:cs typeface="Microsoft YaHei" pitchFamily="34" charset="-120"/>
                        </a:rPr>
                        <a:t>KV 读</a:t>
                      </a:r>
                      <a:endParaRPr lang="en-US" sz="13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4F4F1"/>
                    </a:solidFill>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上下文长度 × 256 B（K、V 各一份）</a:t>
                      </a:r>
                      <a:endParaRPr lang="en-US" sz="1250" dirty="0">
                        <a:latin typeface="Microsoft YaHei" charset="0"/>
                        <a:ea typeface="Microsoft YaHei" charset="0"/>
                        <a:cs typeface="Microsoft YaHei" charset="0"/>
                      </a:endParaRPr>
                    </a:p>
                    <a:p>
                      <a:pPr indent="0" marL="0">
                        <a:buNone/>
                      </a:pPr>
                      <a:r>
                        <a:rPr lang="en-US" sz="1250" dirty="0">
                          <a:solidFill>
                            <a:srgbClr val="1A1D23"/>
                          </a:solidFill>
                          <a:latin typeface="Microsoft YaHei" pitchFamily="34" charset="0"/>
                          <a:ea typeface="Microsoft YaHei" pitchFamily="34" charset="-122"/>
                          <a:cs typeface="Microsoft YaHei" pitchFamily="34" charset="-120"/>
                        </a:rPr>
                        <a:t>SHORT 1,660 token → 425 KB</a:t>
                      </a:r>
                      <a:endParaRPr lang="en-US" sz="1250" dirty="0">
                        <a:latin typeface="Microsoft YaHei" charset="0"/>
                        <a:ea typeface="Microsoft YaHei" charset="0"/>
                        <a:cs typeface="Microsoft YaHei" charset="0"/>
                      </a:endParaRPr>
                    </a:p>
                    <a:p>
                      <a:pPr indent="0" marL="0">
                        <a:buNone/>
                      </a:pPr>
                      <a:r>
                        <a:rPr lang="en-US" sz="1250" dirty="0">
                          <a:solidFill>
                            <a:srgbClr val="1A1D23"/>
                          </a:solidFill>
                          <a:latin typeface="Microsoft YaHei" pitchFamily="34" charset="0"/>
                          <a:ea typeface="Microsoft YaHei" pitchFamily="34" charset="-122"/>
                          <a:cs typeface="Microsoft YaHei" pitchFamily="34" charset="-120"/>
                        </a:rPr>
                        <a:t>LONG 103.5K token → 26.5 MB</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每个请求、每一层各读一段；长度随请求不同</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短读：HBF 读页时间摊不薄</a:t>
                      </a:r>
                      <a:endParaRPr lang="en-US" sz="1250" dirty="0">
                        <a:latin typeface="Microsoft YaHei" charset="0"/>
                        <a:ea typeface="Microsoft YaHei" charset="0"/>
                        <a:cs typeface="Microsoft YaHei" charset="0"/>
                      </a:endParaRPr>
                    </a:p>
                    <a:p>
                      <a:pPr indent="0" marL="0">
                        <a:buNone/>
                      </a:pPr>
                      <a:r>
                        <a:rPr lang="en-US" sz="1250" dirty="0">
                          <a:solidFill>
                            <a:srgbClr val="1A1D23"/>
                          </a:solidFill>
                          <a:latin typeface="Microsoft YaHei" pitchFamily="34" charset="0"/>
                          <a:ea typeface="Microsoft YaHei" pitchFamily="34" charset="-122"/>
                          <a:cs typeface="Microsoft YaHei" pitchFamily="34" charset="-120"/>
                        </a:rPr>
                        <a:t>分散存放：HBM 行冲突</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02920">
                <a:tc>
                  <a:txBody>
                    <a:bodyPr/>
                    <a:lstStyle/>
                    <a:p>
                      <a:pPr indent="0" marL="0">
                        <a:buNone/>
                      </a:pPr>
                      <a:r>
                        <a:rPr lang="en-US" sz="1350" b="1" dirty="0">
                          <a:solidFill>
                            <a:srgbClr val="1A1D23"/>
                          </a:solidFill>
                          <a:latin typeface="Microsoft YaHei" pitchFamily="34" charset="0"/>
                          <a:ea typeface="Microsoft YaHei" pitchFamily="34" charset="-122"/>
                          <a:cs typeface="Microsoft YaHei" pitchFamily="34" charset="-120"/>
                        </a:rPr>
                        <a:t>KV 写</a:t>
                      </a:r>
                      <a:endParaRPr lang="en-US" sz="13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4F4F1"/>
                    </a:solidFill>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每 token 每层 256 B（K、V 各一次）</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极小、追加式、每一步都有</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HBF 不满一页的写；读写方向切换</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02920">
                <a:tc>
                  <a:txBody>
                    <a:bodyPr/>
                    <a:lstStyle/>
                    <a:p>
                      <a:pPr indent="0" marL="0">
                        <a:buNone/>
                      </a:pPr>
                      <a:r>
                        <a:rPr lang="en-US" sz="1350" b="1" dirty="0">
                          <a:solidFill>
                            <a:srgbClr val="1A1D23"/>
                          </a:solidFill>
                          <a:latin typeface="Microsoft YaHei" pitchFamily="34" charset="0"/>
                          <a:ea typeface="Microsoft YaHei" pitchFamily="34" charset="-122"/>
                          <a:cs typeface="Microsoft YaHei" pitchFamily="34" charset="-120"/>
                        </a:rPr>
                        <a:t>激活 / 中间结果</a:t>
                      </a:r>
                      <a:endParaRPr lang="en-US" sz="13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4F4F1"/>
                    </a:solidFill>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KB ~ MB 级</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读写交替，生命周期短</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容量放不放得下；端口争用</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02920">
                <a:tc>
                  <a:txBody>
                    <a:bodyPr/>
                    <a:lstStyle/>
                    <a:p>
                      <a:pPr indent="0" marL="0">
                        <a:buNone/>
                      </a:pPr>
                      <a:r>
                        <a:rPr lang="en-US" sz="1350" b="1" dirty="0">
                          <a:solidFill>
                            <a:srgbClr val="1A1D23"/>
                          </a:solidFill>
                          <a:latin typeface="Microsoft YaHei" pitchFamily="34" charset="0"/>
                          <a:ea typeface="Microsoft YaHei" pitchFamily="34" charset="-122"/>
                          <a:cs typeface="Microsoft YaHei" pitchFamily="34" charset="-120"/>
                        </a:rPr>
                        <a:t>PD 导入的 KV</a:t>
                      </a:r>
                      <a:endParaRPr lang="en-US" sz="13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4F4F1"/>
                    </a:solidFill>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按 1 MiB 分段的大块写</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与 Decode 同时进行</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1A1D23"/>
                          </a:solidFill>
                          <a:latin typeface="Microsoft YaHei" pitchFamily="34" charset="0"/>
                          <a:ea typeface="Microsoft YaHei" pitchFamily="34" charset="-122"/>
                          <a:cs typeface="Microsoft YaHei" pitchFamily="34" charset="-120"/>
                        </a:rPr>
                        <a:t>写带宽；与读争用同一批资源</a:t>
                      </a:r>
                      <a:endParaRPr lang="en-US" sz="1250" dirty="0">
                        <a:latin typeface="Microsoft YaHei" charset="0"/>
                        <a:ea typeface="Microsoft YaHei" charset="0"/>
                        <a:cs typeface="Microsoft YaHei" charset="0"/>
                      </a:endParaRPr>
                    </a:p>
                  </a:txBody>
                  <a:tcPr marL="109728" marR="109728" marT="54864" marB="54864"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7" name="Shape 4"/>
          <p:cNvSpPr/>
          <p:nvPr/>
        </p:nvSpPr>
        <p:spPr>
          <a:xfrm>
            <a:off x="548640" y="5349240"/>
            <a:ext cx="11091672" cy="777240"/>
          </a:xfrm>
          <a:prstGeom prst="rect">
            <a:avLst/>
          </a:prstGeom>
          <a:solidFill>
            <a:srgbClr val="FCE8DF"/>
          </a:solidFill>
          <a:ln w="12700">
            <a:solidFill>
              <a:srgbClr val="FCE8DF"/>
            </a:solidFill>
            <a:prstDash val="solid"/>
          </a:ln>
        </p:spPr>
      </p:sp>
      <p:sp>
        <p:nvSpPr>
          <p:cNvPr id="8" name="Text 5"/>
          <p:cNvSpPr/>
          <p:nvPr/>
        </p:nvSpPr>
        <p:spPr>
          <a:xfrm>
            <a:off x="777240" y="5349240"/>
            <a:ext cx="10698480" cy="777240"/>
          </a:xfrm>
          <a:prstGeom prst="rect">
            <a:avLst/>
          </a:prstGeom>
          <a:noFill/>
          <a:ln/>
        </p:spPr>
        <p:txBody>
          <a:bodyPr wrap="square" lIns="0" tIns="0" rIns="0" bIns="0" rtlCol="0" anchor="ctr"/>
          <a:lstStyle/>
          <a:p>
            <a:pPr algn="l" indent="0" marL="0">
              <a:lnSpc>
                <a:spcPct val="125000"/>
              </a:lnSpc>
              <a:buNone/>
            </a:pPr>
            <a:r>
              <a:rPr lang="zh-CN" altLang="en-US" sz="1400" dirty="0">
                <a:solidFill>
                  <a:srgbClr val="1A1D23"/>
                </a:solidFill>
                <a:latin typeface="Microsoft YaHei" pitchFamily="34" charset="0"/>
                <a:ea typeface="Microsoft YaHei" pitchFamily="34" charset="-122"/>
                <a:cs typeface="Microsoft YaHei" pitchFamily="34" charset="-120"/>
              </a:rPr>
              <a:t>关键：同一个数据，单次访问可以从 256 B 到 GB 级；同一时刻还有成百上千个请求在途。存储表现取决于这些访问的组合，而不是其中任何一种。</a:t>
            </a:r>
            <a:endParaRPr lang="zh-C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03 · 仿真器的统一做法</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每一次访存都走完同一条物理链路，时间由资源排队算出来</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代码：planner.py（算子与缓冲区）· memory_allocator.py · memory_types.AccessRequest · memory_mapping.py · dram_core.py / nand_core.py / sram_core.py · event_kernel.py</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04</a:t>
            </a:r>
            <a:endParaRPr lang="zh-CN" sz="900" dirty="0"/>
          </a:p>
        </p:txBody>
      </p:sp>
      <p:sp>
        <p:nvSpPr>
          <p:cNvPr id="6" name="Shape 4"/>
          <p:cNvSpPr/>
          <p:nvPr/>
        </p:nvSpPr>
        <p:spPr>
          <a:xfrm>
            <a:off x="548640" y="1783080"/>
            <a:ext cx="1691640" cy="1965960"/>
          </a:xfrm>
          <a:prstGeom prst="rect">
            <a:avLst/>
          </a:prstGeom>
          <a:solidFill>
            <a:srgbClr val="F4F4F1"/>
          </a:solidFill>
          <a:ln w="12700">
            <a:solidFill>
              <a:srgbClr val="F4F4F1"/>
            </a:solidFill>
            <a:prstDash val="solid"/>
          </a:ln>
        </p:spPr>
      </p:sp>
      <p:sp>
        <p:nvSpPr>
          <p:cNvPr id="7" name="Shape 5"/>
          <p:cNvSpPr/>
          <p:nvPr/>
        </p:nvSpPr>
        <p:spPr>
          <a:xfrm>
            <a:off x="685800" y="1920240"/>
            <a:ext cx="329184" cy="329184"/>
          </a:xfrm>
          <a:prstGeom prst="ellipse">
            <a:avLst/>
          </a:prstGeom>
          <a:solidFill>
            <a:srgbClr val="13213A"/>
          </a:solidFill>
          <a:ln w="12700">
            <a:solidFill>
              <a:srgbClr val="13213A"/>
            </a:solidFill>
            <a:prstDash val="solid"/>
          </a:ln>
        </p:spPr>
      </p:sp>
      <p:sp>
        <p:nvSpPr>
          <p:cNvPr id="8" name="Text 6"/>
          <p:cNvSpPr/>
          <p:nvPr/>
        </p:nvSpPr>
        <p:spPr>
          <a:xfrm>
            <a:off x="685800" y="1920240"/>
            <a:ext cx="329184" cy="329184"/>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1</a:t>
            </a:r>
            <a:endParaRPr lang="zh-CN" sz="1200" dirty="0"/>
          </a:p>
        </p:txBody>
      </p:sp>
      <p:sp>
        <p:nvSpPr>
          <p:cNvPr id="9" name="Text 7"/>
          <p:cNvSpPr/>
          <p:nvPr/>
        </p:nvSpPr>
        <p:spPr>
          <a:xfrm>
            <a:off x="685800" y="2359152"/>
            <a:ext cx="1463040" cy="365760"/>
          </a:xfrm>
          <a:prstGeom prst="rect">
            <a:avLst/>
          </a:prstGeom>
          <a:noFill/>
          <a:ln/>
        </p:spPr>
        <p:txBody>
          <a:bodyPr wrap="square" lIns="0" tIns="0" rIns="0" bIns="0" rtlCol="0" anchor="t"/>
          <a:lstStyle/>
          <a:p>
            <a:pPr algn="l"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算子</a:t>
            </a:r>
            <a:endParaRPr lang="zh-CN" sz="1600" dirty="0"/>
          </a:p>
        </p:txBody>
      </p:sp>
      <p:sp>
        <p:nvSpPr>
          <p:cNvPr id="10" name="Text 8"/>
          <p:cNvSpPr/>
          <p:nvPr/>
        </p:nvSpPr>
        <p:spPr>
          <a:xfrm>
            <a:off x="685800" y="2761488"/>
            <a:ext cx="1463040" cy="914400"/>
          </a:xfrm>
          <a:prstGeom prst="rect">
            <a:avLst/>
          </a:prstGeom>
          <a:noFill/>
          <a:ln/>
        </p:spPr>
        <p:txBody>
          <a:bodyPr wrap="square" lIns="0" tIns="0" rIns="0" bIns="0" rtlCol="0" anchor="t"/>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Attention、GEMM 等声明要读写哪些缓冲区</a:t>
            </a:r>
            <a:endParaRPr lang="zh-CN" sz="1150" dirty="0"/>
          </a:p>
        </p:txBody>
      </p:sp>
      <p:sp>
        <p:nvSpPr>
          <p:cNvPr id="11" name="Shape 9"/>
          <p:cNvSpPr/>
          <p:nvPr/>
        </p:nvSpPr>
        <p:spPr>
          <a:xfrm>
            <a:off x="2249424" y="2761488"/>
            <a:ext cx="164592" cy="0"/>
          </a:xfrm>
          <a:prstGeom prst="line">
            <a:avLst/>
          </a:prstGeom>
          <a:noFill/>
          <a:ln w="19050">
            <a:solidFill>
              <a:srgbClr val="8A8A86"/>
            </a:solidFill>
            <a:prstDash val="solid"/>
            <a:tailEnd type="triangle"/>
          </a:ln>
        </p:spPr>
      </p:sp>
      <p:sp>
        <p:nvSpPr>
          <p:cNvPr id="12" name="Shape 10"/>
          <p:cNvSpPr/>
          <p:nvPr/>
        </p:nvSpPr>
        <p:spPr>
          <a:xfrm>
            <a:off x="2423160" y="1783080"/>
            <a:ext cx="1691640" cy="1965960"/>
          </a:xfrm>
          <a:prstGeom prst="rect">
            <a:avLst/>
          </a:prstGeom>
          <a:solidFill>
            <a:srgbClr val="F4F4F1"/>
          </a:solidFill>
          <a:ln w="12700">
            <a:solidFill>
              <a:srgbClr val="F4F4F1"/>
            </a:solidFill>
            <a:prstDash val="solid"/>
          </a:ln>
        </p:spPr>
      </p:sp>
      <p:sp>
        <p:nvSpPr>
          <p:cNvPr id="13" name="Shape 11"/>
          <p:cNvSpPr/>
          <p:nvPr/>
        </p:nvSpPr>
        <p:spPr>
          <a:xfrm>
            <a:off x="2560320" y="1920240"/>
            <a:ext cx="329184" cy="329184"/>
          </a:xfrm>
          <a:prstGeom prst="ellipse">
            <a:avLst/>
          </a:prstGeom>
          <a:solidFill>
            <a:srgbClr val="13213A"/>
          </a:solidFill>
          <a:ln w="12700">
            <a:solidFill>
              <a:srgbClr val="13213A"/>
            </a:solidFill>
            <a:prstDash val="solid"/>
          </a:ln>
        </p:spPr>
      </p:sp>
      <p:sp>
        <p:nvSpPr>
          <p:cNvPr id="14" name="Text 12"/>
          <p:cNvSpPr/>
          <p:nvPr/>
        </p:nvSpPr>
        <p:spPr>
          <a:xfrm>
            <a:off x="2560320" y="1920240"/>
            <a:ext cx="329184" cy="329184"/>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2</a:t>
            </a:r>
            <a:endParaRPr lang="zh-CN" sz="1200" dirty="0"/>
          </a:p>
        </p:txBody>
      </p:sp>
      <p:sp>
        <p:nvSpPr>
          <p:cNvPr id="15" name="Text 13"/>
          <p:cNvSpPr/>
          <p:nvPr/>
        </p:nvSpPr>
        <p:spPr>
          <a:xfrm>
            <a:off x="2560320" y="2359152"/>
            <a:ext cx="1463040" cy="365760"/>
          </a:xfrm>
          <a:prstGeom prst="rect">
            <a:avLst/>
          </a:prstGeom>
          <a:noFill/>
          <a:ln/>
        </p:spPr>
        <p:txBody>
          <a:bodyPr wrap="square" lIns="0" tIns="0" rIns="0" bIns="0" rtlCol="0" anchor="t"/>
          <a:lstStyle/>
          <a:p>
            <a:pPr algn="l"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物理地址</a:t>
            </a:r>
            <a:endParaRPr lang="zh-CN" sz="1600" dirty="0"/>
          </a:p>
        </p:txBody>
      </p:sp>
      <p:sp>
        <p:nvSpPr>
          <p:cNvPr id="16" name="Text 14"/>
          <p:cNvSpPr/>
          <p:nvPr/>
        </p:nvSpPr>
        <p:spPr>
          <a:xfrm>
            <a:off x="2560320" y="2761488"/>
            <a:ext cx="1463040" cy="914400"/>
          </a:xfrm>
          <a:prstGeom prst="rect">
            <a:avLst/>
          </a:prstGeom>
          <a:noFill/>
          <a:ln/>
        </p:spPr>
        <p:txBody>
          <a:bodyPr wrap="square" lIns="0" tIns="0" rIns="0" bIns="0" rtlCol="0" anchor="t"/>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分配器给出地址：权重、每请求每层的 K/V、激活</a:t>
            </a:r>
            <a:endParaRPr lang="zh-CN" sz="1150" dirty="0"/>
          </a:p>
        </p:txBody>
      </p:sp>
      <p:sp>
        <p:nvSpPr>
          <p:cNvPr id="17" name="Shape 15"/>
          <p:cNvSpPr/>
          <p:nvPr/>
        </p:nvSpPr>
        <p:spPr>
          <a:xfrm>
            <a:off x="4123944" y="2761488"/>
            <a:ext cx="164592" cy="0"/>
          </a:xfrm>
          <a:prstGeom prst="line">
            <a:avLst/>
          </a:prstGeom>
          <a:noFill/>
          <a:ln w="19050">
            <a:solidFill>
              <a:srgbClr val="8A8A86"/>
            </a:solidFill>
            <a:prstDash val="solid"/>
            <a:tailEnd type="triangle"/>
          </a:ln>
        </p:spPr>
      </p:sp>
      <p:sp>
        <p:nvSpPr>
          <p:cNvPr id="18" name="Shape 16"/>
          <p:cNvSpPr/>
          <p:nvPr/>
        </p:nvSpPr>
        <p:spPr>
          <a:xfrm>
            <a:off x="4297680" y="1783080"/>
            <a:ext cx="1691640" cy="1965960"/>
          </a:xfrm>
          <a:prstGeom prst="rect">
            <a:avLst/>
          </a:prstGeom>
          <a:solidFill>
            <a:srgbClr val="F4F4F1"/>
          </a:solidFill>
          <a:ln w="12700">
            <a:solidFill>
              <a:srgbClr val="F4F4F1"/>
            </a:solidFill>
            <a:prstDash val="solid"/>
          </a:ln>
        </p:spPr>
      </p:sp>
      <p:sp>
        <p:nvSpPr>
          <p:cNvPr id="19" name="Shape 17"/>
          <p:cNvSpPr/>
          <p:nvPr/>
        </p:nvSpPr>
        <p:spPr>
          <a:xfrm>
            <a:off x="4434840" y="1920240"/>
            <a:ext cx="329184" cy="329184"/>
          </a:xfrm>
          <a:prstGeom prst="ellipse">
            <a:avLst/>
          </a:prstGeom>
          <a:solidFill>
            <a:srgbClr val="13213A"/>
          </a:solidFill>
          <a:ln w="12700">
            <a:solidFill>
              <a:srgbClr val="13213A"/>
            </a:solidFill>
            <a:prstDash val="solid"/>
          </a:ln>
        </p:spPr>
      </p:sp>
      <p:sp>
        <p:nvSpPr>
          <p:cNvPr id="20" name="Text 18"/>
          <p:cNvSpPr/>
          <p:nvPr/>
        </p:nvSpPr>
        <p:spPr>
          <a:xfrm>
            <a:off x="4434840" y="1920240"/>
            <a:ext cx="329184" cy="329184"/>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3</a:t>
            </a:r>
            <a:endParaRPr lang="zh-CN" sz="1200" dirty="0"/>
          </a:p>
        </p:txBody>
      </p:sp>
      <p:sp>
        <p:nvSpPr>
          <p:cNvPr id="21" name="Text 19"/>
          <p:cNvSpPr/>
          <p:nvPr/>
        </p:nvSpPr>
        <p:spPr>
          <a:xfrm>
            <a:off x="4434840" y="2359152"/>
            <a:ext cx="1463040" cy="365760"/>
          </a:xfrm>
          <a:prstGeom prst="rect">
            <a:avLst/>
          </a:prstGeom>
          <a:noFill/>
          <a:ln/>
        </p:spPr>
        <p:txBody>
          <a:bodyPr wrap="square" lIns="0" tIns="0" rIns="0" bIns="0" rtlCol="0" anchor="t"/>
          <a:lstStyle/>
          <a:p>
            <a:pPr algn="l"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访存请求</a:t>
            </a:r>
            <a:endParaRPr lang="zh-CN" sz="1600" dirty="0"/>
          </a:p>
        </p:txBody>
      </p:sp>
      <p:sp>
        <p:nvSpPr>
          <p:cNvPr id="22" name="Text 20"/>
          <p:cNvSpPr/>
          <p:nvPr/>
        </p:nvSpPr>
        <p:spPr>
          <a:xfrm>
            <a:off x="4434840" y="2761488"/>
            <a:ext cx="1463040" cy="914400"/>
          </a:xfrm>
          <a:prstGeom prst="rect">
            <a:avLst/>
          </a:prstGeom>
          <a:noFill/>
          <a:ln/>
        </p:spPr>
        <p:txBody>
          <a:bodyPr wrap="square" lIns="0" tIns="0" rIns="0" bIns="0" rtlCol="0" anchor="t"/>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读/写 · 起始地址 · 字节数 · 到达时间</a:t>
            </a:r>
            <a:endParaRPr lang="zh-CN" sz="1150" dirty="0"/>
          </a:p>
        </p:txBody>
      </p:sp>
      <p:sp>
        <p:nvSpPr>
          <p:cNvPr id="23" name="Shape 21"/>
          <p:cNvSpPr/>
          <p:nvPr/>
        </p:nvSpPr>
        <p:spPr>
          <a:xfrm>
            <a:off x="5998464" y="2761488"/>
            <a:ext cx="164592" cy="0"/>
          </a:xfrm>
          <a:prstGeom prst="line">
            <a:avLst/>
          </a:prstGeom>
          <a:noFill/>
          <a:ln w="19050">
            <a:solidFill>
              <a:srgbClr val="8A8A86"/>
            </a:solidFill>
            <a:prstDash val="solid"/>
            <a:tailEnd type="triangle"/>
          </a:ln>
        </p:spPr>
      </p:sp>
      <p:sp>
        <p:nvSpPr>
          <p:cNvPr id="24" name="Shape 22"/>
          <p:cNvSpPr/>
          <p:nvPr/>
        </p:nvSpPr>
        <p:spPr>
          <a:xfrm>
            <a:off x="6172200" y="1783080"/>
            <a:ext cx="1691640" cy="1965960"/>
          </a:xfrm>
          <a:prstGeom prst="rect">
            <a:avLst/>
          </a:prstGeom>
          <a:solidFill>
            <a:srgbClr val="E4EEFA"/>
          </a:solidFill>
          <a:ln w="12700">
            <a:solidFill>
              <a:srgbClr val="E4EEFA"/>
            </a:solidFill>
            <a:prstDash val="solid"/>
          </a:ln>
        </p:spPr>
      </p:sp>
      <p:sp>
        <p:nvSpPr>
          <p:cNvPr id="25" name="Shape 23"/>
          <p:cNvSpPr/>
          <p:nvPr/>
        </p:nvSpPr>
        <p:spPr>
          <a:xfrm>
            <a:off x="6309360" y="1920240"/>
            <a:ext cx="329184" cy="329184"/>
          </a:xfrm>
          <a:prstGeom prst="ellipse">
            <a:avLst/>
          </a:prstGeom>
          <a:solidFill>
            <a:srgbClr val="1F5FAE"/>
          </a:solidFill>
          <a:ln w="12700">
            <a:solidFill>
              <a:srgbClr val="1F5FAE"/>
            </a:solidFill>
            <a:prstDash val="solid"/>
          </a:ln>
        </p:spPr>
      </p:sp>
      <p:sp>
        <p:nvSpPr>
          <p:cNvPr id="26" name="Text 24"/>
          <p:cNvSpPr/>
          <p:nvPr/>
        </p:nvSpPr>
        <p:spPr>
          <a:xfrm>
            <a:off x="6309360" y="1920240"/>
            <a:ext cx="329184" cy="329184"/>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4</a:t>
            </a:r>
            <a:endParaRPr lang="zh-CN" sz="1200" dirty="0"/>
          </a:p>
        </p:txBody>
      </p:sp>
      <p:sp>
        <p:nvSpPr>
          <p:cNvPr id="27" name="Text 25"/>
          <p:cNvSpPr/>
          <p:nvPr/>
        </p:nvSpPr>
        <p:spPr>
          <a:xfrm>
            <a:off x="6309360" y="2359152"/>
            <a:ext cx="1463040" cy="365760"/>
          </a:xfrm>
          <a:prstGeom prst="rect">
            <a:avLst/>
          </a:prstGeom>
          <a:noFill/>
          <a:ln/>
        </p:spPr>
        <p:txBody>
          <a:bodyPr wrap="square" lIns="0" tIns="0" rIns="0" bIns="0" rtlCol="0" anchor="t"/>
          <a:lstStyle/>
          <a:p>
            <a:pPr algn="l"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介质核心</a:t>
            </a:r>
            <a:endParaRPr lang="zh-CN" sz="1600" dirty="0"/>
          </a:p>
        </p:txBody>
      </p:sp>
      <p:sp>
        <p:nvSpPr>
          <p:cNvPr id="28" name="Text 26"/>
          <p:cNvSpPr/>
          <p:nvPr/>
        </p:nvSpPr>
        <p:spPr>
          <a:xfrm>
            <a:off x="6309360" y="2761488"/>
            <a:ext cx="1463040" cy="914400"/>
          </a:xfrm>
          <a:prstGeom prst="rect">
            <a:avLst/>
          </a:prstGeom>
          <a:noFill/>
          <a:ln/>
        </p:spPr>
        <p:txBody>
          <a:bodyPr wrap="square" lIns="0" tIns="0" rIns="0" bIns="0" rtlCol="0" anchor="t"/>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拆成最小单位 → 映射到物理单元 → 查当前状态</a:t>
            </a:r>
            <a:endParaRPr lang="zh-CN" sz="1150" dirty="0"/>
          </a:p>
        </p:txBody>
      </p:sp>
      <p:sp>
        <p:nvSpPr>
          <p:cNvPr id="29" name="Shape 27"/>
          <p:cNvSpPr/>
          <p:nvPr/>
        </p:nvSpPr>
        <p:spPr>
          <a:xfrm>
            <a:off x="7872984" y="2761488"/>
            <a:ext cx="164592" cy="0"/>
          </a:xfrm>
          <a:prstGeom prst="line">
            <a:avLst/>
          </a:prstGeom>
          <a:noFill/>
          <a:ln w="19050">
            <a:solidFill>
              <a:srgbClr val="8A8A86"/>
            </a:solidFill>
            <a:prstDash val="solid"/>
            <a:tailEnd type="triangle"/>
          </a:ln>
        </p:spPr>
      </p:sp>
      <p:sp>
        <p:nvSpPr>
          <p:cNvPr id="30" name="Shape 28"/>
          <p:cNvSpPr/>
          <p:nvPr/>
        </p:nvSpPr>
        <p:spPr>
          <a:xfrm>
            <a:off x="8046720" y="1783080"/>
            <a:ext cx="1691640" cy="1965960"/>
          </a:xfrm>
          <a:prstGeom prst="rect">
            <a:avLst/>
          </a:prstGeom>
          <a:solidFill>
            <a:srgbClr val="E4EEFA"/>
          </a:solidFill>
          <a:ln w="12700">
            <a:solidFill>
              <a:srgbClr val="E4EEFA"/>
            </a:solidFill>
            <a:prstDash val="solid"/>
          </a:ln>
        </p:spPr>
      </p:sp>
      <p:sp>
        <p:nvSpPr>
          <p:cNvPr id="31" name="Shape 29"/>
          <p:cNvSpPr/>
          <p:nvPr/>
        </p:nvSpPr>
        <p:spPr>
          <a:xfrm>
            <a:off x="8183880" y="1920240"/>
            <a:ext cx="329184" cy="329184"/>
          </a:xfrm>
          <a:prstGeom prst="ellipse">
            <a:avLst/>
          </a:prstGeom>
          <a:solidFill>
            <a:srgbClr val="1F5FAE"/>
          </a:solidFill>
          <a:ln w="12700">
            <a:solidFill>
              <a:srgbClr val="1F5FAE"/>
            </a:solidFill>
            <a:prstDash val="solid"/>
          </a:ln>
        </p:spPr>
      </p:sp>
      <p:sp>
        <p:nvSpPr>
          <p:cNvPr id="32" name="Text 30"/>
          <p:cNvSpPr/>
          <p:nvPr/>
        </p:nvSpPr>
        <p:spPr>
          <a:xfrm>
            <a:off x="8183880" y="1920240"/>
            <a:ext cx="329184" cy="329184"/>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5</a:t>
            </a:r>
            <a:endParaRPr lang="zh-CN" sz="1200" dirty="0"/>
          </a:p>
        </p:txBody>
      </p:sp>
      <p:sp>
        <p:nvSpPr>
          <p:cNvPr id="33" name="Text 31"/>
          <p:cNvSpPr/>
          <p:nvPr/>
        </p:nvSpPr>
        <p:spPr>
          <a:xfrm>
            <a:off x="8183880" y="2359152"/>
            <a:ext cx="1463040" cy="365760"/>
          </a:xfrm>
          <a:prstGeom prst="rect">
            <a:avLst/>
          </a:prstGeom>
          <a:noFill/>
          <a:ln/>
        </p:spPr>
        <p:txBody>
          <a:bodyPr wrap="square" lIns="0" tIns="0" rIns="0" bIns="0" rtlCol="0" anchor="t"/>
          <a:lstStyle/>
          <a:p>
            <a:pPr algn="l"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资源排队</a:t>
            </a:r>
            <a:endParaRPr lang="zh-CN" sz="1600" dirty="0"/>
          </a:p>
        </p:txBody>
      </p:sp>
      <p:sp>
        <p:nvSpPr>
          <p:cNvPr id="34" name="Text 32"/>
          <p:cNvSpPr/>
          <p:nvPr/>
        </p:nvSpPr>
        <p:spPr>
          <a:xfrm>
            <a:off x="8183880" y="2761488"/>
            <a:ext cx="1463040" cy="914400"/>
          </a:xfrm>
          <a:prstGeom prst="rect">
            <a:avLst/>
          </a:prstGeom>
          <a:noFill/>
          <a:ln/>
        </p:spPr>
        <p:txBody>
          <a:bodyPr wrap="square" lIns="0" tIns="0" rIns="0" bIns="0" rtlCol="0" anchor="t"/>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命令总线、数据线、plane、内部通道、链路、端口按时间表占用</a:t>
            </a:r>
            <a:endParaRPr lang="zh-CN" sz="1150" dirty="0"/>
          </a:p>
        </p:txBody>
      </p:sp>
      <p:sp>
        <p:nvSpPr>
          <p:cNvPr id="35" name="Shape 33"/>
          <p:cNvSpPr/>
          <p:nvPr/>
        </p:nvSpPr>
        <p:spPr>
          <a:xfrm>
            <a:off x="9747504" y="2761488"/>
            <a:ext cx="164592" cy="0"/>
          </a:xfrm>
          <a:prstGeom prst="line">
            <a:avLst/>
          </a:prstGeom>
          <a:noFill/>
          <a:ln w="19050">
            <a:solidFill>
              <a:srgbClr val="8A8A86"/>
            </a:solidFill>
            <a:prstDash val="solid"/>
            <a:tailEnd type="triangle"/>
          </a:ln>
        </p:spPr>
      </p:sp>
      <p:sp>
        <p:nvSpPr>
          <p:cNvPr id="36" name="Shape 34"/>
          <p:cNvSpPr/>
          <p:nvPr/>
        </p:nvSpPr>
        <p:spPr>
          <a:xfrm>
            <a:off x="9921240" y="1783080"/>
            <a:ext cx="1691640" cy="1965960"/>
          </a:xfrm>
          <a:prstGeom prst="rect">
            <a:avLst/>
          </a:prstGeom>
          <a:solidFill>
            <a:srgbClr val="F4F4F1"/>
          </a:solidFill>
          <a:ln w="12700">
            <a:solidFill>
              <a:srgbClr val="F4F4F1"/>
            </a:solidFill>
            <a:prstDash val="solid"/>
          </a:ln>
        </p:spPr>
      </p:sp>
      <p:sp>
        <p:nvSpPr>
          <p:cNvPr id="37" name="Shape 35"/>
          <p:cNvSpPr/>
          <p:nvPr/>
        </p:nvSpPr>
        <p:spPr>
          <a:xfrm>
            <a:off x="10058400" y="1920240"/>
            <a:ext cx="329184" cy="329184"/>
          </a:xfrm>
          <a:prstGeom prst="ellipse">
            <a:avLst/>
          </a:prstGeom>
          <a:solidFill>
            <a:srgbClr val="13213A"/>
          </a:solidFill>
          <a:ln w="12700">
            <a:solidFill>
              <a:srgbClr val="13213A"/>
            </a:solidFill>
            <a:prstDash val="solid"/>
          </a:ln>
        </p:spPr>
      </p:sp>
      <p:sp>
        <p:nvSpPr>
          <p:cNvPr id="38" name="Text 36"/>
          <p:cNvSpPr/>
          <p:nvPr/>
        </p:nvSpPr>
        <p:spPr>
          <a:xfrm>
            <a:off x="10058400" y="1920240"/>
            <a:ext cx="329184" cy="329184"/>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6</a:t>
            </a:r>
            <a:endParaRPr lang="zh-CN" sz="1200" dirty="0"/>
          </a:p>
        </p:txBody>
      </p:sp>
      <p:sp>
        <p:nvSpPr>
          <p:cNvPr id="39" name="Text 37"/>
          <p:cNvSpPr/>
          <p:nvPr/>
        </p:nvSpPr>
        <p:spPr>
          <a:xfrm>
            <a:off x="10058400" y="2359152"/>
            <a:ext cx="1463040" cy="365760"/>
          </a:xfrm>
          <a:prstGeom prst="rect">
            <a:avLst/>
          </a:prstGeom>
          <a:noFill/>
          <a:ln/>
        </p:spPr>
        <p:txBody>
          <a:bodyPr wrap="square" lIns="0" tIns="0" rIns="0" bIns="0" rtlCol="0" anchor="t"/>
          <a:lstStyle/>
          <a:p>
            <a:pPr algn="l"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回写结果</a:t>
            </a:r>
            <a:endParaRPr lang="zh-CN" sz="1600" dirty="0"/>
          </a:p>
        </p:txBody>
      </p:sp>
      <p:sp>
        <p:nvSpPr>
          <p:cNvPr id="40" name="Text 38"/>
          <p:cNvSpPr/>
          <p:nvPr/>
        </p:nvSpPr>
        <p:spPr>
          <a:xfrm>
            <a:off x="10058400" y="2761488"/>
            <a:ext cx="1463040" cy="914400"/>
          </a:xfrm>
          <a:prstGeom prst="rect">
            <a:avLst/>
          </a:prstGeom>
          <a:noFill/>
          <a:ln/>
        </p:spPr>
        <p:txBody>
          <a:bodyPr wrap="square" lIns="0" tIns="0" rIns="0" bIns="0" rtlCol="0" anchor="t"/>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完成时间回到事件内核 → 算子结束 → TPOT / TTFT / 吞吐</a:t>
            </a:r>
            <a:endParaRPr lang="zh-CN" sz="1150" dirty="0"/>
          </a:p>
        </p:txBody>
      </p:sp>
      <p:sp>
        <p:nvSpPr>
          <p:cNvPr id="41" name="Text 39"/>
          <p:cNvSpPr/>
          <p:nvPr/>
        </p:nvSpPr>
        <p:spPr>
          <a:xfrm>
            <a:off x="548640" y="3858768"/>
            <a:ext cx="10972800" cy="274320"/>
          </a:xfrm>
          <a:prstGeom prst="rect">
            <a:avLst/>
          </a:prstGeom>
          <a:noFill/>
          <a:ln/>
        </p:spPr>
        <p:txBody>
          <a:bodyPr wrap="square" lIns="0" tIns="0" rIns="0" bIns="0" rtlCol="0" anchor="t"/>
          <a:lstStyle/>
          <a:p>
            <a:pPr algn="l" indent="0" marL="0">
              <a:lnSpc>
                <a:spcPct val="112000"/>
              </a:lnSpc>
              <a:buNone/>
            </a:pPr>
            <a:r>
              <a:rPr lang="zh-CN" altLang="en-US" sz="1200" b="1" dirty="0">
                <a:solidFill>
                  <a:srgbClr val="1F5FAE"/>
                </a:solidFill>
                <a:latin typeface="Microsoft YaHei" pitchFamily="34" charset="0"/>
                <a:ea typeface="Microsoft YaHei" pitchFamily="34" charset="-122"/>
                <a:cs typeface="Microsoft YaHei" pitchFamily="34" charset="-120"/>
              </a:rPr>
              <a:t>④⑤ 是本次汇报的重点：HBM、HBF、SRAM 在这两步上建模的层级不同</a:t>
            </a:r>
            <a:endParaRPr lang="zh-CN" sz="1200" dirty="0"/>
          </a:p>
        </p:txBody>
      </p:sp>
      <p:sp>
        <p:nvSpPr>
          <p:cNvPr id="42" name="Shape 40"/>
          <p:cNvSpPr/>
          <p:nvPr/>
        </p:nvSpPr>
        <p:spPr>
          <a:xfrm>
            <a:off x="548640" y="4343400"/>
            <a:ext cx="5440680" cy="1463040"/>
          </a:xfrm>
          <a:prstGeom prst="rect">
            <a:avLst/>
          </a:prstGeom>
          <a:solidFill>
            <a:srgbClr val="F4F4F1"/>
          </a:solidFill>
          <a:ln w="12700">
            <a:solidFill>
              <a:srgbClr val="F4F4F1"/>
            </a:solidFill>
            <a:prstDash val="solid"/>
          </a:ln>
        </p:spPr>
      </p:sp>
      <p:sp>
        <p:nvSpPr>
          <p:cNvPr id="43" name="Text 41"/>
          <p:cNvSpPr/>
          <p:nvPr/>
        </p:nvSpPr>
        <p:spPr>
          <a:xfrm>
            <a:off x="777240" y="4498848"/>
            <a:ext cx="5029200" cy="320040"/>
          </a:xfrm>
          <a:prstGeom prst="rect">
            <a:avLst/>
          </a:prstGeom>
          <a:noFill/>
          <a:ln/>
        </p:spPr>
        <p:txBody>
          <a:bodyPr wrap="square" lIns="0" tIns="0" rIns="0" bIns="0" rtlCol="0" anchor="t"/>
          <a:lstStyle/>
          <a:p>
            <a:pPr algn="l" indent="0" marL="0">
              <a:lnSpc>
                <a:spcPct val="112000"/>
              </a:lnSpc>
              <a:buNone/>
            </a:pPr>
            <a:r>
              <a:rPr lang="zh-CN" altLang="en-US" sz="1500" b="1" dirty="0">
                <a:solidFill>
                  <a:srgbClr val="52514E"/>
                </a:solidFill>
                <a:latin typeface="Microsoft YaHei" pitchFamily="34" charset="0"/>
                <a:ea typeface="Microsoft YaHei" pitchFamily="34" charset="-122"/>
                <a:cs typeface="Microsoft YaHei" pitchFamily="34" charset="-120"/>
              </a:rPr>
              <a:t>常见简化</a:t>
            </a:r>
            <a:endParaRPr lang="zh-CN" sz="1500" dirty="0"/>
          </a:p>
        </p:txBody>
      </p:sp>
      <p:sp>
        <p:nvSpPr>
          <p:cNvPr id="44" name="Text 42"/>
          <p:cNvSpPr/>
          <p:nvPr/>
        </p:nvSpPr>
        <p:spPr>
          <a:xfrm>
            <a:off x="777240" y="4892040"/>
            <a:ext cx="5029200" cy="1097280"/>
          </a:xfrm>
          <a:prstGeom prst="rect">
            <a:avLst/>
          </a:prstGeom>
          <a:noFill/>
          <a:ln/>
        </p:spPr>
        <p:txBody>
          <a:bodyPr wrap="square" lIns="0" tIns="0" rIns="0" bIns="0" rtlCol="0" anchor="t"/>
          <a:lstStyle/>
          <a:p>
            <a:pPr algn="l" indent="0" marL="0">
              <a:lnSpc>
                <a:spcPct val="135000"/>
              </a:lnSpc>
              <a:buNone/>
            </a:pPr>
            <a:r>
              <a:rPr lang="zh-CN" altLang="en-US" sz="1400" dirty="0">
                <a:solidFill>
                  <a:srgbClr val="52514E"/>
                </a:solidFill>
                <a:latin typeface="Microsoft YaHei" pitchFamily="34" charset="0"/>
                <a:ea typeface="Microsoft YaHei" pitchFamily="34" charset="-122"/>
                <a:cs typeface="Microsoft YaHei" pitchFamily="34" charset="-120"/>
              </a:rPr>
              <a:t>时间 = 字节数 ÷ 峰值带宽（＋固定延迟）</a:t>
            </a:r>
            <a:endParaRPr lang="zh-CN" sz="1400" dirty="0"/>
          </a:p>
          <a:p>
            <a:pPr algn="l" indent="0" marL="0">
              <a:lnSpc>
                <a:spcPct val="135000"/>
              </a:lnSpc>
              <a:buNone/>
            </a:pPr>
            <a:r>
              <a:rPr lang="zh-CN" altLang="en-US" sz="1400" dirty="0">
                <a:solidFill>
                  <a:srgbClr val="52514E"/>
                </a:solidFill>
                <a:latin typeface="Microsoft YaHei" pitchFamily="34" charset="0"/>
                <a:ea typeface="Microsoft YaHei" pitchFamily="34" charset="-122"/>
                <a:cs typeface="Microsoft YaHei" pitchFamily="34" charset="-120"/>
              </a:rPr>
              <a:t>与地址、单次大小、介质状态、同时在途数都无关</a:t>
            </a:r>
            <a:endParaRPr lang="zh-CN" sz="1400" dirty="0"/>
          </a:p>
        </p:txBody>
      </p:sp>
      <p:sp>
        <p:nvSpPr>
          <p:cNvPr id="45" name="Shape 43"/>
          <p:cNvSpPr/>
          <p:nvPr/>
        </p:nvSpPr>
        <p:spPr>
          <a:xfrm>
            <a:off x="6199632" y="4343400"/>
            <a:ext cx="5440680" cy="1463040"/>
          </a:xfrm>
          <a:prstGeom prst="rect">
            <a:avLst/>
          </a:prstGeom>
          <a:solidFill>
            <a:srgbClr val="E4EEFA"/>
          </a:solidFill>
          <a:ln w="12700">
            <a:solidFill>
              <a:srgbClr val="E4EEFA"/>
            </a:solidFill>
            <a:prstDash val="solid"/>
          </a:ln>
        </p:spPr>
      </p:sp>
      <p:sp>
        <p:nvSpPr>
          <p:cNvPr id="46" name="Text 44"/>
          <p:cNvSpPr/>
          <p:nvPr/>
        </p:nvSpPr>
        <p:spPr>
          <a:xfrm>
            <a:off x="6428232" y="4498848"/>
            <a:ext cx="5029200" cy="320040"/>
          </a:xfrm>
          <a:prstGeom prst="rect">
            <a:avLst/>
          </a:prstGeom>
          <a:noFill/>
          <a:ln/>
        </p:spPr>
        <p:txBody>
          <a:bodyPr wrap="square" lIns="0" tIns="0" rIns="0" bIns="0" rtlCol="0" anchor="t"/>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本仿真器</a:t>
            </a:r>
            <a:endParaRPr lang="zh-CN" sz="1500" dirty="0"/>
          </a:p>
        </p:txBody>
      </p:sp>
      <p:sp>
        <p:nvSpPr>
          <p:cNvPr id="47" name="Text 45"/>
          <p:cNvSpPr/>
          <p:nvPr/>
        </p:nvSpPr>
        <p:spPr>
          <a:xfrm>
            <a:off x="6428232" y="4892040"/>
            <a:ext cx="5029200" cy="1097280"/>
          </a:xfrm>
          <a:prstGeom prst="rect">
            <a:avLst/>
          </a:prstGeom>
          <a:noFill/>
          <a:ln/>
        </p:spPr>
        <p:txBody>
          <a:bodyPr wrap="square" lIns="0" tIns="0" rIns="0" bIns="0" rtlCol="0" anchor="t"/>
          <a:lstStyle/>
          <a:p>
            <a:pPr algn="l" indent="0" marL="0">
              <a:lnSpc>
                <a:spcPct val="135000"/>
              </a:lnSpc>
              <a:buNone/>
            </a:pPr>
            <a:r>
              <a:rPr lang="zh-CN" altLang="en-US" sz="1400" dirty="0">
                <a:solidFill>
                  <a:srgbClr val="1A1D23"/>
                </a:solidFill>
                <a:latin typeface="Microsoft YaHei" pitchFamily="34" charset="0"/>
                <a:ea typeface="Microsoft YaHei" pitchFamily="34" charset="-122"/>
                <a:cs typeface="Microsoft YaHei" pitchFamily="34" charset="-120"/>
              </a:rPr>
              <a:t>时间 = 沿依赖链、在共享资源时间表上排队得到的完成时刻</a:t>
            </a:r>
            <a:endParaRPr lang="zh-CN" sz="1400" dirty="0"/>
          </a:p>
          <a:p>
            <a:pPr algn="l" indent="0" marL="0">
              <a:lnSpc>
                <a:spcPct val="135000"/>
              </a:lnSpc>
              <a:buNone/>
            </a:pPr>
            <a:r>
              <a:rPr lang="zh-CN" altLang="en-US" sz="1400" dirty="0">
                <a:solidFill>
                  <a:srgbClr val="1A1D23"/>
                </a:solidFill>
                <a:latin typeface="Microsoft YaHei" pitchFamily="34" charset="0"/>
                <a:ea typeface="Microsoft YaHei" pitchFamily="34" charset="-122"/>
                <a:cs typeface="Microsoft YaHei" pitchFamily="34" charset="-120"/>
              </a:rPr>
              <a:t>同样的字节数，因访问形态不同可以差几个数量级</a:t>
            </a:r>
            <a:endParaRPr lang="zh-C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04 · 三种介质的建模层级</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建模层级：HBM 到 32 B burst，HBF 到 4 KiB 页，SRAM 到端口</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HBM 组织来自 JEDEC HBM4（JESD270-4A）；HBF 堆/die/plane 数与时延来自论文 Table I；SRAM 为论文 HBF+ 配置的研究参考；代码 hbm_geometry.py · memory_mapping.py</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05</a:t>
            </a:r>
            <a:endParaRPr lang="zh-CN" sz="900" dirty="0"/>
          </a:p>
        </p:txBody>
      </p:sp>
      <p:sp>
        <p:nvSpPr>
          <p:cNvPr id="6" name="Shape 4"/>
          <p:cNvSpPr/>
          <p:nvPr/>
        </p:nvSpPr>
        <p:spPr>
          <a:xfrm>
            <a:off x="548640" y="1572768"/>
            <a:ext cx="3520440" cy="566928"/>
          </a:xfrm>
          <a:prstGeom prst="rect">
            <a:avLst/>
          </a:prstGeom>
          <a:solidFill>
            <a:srgbClr val="1F5FAE"/>
          </a:solidFill>
          <a:ln w="12700">
            <a:solidFill>
              <a:srgbClr val="1F5FAE"/>
            </a:solidFill>
            <a:prstDash val="solid"/>
          </a:ln>
        </p:spPr>
      </p:sp>
      <p:sp>
        <p:nvSpPr>
          <p:cNvPr id="7" name="Text 5"/>
          <p:cNvSpPr/>
          <p:nvPr/>
        </p:nvSpPr>
        <p:spPr>
          <a:xfrm>
            <a:off x="731520" y="1572768"/>
            <a:ext cx="1097280" cy="566928"/>
          </a:xfrm>
          <a:prstGeom prst="rect">
            <a:avLst/>
          </a:prstGeom>
          <a:noFill/>
          <a:ln/>
        </p:spPr>
        <p:txBody>
          <a:bodyPr wrap="square" lIns="0" tIns="0" rIns="0" bIns="0" rtlCol="0" anchor="ctr"/>
          <a:lstStyle/>
          <a:p>
            <a:pPr algn="l" indent="0" marL="0">
              <a:lnSpc>
                <a:spcPct val="112000"/>
              </a:lnSpc>
              <a:buNone/>
            </a:pPr>
            <a:r>
              <a:rPr lang="zh-CN" altLang="en-US" sz="2000" b="1" dirty="0">
                <a:solidFill>
                  <a:srgbClr val="FFFFFF"/>
                </a:solidFill>
                <a:latin typeface="Microsoft YaHei" pitchFamily="34" charset="0"/>
                <a:ea typeface="Microsoft YaHei" pitchFamily="34" charset="-122"/>
                <a:cs typeface="Microsoft YaHei" pitchFamily="34" charset="-120"/>
              </a:rPr>
              <a:t>HBM</a:t>
            </a:r>
            <a:endParaRPr lang="zh-CN" sz="2000" dirty="0"/>
          </a:p>
        </p:txBody>
      </p:sp>
      <p:sp>
        <p:nvSpPr>
          <p:cNvPr id="8" name="Text 6"/>
          <p:cNvSpPr/>
          <p:nvPr/>
        </p:nvSpPr>
        <p:spPr>
          <a:xfrm>
            <a:off x="1691640" y="1572768"/>
            <a:ext cx="2240280" cy="566928"/>
          </a:xfrm>
          <a:prstGeom prst="rect">
            <a:avLst/>
          </a:prstGeom>
          <a:noFill/>
          <a:ln/>
        </p:spPr>
        <p:txBody>
          <a:bodyPr wrap="square" lIns="0" tIns="0" rIns="0" bIns="0" rtlCol="0" anchor="ctr"/>
          <a:lstStyle/>
          <a:p>
            <a:pPr algn="r" indent="0" marL="0">
              <a:lnSpc>
                <a:spcPct val="112000"/>
              </a:lnSpc>
              <a:buNone/>
            </a:pPr>
            <a:r>
              <a:rPr lang="zh-CN" altLang="en-US" sz="1200" dirty="0">
                <a:solidFill>
                  <a:srgbClr val="FFFFFF"/>
                </a:solidFill>
                <a:latin typeface="Microsoft YaHei" pitchFamily="34" charset="0"/>
                <a:ea typeface="Microsoft YaHei" pitchFamily="34" charset="-122"/>
                <a:cs typeface="Microsoft YaHei" pitchFamily="34" charset="-120"/>
              </a:rPr>
              <a:t>论文 HBM4 配置 · 8 堆</a:t>
            </a:r>
            <a:endParaRPr lang="zh-CN" sz="1200" dirty="0"/>
          </a:p>
        </p:txBody>
      </p:sp>
      <p:sp>
        <p:nvSpPr>
          <p:cNvPr id="9" name="Shape 7"/>
          <p:cNvSpPr/>
          <p:nvPr/>
        </p:nvSpPr>
        <p:spPr>
          <a:xfrm>
            <a:off x="548640" y="2267712"/>
            <a:ext cx="3520440" cy="329184"/>
          </a:xfrm>
          <a:prstGeom prst="rect">
            <a:avLst/>
          </a:prstGeom>
          <a:solidFill>
            <a:srgbClr val="E4EEFA"/>
          </a:solidFill>
          <a:ln w="12700">
            <a:solidFill>
              <a:srgbClr val="E4EEFA"/>
            </a:solidFill>
            <a:prstDash val="solid"/>
          </a:ln>
        </p:spPr>
      </p:sp>
      <p:sp>
        <p:nvSpPr>
          <p:cNvPr id="10" name="Text 8"/>
          <p:cNvSpPr/>
          <p:nvPr/>
        </p:nvSpPr>
        <p:spPr>
          <a:xfrm>
            <a:off x="658368" y="2267712"/>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堆 Stack</a:t>
            </a:r>
            <a:endParaRPr lang="zh-CN" sz="1150" dirty="0"/>
          </a:p>
        </p:txBody>
      </p:sp>
      <p:sp>
        <p:nvSpPr>
          <p:cNvPr id="11" name="Text 9"/>
          <p:cNvSpPr/>
          <p:nvPr/>
        </p:nvSpPr>
        <p:spPr>
          <a:xfrm>
            <a:off x="2011680" y="2267712"/>
            <a:ext cx="1947672"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8</a:t>
            </a:r>
            <a:endParaRPr lang="zh-CN" sz="1100" dirty="0"/>
          </a:p>
        </p:txBody>
      </p:sp>
      <p:sp>
        <p:nvSpPr>
          <p:cNvPr id="12" name="Shape 10"/>
          <p:cNvSpPr/>
          <p:nvPr/>
        </p:nvSpPr>
        <p:spPr>
          <a:xfrm>
            <a:off x="612648" y="2651760"/>
            <a:ext cx="3456432" cy="329184"/>
          </a:xfrm>
          <a:prstGeom prst="rect">
            <a:avLst/>
          </a:prstGeom>
          <a:solidFill>
            <a:srgbClr val="E4EEFA"/>
          </a:solidFill>
          <a:ln w="12700">
            <a:solidFill>
              <a:srgbClr val="E4EEFA"/>
            </a:solidFill>
            <a:prstDash val="solid"/>
          </a:ln>
        </p:spPr>
      </p:sp>
      <p:sp>
        <p:nvSpPr>
          <p:cNvPr id="13" name="Text 11"/>
          <p:cNvSpPr/>
          <p:nvPr/>
        </p:nvSpPr>
        <p:spPr>
          <a:xfrm>
            <a:off x="722376" y="2651760"/>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通道 Channel</a:t>
            </a:r>
            <a:endParaRPr lang="zh-CN" sz="1150" dirty="0"/>
          </a:p>
        </p:txBody>
      </p:sp>
      <p:sp>
        <p:nvSpPr>
          <p:cNvPr id="14" name="Text 12"/>
          <p:cNvSpPr/>
          <p:nvPr/>
        </p:nvSpPr>
        <p:spPr>
          <a:xfrm>
            <a:off x="2075688" y="2651760"/>
            <a:ext cx="1883664"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32 / 堆</a:t>
            </a:r>
            <a:endParaRPr lang="zh-CN" sz="1100" dirty="0"/>
          </a:p>
        </p:txBody>
      </p:sp>
      <p:sp>
        <p:nvSpPr>
          <p:cNvPr id="15" name="Shape 13"/>
          <p:cNvSpPr/>
          <p:nvPr/>
        </p:nvSpPr>
        <p:spPr>
          <a:xfrm>
            <a:off x="676656" y="3035808"/>
            <a:ext cx="3392424" cy="329184"/>
          </a:xfrm>
          <a:prstGeom prst="rect">
            <a:avLst/>
          </a:prstGeom>
          <a:solidFill>
            <a:srgbClr val="E4EEFA"/>
          </a:solidFill>
          <a:ln w="12700">
            <a:solidFill>
              <a:srgbClr val="E4EEFA"/>
            </a:solidFill>
            <a:prstDash val="solid"/>
          </a:ln>
        </p:spPr>
      </p:sp>
      <p:sp>
        <p:nvSpPr>
          <p:cNvPr id="16" name="Text 14"/>
          <p:cNvSpPr/>
          <p:nvPr/>
        </p:nvSpPr>
        <p:spPr>
          <a:xfrm>
            <a:off x="786384" y="3035808"/>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伪通道 PC</a:t>
            </a:r>
            <a:endParaRPr lang="zh-CN" sz="1150" dirty="0"/>
          </a:p>
        </p:txBody>
      </p:sp>
      <p:sp>
        <p:nvSpPr>
          <p:cNvPr id="17" name="Text 15"/>
          <p:cNvSpPr/>
          <p:nvPr/>
        </p:nvSpPr>
        <p:spPr>
          <a:xfrm>
            <a:off x="2139696" y="3035808"/>
            <a:ext cx="1819656"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2 / 通道，共 512 个</a:t>
            </a:r>
            <a:endParaRPr lang="zh-CN" sz="1100" dirty="0"/>
          </a:p>
        </p:txBody>
      </p:sp>
      <p:sp>
        <p:nvSpPr>
          <p:cNvPr id="18" name="Shape 16"/>
          <p:cNvSpPr/>
          <p:nvPr/>
        </p:nvSpPr>
        <p:spPr>
          <a:xfrm>
            <a:off x="740664" y="3419856"/>
            <a:ext cx="3328416" cy="329184"/>
          </a:xfrm>
          <a:prstGeom prst="rect">
            <a:avLst/>
          </a:prstGeom>
          <a:solidFill>
            <a:srgbClr val="E4EEFA"/>
          </a:solidFill>
          <a:ln w="12700">
            <a:solidFill>
              <a:srgbClr val="E4EEFA"/>
            </a:solidFill>
            <a:prstDash val="solid"/>
          </a:ln>
        </p:spPr>
      </p:sp>
      <p:sp>
        <p:nvSpPr>
          <p:cNvPr id="19" name="Text 17"/>
          <p:cNvSpPr/>
          <p:nvPr/>
        </p:nvSpPr>
        <p:spPr>
          <a:xfrm>
            <a:off x="850392" y="3419856"/>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Bank Group</a:t>
            </a:r>
            <a:endParaRPr lang="zh-CN" sz="1150" dirty="0"/>
          </a:p>
        </p:txBody>
      </p:sp>
      <p:sp>
        <p:nvSpPr>
          <p:cNvPr id="20" name="Text 18"/>
          <p:cNvSpPr/>
          <p:nvPr/>
        </p:nvSpPr>
        <p:spPr>
          <a:xfrm>
            <a:off x="2203704" y="3419856"/>
            <a:ext cx="1755648"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8 / PC</a:t>
            </a:r>
            <a:endParaRPr lang="zh-CN" sz="1100" dirty="0"/>
          </a:p>
        </p:txBody>
      </p:sp>
      <p:sp>
        <p:nvSpPr>
          <p:cNvPr id="21" name="Shape 19"/>
          <p:cNvSpPr/>
          <p:nvPr/>
        </p:nvSpPr>
        <p:spPr>
          <a:xfrm>
            <a:off x="804672" y="3803904"/>
            <a:ext cx="3264408" cy="329184"/>
          </a:xfrm>
          <a:prstGeom prst="rect">
            <a:avLst/>
          </a:prstGeom>
          <a:solidFill>
            <a:srgbClr val="E4EEFA"/>
          </a:solidFill>
          <a:ln w="12700">
            <a:solidFill>
              <a:srgbClr val="E4EEFA"/>
            </a:solidFill>
            <a:prstDash val="solid"/>
          </a:ln>
        </p:spPr>
      </p:sp>
      <p:sp>
        <p:nvSpPr>
          <p:cNvPr id="22" name="Text 20"/>
          <p:cNvSpPr/>
          <p:nvPr/>
        </p:nvSpPr>
        <p:spPr>
          <a:xfrm>
            <a:off x="914400" y="3803904"/>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Bank</a:t>
            </a:r>
            <a:endParaRPr lang="zh-CN" sz="1150" dirty="0"/>
          </a:p>
        </p:txBody>
      </p:sp>
      <p:sp>
        <p:nvSpPr>
          <p:cNvPr id="23" name="Text 21"/>
          <p:cNvSpPr/>
          <p:nvPr/>
        </p:nvSpPr>
        <p:spPr>
          <a:xfrm>
            <a:off x="2267712" y="3803904"/>
            <a:ext cx="1691640"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8 / 组</a:t>
            </a:r>
            <a:endParaRPr lang="zh-CN" sz="1100" dirty="0"/>
          </a:p>
        </p:txBody>
      </p:sp>
      <p:sp>
        <p:nvSpPr>
          <p:cNvPr id="24" name="Shape 22"/>
          <p:cNvSpPr/>
          <p:nvPr/>
        </p:nvSpPr>
        <p:spPr>
          <a:xfrm>
            <a:off x="868680" y="4187952"/>
            <a:ext cx="3200400" cy="329184"/>
          </a:xfrm>
          <a:prstGeom prst="rect">
            <a:avLst/>
          </a:prstGeom>
          <a:solidFill>
            <a:srgbClr val="E4EEFA"/>
          </a:solidFill>
          <a:ln w="12700">
            <a:solidFill>
              <a:srgbClr val="E4EEFA"/>
            </a:solidFill>
            <a:prstDash val="solid"/>
          </a:ln>
        </p:spPr>
      </p:sp>
      <p:sp>
        <p:nvSpPr>
          <p:cNvPr id="25" name="Text 23"/>
          <p:cNvSpPr/>
          <p:nvPr/>
        </p:nvSpPr>
        <p:spPr>
          <a:xfrm>
            <a:off x="978408" y="4187952"/>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行 Row</a:t>
            </a:r>
            <a:endParaRPr lang="zh-CN" sz="1150" dirty="0"/>
          </a:p>
        </p:txBody>
      </p:sp>
      <p:sp>
        <p:nvSpPr>
          <p:cNvPr id="26" name="Text 24"/>
          <p:cNvSpPr/>
          <p:nvPr/>
        </p:nvSpPr>
        <p:spPr>
          <a:xfrm>
            <a:off x="2331720" y="4187952"/>
            <a:ext cx="1627632"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1 KiB × 16,384 / bank</a:t>
            </a:r>
            <a:endParaRPr lang="zh-CN" sz="1100" dirty="0"/>
          </a:p>
        </p:txBody>
      </p:sp>
      <p:sp>
        <p:nvSpPr>
          <p:cNvPr id="27" name="Shape 25"/>
          <p:cNvSpPr/>
          <p:nvPr/>
        </p:nvSpPr>
        <p:spPr>
          <a:xfrm>
            <a:off x="932688" y="4572000"/>
            <a:ext cx="3136392" cy="329184"/>
          </a:xfrm>
          <a:prstGeom prst="rect">
            <a:avLst/>
          </a:prstGeom>
          <a:solidFill>
            <a:srgbClr val="2A78D6"/>
          </a:solidFill>
          <a:ln w="12700">
            <a:solidFill>
              <a:srgbClr val="2A78D6"/>
            </a:solidFill>
            <a:prstDash val="solid"/>
          </a:ln>
        </p:spPr>
      </p:sp>
      <p:sp>
        <p:nvSpPr>
          <p:cNvPr id="28" name="Text 26"/>
          <p:cNvSpPr/>
          <p:nvPr/>
        </p:nvSpPr>
        <p:spPr>
          <a:xfrm>
            <a:off x="1042416" y="4572000"/>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FFFFFF"/>
                </a:solidFill>
                <a:latin typeface="Microsoft YaHei" pitchFamily="34" charset="0"/>
                <a:ea typeface="Microsoft YaHei" pitchFamily="34" charset="-122"/>
                <a:cs typeface="Microsoft YaHei" pitchFamily="34" charset="-120"/>
              </a:rPr>
              <a:t>Burst（最小搬运单位）</a:t>
            </a:r>
            <a:endParaRPr lang="zh-CN" sz="1150" dirty="0"/>
          </a:p>
        </p:txBody>
      </p:sp>
      <p:sp>
        <p:nvSpPr>
          <p:cNvPr id="29" name="Text 27"/>
          <p:cNvSpPr/>
          <p:nvPr/>
        </p:nvSpPr>
        <p:spPr>
          <a:xfrm>
            <a:off x="2395728" y="4572000"/>
            <a:ext cx="1563624"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FFFFFF"/>
                </a:solidFill>
                <a:latin typeface="Microsoft YaHei" pitchFamily="34" charset="0"/>
                <a:ea typeface="Microsoft YaHei" pitchFamily="34" charset="-122"/>
                <a:cs typeface="Microsoft YaHei" pitchFamily="34" charset="-120"/>
              </a:rPr>
              <a:t>32 B</a:t>
            </a:r>
            <a:endParaRPr lang="zh-CN" sz="1100" dirty="0"/>
          </a:p>
        </p:txBody>
      </p:sp>
      <p:sp>
        <p:nvSpPr>
          <p:cNvPr id="30" name="Text 28"/>
          <p:cNvSpPr/>
          <p:nvPr/>
        </p:nvSpPr>
        <p:spPr>
          <a:xfrm>
            <a:off x="548640" y="5029200"/>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状态</a:t>
            </a:r>
            <a:endParaRPr lang="zh-CN" sz="1150" dirty="0"/>
          </a:p>
        </p:txBody>
      </p:sp>
      <p:sp>
        <p:nvSpPr>
          <p:cNvPr id="31" name="Text 29"/>
          <p:cNvSpPr/>
          <p:nvPr/>
        </p:nvSpPr>
        <p:spPr>
          <a:xfrm>
            <a:off x="1078992" y="5029200"/>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每个 bank 开着哪一行</a:t>
            </a:r>
            <a:endParaRPr lang="zh-CN" sz="1150" dirty="0"/>
          </a:p>
        </p:txBody>
      </p:sp>
      <p:sp>
        <p:nvSpPr>
          <p:cNvPr id="32" name="Text 30"/>
          <p:cNvSpPr/>
          <p:nvPr/>
        </p:nvSpPr>
        <p:spPr>
          <a:xfrm>
            <a:off x="548640" y="5458968"/>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排队</a:t>
            </a:r>
            <a:endParaRPr lang="zh-CN" sz="1150" dirty="0"/>
          </a:p>
        </p:txBody>
      </p:sp>
      <p:sp>
        <p:nvSpPr>
          <p:cNvPr id="33" name="Text 31"/>
          <p:cNvSpPr/>
          <p:nvPr/>
        </p:nvSpPr>
        <p:spPr>
          <a:xfrm>
            <a:off x="1078992" y="5458968"/>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命令总线（2 个 PC 共用）、PC 数据线</a:t>
            </a:r>
            <a:endParaRPr lang="zh-CN" sz="1150" dirty="0"/>
          </a:p>
        </p:txBody>
      </p:sp>
      <p:sp>
        <p:nvSpPr>
          <p:cNvPr id="34" name="Text 32"/>
          <p:cNvSpPr/>
          <p:nvPr/>
        </p:nvSpPr>
        <p:spPr>
          <a:xfrm>
            <a:off x="548640" y="5888736"/>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时序</a:t>
            </a:r>
            <a:endParaRPr lang="zh-CN" sz="1150" dirty="0"/>
          </a:p>
        </p:txBody>
      </p:sp>
      <p:sp>
        <p:nvSpPr>
          <p:cNvPr id="35" name="Text 33"/>
          <p:cNvSpPr/>
          <p:nvPr/>
        </p:nvSpPr>
        <p:spPr>
          <a:xfrm>
            <a:off x="1078992" y="5888736"/>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tRCD、tRP、RL、tRRD/tFAW、tCCD、刷新</a:t>
            </a:r>
            <a:endParaRPr lang="zh-CN" sz="1150" dirty="0"/>
          </a:p>
        </p:txBody>
      </p:sp>
      <p:sp>
        <p:nvSpPr>
          <p:cNvPr id="36" name="Shape 34"/>
          <p:cNvSpPr/>
          <p:nvPr/>
        </p:nvSpPr>
        <p:spPr>
          <a:xfrm>
            <a:off x="4334256" y="1572768"/>
            <a:ext cx="3520440" cy="566928"/>
          </a:xfrm>
          <a:prstGeom prst="rect">
            <a:avLst/>
          </a:prstGeom>
          <a:solidFill>
            <a:srgbClr val="C4501F"/>
          </a:solidFill>
          <a:ln w="12700">
            <a:solidFill>
              <a:srgbClr val="C4501F"/>
            </a:solidFill>
            <a:prstDash val="solid"/>
          </a:ln>
        </p:spPr>
      </p:sp>
      <p:sp>
        <p:nvSpPr>
          <p:cNvPr id="37" name="Text 35"/>
          <p:cNvSpPr/>
          <p:nvPr/>
        </p:nvSpPr>
        <p:spPr>
          <a:xfrm>
            <a:off x="4517136" y="1572768"/>
            <a:ext cx="1097280" cy="566928"/>
          </a:xfrm>
          <a:prstGeom prst="rect">
            <a:avLst/>
          </a:prstGeom>
          <a:noFill/>
          <a:ln/>
        </p:spPr>
        <p:txBody>
          <a:bodyPr wrap="square" lIns="0" tIns="0" rIns="0" bIns="0" rtlCol="0" anchor="ctr"/>
          <a:lstStyle/>
          <a:p>
            <a:pPr algn="l" indent="0" marL="0">
              <a:lnSpc>
                <a:spcPct val="112000"/>
              </a:lnSpc>
              <a:buNone/>
            </a:pPr>
            <a:r>
              <a:rPr lang="zh-CN" altLang="en-US" sz="2000" b="1" dirty="0">
                <a:solidFill>
                  <a:srgbClr val="FFFFFF"/>
                </a:solidFill>
                <a:latin typeface="Microsoft YaHei" pitchFamily="34" charset="0"/>
                <a:ea typeface="Microsoft YaHei" pitchFamily="34" charset="-122"/>
                <a:cs typeface="Microsoft YaHei" pitchFamily="34" charset="-120"/>
              </a:rPr>
              <a:t>HBF</a:t>
            </a:r>
            <a:endParaRPr lang="zh-CN" sz="2000" dirty="0"/>
          </a:p>
        </p:txBody>
      </p:sp>
      <p:sp>
        <p:nvSpPr>
          <p:cNvPr id="38" name="Text 36"/>
          <p:cNvSpPr/>
          <p:nvPr/>
        </p:nvSpPr>
        <p:spPr>
          <a:xfrm>
            <a:off x="5477256" y="1572768"/>
            <a:ext cx="2240280" cy="566928"/>
          </a:xfrm>
          <a:prstGeom prst="rect">
            <a:avLst/>
          </a:prstGeom>
          <a:noFill/>
          <a:ln/>
        </p:spPr>
        <p:txBody>
          <a:bodyPr wrap="square" lIns="0" tIns="0" rIns="0" bIns="0" rtlCol="0" anchor="ctr"/>
          <a:lstStyle/>
          <a:p>
            <a:pPr algn="r" indent="0" marL="0">
              <a:lnSpc>
                <a:spcPct val="112000"/>
              </a:lnSpc>
              <a:buNone/>
            </a:pPr>
            <a:r>
              <a:rPr lang="zh-CN" altLang="en-US" sz="1200" dirty="0">
                <a:solidFill>
                  <a:srgbClr val="FFFFFF"/>
                </a:solidFill>
                <a:latin typeface="Microsoft YaHei" pitchFamily="34" charset="0"/>
                <a:ea typeface="Microsoft YaHei" pitchFamily="34" charset="-122"/>
                <a:cs typeface="Microsoft YaHei" pitchFamily="34" charset="-120"/>
              </a:rPr>
              <a:t>论文 HBF 配置 · 7 堆</a:t>
            </a:r>
            <a:endParaRPr lang="zh-CN" sz="1200" dirty="0"/>
          </a:p>
        </p:txBody>
      </p:sp>
      <p:sp>
        <p:nvSpPr>
          <p:cNvPr id="39" name="Shape 37"/>
          <p:cNvSpPr/>
          <p:nvPr/>
        </p:nvSpPr>
        <p:spPr>
          <a:xfrm>
            <a:off x="4334256" y="2267712"/>
            <a:ext cx="3520440" cy="329184"/>
          </a:xfrm>
          <a:prstGeom prst="rect">
            <a:avLst/>
          </a:prstGeom>
          <a:solidFill>
            <a:srgbClr val="FCE8DF"/>
          </a:solidFill>
          <a:ln w="12700">
            <a:solidFill>
              <a:srgbClr val="FCE8DF"/>
            </a:solidFill>
            <a:prstDash val="solid"/>
          </a:ln>
        </p:spPr>
      </p:sp>
      <p:sp>
        <p:nvSpPr>
          <p:cNvPr id="40" name="Text 38"/>
          <p:cNvSpPr/>
          <p:nvPr/>
        </p:nvSpPr>
        <p:spPr>
          <a:xfrm>
            <a:off x="4443984" y="2267712"/>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堆 Stack</a:t>
            </a:r>
            <a:endParaRPr lang="zh-CN" sz="1150" dirty="0"/>
          </a:p>
        </p:txBody>
      </p:sp>
      <p:sp>
        <p:nvSpPr>
          <p:cNvPr id="41" name="Text 39"/>
          <p:cNvSpPr/>
          <p:nvPr/>
        </p:nvSpPr>
        <p:spPr>
          <a:xfrm>
            <a:off x="5797296" y="2267712"/>
            <a:ext cx="1947672"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7</a:t>
            </a:r>
            <a:endParaRPr lang="zh-CN" sz="1100" dirty="0"/>
          </a:p>
        </p:txBody>
      </p:sp>
      <p:sp>
        <p:nvSpPr>
          <p:cNvPr id="42" name="Shape 40"/>
          <p:cNvSpPr/>
          <p:nvPr/>
        </p:nvSpPr>
        <p:spPr>
          <a:xfrm>
            <a:off x="4398264" y="2651760"/>
            <a:ext cx="3456432" cy="329184"/>
          </a:xfrm>
          <a:prstGeom prst="rect">
            <a:avLst/>
          </a:prstGeom>
          <a:solidFill>
            <a:srgbClr val="FCE8DF"/>
          </a:solidFill>
          <a:ln w="12700">
            <a:solidFill>
              <a:srgbClr val="FCE8DF"/>
            </a:solidFill>
            <a:prstDash val="solid"/>
          </a:ln>
        </p:spPr>
      </p:sp>
      <p:sp>
        <p:nvSpPr>
          <p:cNvPr id="43" name="Text 41"/>
          <p:cNvSpPr/>
          <p:nvPr/>
        </p:nvSpPr>
        <p:spPr>
          <a:xfrm>
            <a:off x="4507992" y="2651760"/>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Die</a:t>
            </a:r>
            <a:endParaRPr lang="zh-CN" sz="1150" dirty="0"/>
          </a:p>
        </p:txBody>
      </p:sp>
      <p:sp>
        <p:nvSpPr>
          <p:cNvPr id="44" name="Text 42"/>
          <p:cNvSpPr/>
          <p:nvPr/>
        </p:nvSpPr>
        <p:spPr>
          <a:xfrm>
            <a:off x="5861304" y="2651760"/>
            <a:ext cx="1883664"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16 / 堆，共 112 个</a:t>
            </a:r>
            <a:endParaRPr lang="zh-CN" sz="1100" dirty="0"/>
          </a:p>
        </p:txBody>
      </p:sp>
      <p:sp>
        <p:nvSpPr>
          <p:cNvPr id="45" name="Shape 43"/>
          <p:cNvSpPr/>
          <p:nvPr/>
        </p:nvSpPr>
        <p:spPr>
          <a:xfrm>
            <a:off x="4462272" y="3035808"/>
            <a:ext cx="3392424" cy="329184"/>
          </a:xfrm>
          <a:prstGeom prst="rect">
            <a:avLst/>
          </a:prstGeom>
          <a:solidFill>
            <a:srgbClr val="FCE8DF"/>
          </a:solidFill>
          <a:ln w="12700">
            <a:solidFill>
              <a:srgbClr val="FCE8DF"/>
            </a:solidFill>
            <a:prstDash val="solid"/>
          </a:ln>
        </p:spPr>
      </p:sp>
      <p:sp>
        <p:nvSpPr>
          <p:cNvPr id="46" name="Text 44"/>
          <p:cNvSpPr/>
          <p:nvPr/>
        </p:nvSpPr>
        <p:spPr>
          <a:xfrm>
            <a:off x="4572000" y="3035808"/>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Plane（独立阵列）</a:t>
            </a:r>
            <a:endParaRPr lang="zh-CN" sz="1150" dirty="0"/>
          </a:p>
        </p:txBody>
      </p:sp>
      <p:sp>
        <p:nvSpPr>
          <p:cNvPr id="47" name="Text 45"/>
          <p:cNvSpPr/>
          <p:nvPr/>
        </p:nvSpPr>
        <p:spPr>
          <a:xfrm>
            <a:off x="5925312" y="3035808"/>
            <a:ext cx="1819656"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25 / die（共 2,800 个）</a:t>
            </a:r>
            <a:endParaRPr lang="zh-CN" sz="1100" dirty="0"/>
          </a:p>
        </p:txBody>
      </p:sp>
      <p:sp>
        <p:nvSpPr>
          <p:cNvPr id="48" name="Shape 46"/>
          <p:cNvSpPr/>
          <p:nvPr/>
        </p:nvSpPr>
        <p:spPr>
          <a:xfrm>
            <a:off x="4526280" y="3419856"/>
            <a:ext cx="3328416" cy="329184"/>
          </a:xfrm>
          <a:prstGeom prst="rect">
            <a:avLst/>
          </a:prstGeom>
          <a:solidFill>
            <a:srgbClr val="FCE8DF"/>
          </a:solidFill>
          <a:ln w="12700">
            <a:solidFill>
              <a:srgbClr val="FCE8DF"/>
            </a:solidFill>
            <a:prstDash val="solid"/>
          </a:ln>
        </p:spPr>
      </p:sp>
      <p:sp>
        <p:nvSpPr>
          <p:cNvPr id="49" name="Text 47"/>
          <p:cNvSpPr/>
          <p:nvPr/>
        </p:nvSpPr>
        <p:spPr>
          <a:xfrm>
            <a:off x="4636008" y="3419856"/>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Block</a:t>
            </a:r>
            <a:endParaRPr lang="zh-CN" sz="1150" dirty="0"/>
          </a:p>
        </p:txBody>
      </p:sp>
      <p:sp>
        <p:nvSpPr>
          <p:cNvPr id="50" name="Text 48"/>
          <p:cNvSpPr/>
          <p:nvPr/>
        </p:nvSpPr>
        <p:spPr>
          <a:xfrm>
            <a:off x="5989320" y="3419856"/>
            <a:ext cx="1755648"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256 页</a:t>
            </a:r>
            <a:endParaRPr lang="zh-CN" sz="1100" dirty="0"/>
          </a:p>
        </p:txBody>
      </p:sp>
      <p:sp>
        <p:nvSpPr>
          <p:cNvPr id="51" name="Shape 49"/>
          <p:cNvSpPr/>
          <p:nvPr/>
        </p:nvSpPr>
        <p:spPr>
          <a:xfrm>
            <a:off x="4590288" y="3803904"/>
            <a:ext cx="3264408" cy="329184"/>
          </a:xfrm>
          <a:prstGeom prst="rect">
            <a:avLst/>
          </a:prstGeom>
          <a:solidFill>
            <a:srgbClr val="EB6834"/>
          </a:solidFill>
          <a:ln w="12700">
            <a:solidFill>
              <a:srgbClr val="EB6834"/>
            </a:solidFill>
            <a:prstDash val="solid"/>
          </a:ln>
        </p:spPr>
      </p:sp>
      <p:sp>
        <p:nvSpPr>
          <p:cNvPr id="52" name="Text 50"/>
          <p:cNvSpPr/>
          <p:nvPr/>
        </p:nvSpPr>
        <p:spPr>
          <a:xfrm>
            <a:off x="4700016" y="3803904"/>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FFFFFF"/>
                </a:solidFill>
                <a:latin typeface="Microsoft YaHei" pitchFamily="34" charset="0"/>
                <a:ea typeface="Microsoft YaHei" pitchFamily="34" charset="-122"/>
                <a:cs typeface="Microsoft YaHei" pitchFamily="34" charset="-120"/>
              </a:rPr>
              <a:t>页 Page（最小读出单位）</a:t>
            </a:r>
            <a:endParaRPr lang="zh-CN" sz="1150" dirty="0"/>
          </a:p>
        </p:txBody>
      </p:sp>
      <p:sp>
        <p:nvSpPr>
          <p:cNvPr id="53" name="Text 51"/>
          <p:cNvSpPr/>
          <p:nvPr/>
        </p:nvSpPr>
        <p:spPr>
          <a:xfrm>
            <a:off x="6053328" y="3803904"/>
            <a:ext cx="1691640"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FFFFFF"/>
                </a:solidFill>
                <a:latin typeface="Microsoft YaHei" pitchFamily="34" charset="0"/>
                <a:ea typeface="Microsoft YaHei" pitchFamily="34" charset="-122"/>
                <a:cs typeface="Microsoft YaHei" pitchFamily="34" charset="-120"/>
              </a:rPr>
              <a:t>4 KiB</a:t>
            </a:r>
            <a:endParaRPr lang="zh-CN" sz="1100" dirty="0"/>
          </a:p>
        </p:txBody>
      </p:sp>
      <p:sp>
        <p:nvSpPr>
          <p:cNvPr id="54" name="Text 52"/>
          <p:cNvSpPr/>
          <p:nvPr/>
        </p:nvSpPr>
        <p:spPr>
          <a:xfrm>
            <a:off x="4334256" y="5029200"/>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状态</a:t>
            </a:r>
            <a:endParaRPr lang="zh-CN" sz="1150" dirty="0"/>
          </a:p>
        </p:txBody>
      </p:sp>
      <p:sp>
        <p:nvSpPr>
          <p:cNvPr id="55" name="Text 53"/>
          <p:cNvSpPr/>
          <p:nvPr/>
        </p:nvSpPr>
        <p:spPr>
          <a:xfrm>
            <a:off x="4864608" y="5029200"/>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每 plane 2 个页缓冲（LRU）</a:t>
            </a:r>
            <a:endParaRPr lang="zh-CN" sz="1150" dirty="0"/>
          </a:p>
        </p:txBody>
      </p:sp>
      <p:sp>
        <p:nvSpPr>
          <p:cNvPr id="56" name="Text 54"/>
          <p:cNvSpPr/>
          <p:nvPr/>
        </p:nvSpPr>
        <p:spPr>
          <a:xfrm>
            <a:off x="4334256" y="5458968"/>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排队</a:t>
            </a:r>
            <a:endParaRPr lang="zh-CN" sz="1150" dirty="0"/>
          </a:p>
        </p:txBody>
      </p:sp>
      <p:sp>
        <p:nvSpPr>
          <p:cNvPr id="57" name="Text 55"/>
          <p:cNvSpPr/>
          <p:nvPr/>
        </p:nvSpPr>
        <p:spPr>
          <a:xfrm>
            <a:off x="4864608" y="5458968"/>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plane、die 内部通道、主机链路</a:t>
            </a:r>
            <a:endParaRPr lang="zh-CN" sz="1150" dirty="0"/>
          </a:p>
        </p:txBody>
      </p:sp>
      <p:sp>
        <p:nvSpPr>
          <p:cNvPr id="58" name="Text 56"/>
          <p:cNvSpPr/>
          <p:nvPr/>
        </p:nvSpPr>
        <p:spPr>
          <a:xfrm>
            <a:off x="4334256" y="5888736"/>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时序</a:t>
            </a:r>
            <a:endParaRPr lang="zh-CN" sz="1150" dirty="0"/>
          </a:p>
        </p:txBody>
      </p:sp>
      <p:sp>
        <p:nvSpPr>
          <p:cNvPr id="59" name="Text 57"/>
          <p:cNvSpPr/>
          <p:nvPr/>
        </p:nvSpPr>
        <p:spPr>
          <a:xfrm>
            <a:off x="4864608" y="5888736"/>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读页 1 µs、编程 100 µs、擦除 2 ms</a:t>
            </a:r>
            <a:endParaRPr lang="zh-CN" sz="1150" dirty="0"/>
          </a:p>
        </p:txBody>
      </p:sp>
      <p:sp>
        <p:nvSpPr>
          <p:cNvPr id="60" name="Shape 58"/>
          <p:cNvSpPr/>
          <p:nvPr/>
        </p:nvSpPr>
        <p:spPr>
          <a:xfrm>
            <a:off x="8119872" y="1572768"/>
            <a:ext cx="3520440" cy="566928"/>
          </a:xfrm>
          <a:prstGeom prst="rect">
            <a:avLst/>
          </a:prstGeom>
          <a:solidFill>
            <a:srgbClr val="13845C"/>
          </a:solidFill>
          <a:ln w="12700">
            <a:solidFill>
              <a:srgbClr val="13845C"/>
            </a:solidFill>
            <a:prstDash val="solid"/>
          </a:ln>
        </p:spPr>
      </p:sp>
      <p:sp>
        <p:nvSpPr>
          <p:cNvPr id="61" name="Text 59"/>
          <p:cNvSpPr/>
          <p:nvPr/>
        </p:nvSpPr>
        <p:spPr>
          <a:xfrm>
            <a:off x="8302752" y="1572768"/>
            <a:ext cx="1097280" cy="566928"/>
          </a:xfrm>
          <a:prstGeom prst="rect">
            <a:avLst/>
          </a:prstGeom>
          <a:noFill/>
          <a:ln/>
        </p:spPr>
        <p:txBody>
          <a:bodyPr wrap="square" lIns="0" tIns="0" rIns="0" bIns="0" rtlCol="0" anchor="ctr"/>
          <a:lstStyle/>
          <a:p>
            <a:pPr algn="l" indent="0" marL="0">
              <a:lnSpc>
                <a:spcPct val="112000"/>
              </a:lnSpc>
              <a:buNone/>
            </a:pPr>
            <a:r>
              <a:rPr lang="zh-CN" altLang="en-US" sz="2000" b="1" dirty="0">
                <a:solidFill>
                  <a:srgbClr val="FFFFFF"/>
                </a:solidFill>
                <a:latin typeface="Microsoft YaHei" pitchFamily="34" charset="0"/>
                <a:ea typeface="Microsoft YaHei" pitchFamily="34" charset="-122"/>
                <a:cs typeface="Microsoft YaHei" pitchFamily="34" charset="-120"/>
              </a:rPr>
              <a:t>SRAM</a:t>
            </a:r>
            <a:endParaRPr lang="zh-CN" sz="2000" dirty="0"/>
          </a:p>
        </p:txBody>
      </p:sp>
      <p:sp>
        <p:nvSpPr>
          <p:cNvPr id="62" name="Text 60"/>
          <p:cNvSpPr/>
          <p:nvPr/>
        </p:nvSpPr>
        <p:spPr>
          <a:xfrm>
            <a:off x="9262872" y="1572768"/>
            <a:ext cx="2240280" cy="566928"/>
          </a:xfrm>
          <a:prstGeom prst="rect">
            <a:avLst/>
          </a:prstGeom>
          <a:noFill/>
          <a:ln/>
        </p:spPr>
        <p:txBody>
          <a:bodyPr wrap="square" lIns="0" tIns="0" rIns="0" bIns="0" rtlCol="0" anchor="ctr"/>
          <a:lstStyle/>
          <a:p>
            <a:pPr algn="r" indent="0" marL="0">
              <a:lnSpc>
                <a:spcPct val="112000"/>
              </a:lnSpc>
              <a:buNone/>
            </a:pPr>
            <a:r>
              <a:rPr lang="zh-CN" altLang="en-US" sz="1200" dirty="0">
                <a:solidFill>
                  <a:srgbClr val="FFFFFF"/>
                </a:solidFill>
                <a:latin typeface="Microsoft YaHei" pitchFamily="34" charset="0"/>
                <a:ea typeface="Microsoft YaHei" pitchFamily="34" charset="-122"/>
                <a:cs typeface="Microsoft YaHei" pitchFamily="34" charset="-120"/>
              </a:rPr>
              <a:t>论文 HBF+ 配置 · 8 × 40 MB</a:t>
            </a:r>
            <a:endParaRPr lang="zh-CN" sz="1200" dirty="0"/>
          </a:p>
        </p:txBody>
      </p:sp>
      <p:sp>
        <p:nvSpPr>
          <p:cNvPr id="63" name="Shape 61"/>
          <p:cNvSpPr/>
          <p:nvPr/>
        </p:nvSpPr>
        <p:spPr>
          <a:xfrm>
            <a:off x="8119872" y="2267712"/>
            <a:ext cx="3520440" cy="329184"/>
          </a:xfrm>
          <a:prstGeom prst="rect">
            <a:avLst/>
          </a:prstGeom>
          <a:solidFill>
            <a:srgbClr val="DDF3EA"/>
          </a:solidFill>
          <a:ln w="12700">
            <a:solidFill>
              <a:srgbClr val="DDF3EA"/>
            </a:solidFill>
            <a:prstDash val="solid"/>
          </a:ln>
        </p:spPr>
      </p:sp>
      <p:sp>
        <p:nvSpPr>
          <p:cNvPr id="64" name="Text 62"/>
          <p:cNvSpPr/>
          <p:nvPr/>
        </p:nvSpPr>
        <p:spPr>
          <a:xfrm>
            <a:off x="8229600" y="2267712"/>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存储池</a:t>
            </a:r>
            <a:endParaRPr lang="zh-CN" sz="1150" dirty="0"/>
          </a:p>
        </p:txBody>
      </p:sp>
      <p:sp>
        <p:nvSpPr>
          <p:cNvPr id="65" name="Text 63"/>
          <p:cNvSpPr/>
          <p:nvPr/>
        </p:nvSpPr>
        <p:spPr>
          <a:xfrm>
            <a:off x="9582912" y="2267712"/>
            <a:ext cx="1947672"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320 MB</a:t>
            </a:r>
            <a:endParaRPr lang="zh-CN" sz="1100" dirty="0"/>
          </a:p>
        </p:txBody>
      </p:sp>
      <p:sp>
        <p:nvSpPr>
          <p:cNvPr id="66" name="Shape 64"/>
          <p:cNvSpPr/>
          <p:nvPr/>
        </p:nvSpPr>
        <p:spPr>
          <a:xfrm>
            <a:off x="8183880" y="2651760"/>
            <a:ext cx="3456432" cy="329184"/>
          </a:xfrm>
          <a:prstGeom prst="rect">
            <a:avLst/>
          </a:prstGeom>
          <a:solidFill>
            <a:srgbClr val="DDF3EA"/>
          </a:solidFill>
          <a:ln w="12700">
            <a:solidFill>
              <a:srgbClr val="DDF3EA"/>
            </a:solidFill>
            <a:prstDash val="solid"/>
          </a:ln>
        </p:spPr>
      </p:sp>
      <p:sp>
        <p:nvSpPr>
          <p:cNvPr id="67" name="Text 65"/>
          <p:cNvSpPr/>
          <p:nvPr/>
        </p:nvSpPr>
        <p:spPr>
          <a:xfrm>
            <a:off x="8293608" y="2651760"/>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端口</a:t>
            </a:r>
            <a:endParaRPr lang="zh-CN" sz="1150" dirty="0"/>
          </a:p>
        </p:txBody>
      </p:sp>
      <p:sp>
        <p:nvSpPr>
          <p:cNvPr id="68" name="Text 66"/>
          <p:cNvSpPr/>
          <p:nvPr/>
        </p:nvSpPr>
        <p:spPr>
          <a:xfrm>
            <a:off x="9646920" y="2651760"/>
            <a:ext cx="1883664"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 8，按 64 B 轮流条带</a:t>
            </a:r>
            <a:endParaRPr lang="zh-CN" sz="1100" dirty="0"/>
          </a:p>
        </p:txBody>
      </p:sp>
      <p:sp>
        <p:nvSpPr>
          <p:cNvPr id="69" name="Shape 67"/>
          <p:cNvSpPr/>
          <p:nvPr/>
        </p:nvSpPr>
        <p:spPr>
          <a:xfrm>
            <a:off x="8247888" y="3035808"/>
            <a:ext cx="3392424" cy="329184"/>
          </a:xfrm>
          <a:prstGeom prst="rect">
            <a:avLst/>
          </a:prstGeom>
          <a:solidFill>
            <a:srgbClr val="1BAF7A"/>
          </a:solidFill>
          <a:ln w="12700">
            <a:solidFill>
              <a:srgbClr val="1BAF7A"/>
            </a:solidFill>
            <a:prstDash val="solid"/>
          </a:ln>
        </p:spPr>
      </p:sp>
      <p:sp>
        <p:nvSpPr>
          <p:cNvPr id="70" name="Text 68"/>
          <p:cNvSpPr/>
          <p:nvPr/>
        </p:nvSpPr>
        <p:spPr>
          <a:xfrm>
            <a:off x="8357616" y="3035808"/>
            <a:ext cx="1737360" cy="329184"/>
          </a:xfrm>
          <a:prstGeom prst="rect">
            <a:avLst/>
          </a:prstGeom>
          <a:noFill/>
          <a:ln/>
        </p:spPr>
        <p:txBody>
          <a:bodyPr wrap="square" lIns="0" tIns="0" rIns="0" bIns="0" rtlCol="0" anchor="ctr"/>
          <a:lstStyle/>
          <a:p>
            <a:pPr algn="l" indent="0" marL="0">
              <a:lnSpc>
                <a:spcPct val="112000"/>
              </a:lnSpc>
              <a:buNone/>
            </a:pPr>
            <a:r>
              <a:rPr lang="zh-CN" altLang="en-US" sz="1150" b="1" dirty="0">
                <a:solidFill>
                  <a:srgbClr val="FFFFFF"/>
                </a:solidFill>
                <a:latin typeface="Microsoft YaHei" pitchFamily="34" charset="0"/>
                <a:ea typeface="Microsoft YaHei" pitchFamily="34" charset="-122"/>
                <a:cs typeface="Microsoft YaHei" pitchFamily="34" charset="-120"/>
              </a:rPr>
              <a:t>Burst（最小搬运单位）</a:t>
            </a:r>
            <a:endParaRPr lang="zh-CN" sz="1150" dirty="0"/>
          </a:p>
        </p:txBody>
      </p:sp>
      <p:sp>
        <p:nvSpPr>
          <p:cNvPr id="71" name="Text 69"/>
          <p:cNvSpPr/>
          <p:nvPr/>
        </p:nvSpPr>
        <p:spPr>
          <a:xfrm>
            <a:off x="9710928" y="3035808"/>
            <a:ext cx="1819656" cy="329184"/>
          </a:xfrm>
          <a:prstGeom prst="rect">
            <a:avLst/>
          </a:prstGeom>
          <a:noFill/>
          <a:ln/>
        </p:spPr>
        <p:txBody>
          <a:bodyPr wrap="square" lIns="0" tIns="0" rIns="0" bIns="0" rtlCol="0" anchor="ctr"/>
          <a:lstStyle/>
          <a:p>
            <a:pPr algn="r" indent="0" marL="0">
              <a:lnSpc>
                <a:spcPct val="112000"/>
              </a:lnSpc>
              <a:buNone/>
            </a:pPr>
            <a:r>
              <a:rPr lang="zh-CN" altLang="en-US" sz="1100" dirty="0">
                <a:solidFill>
                  <a:srgbClr val="FFFFFF"/>
                </a:solidFill>
                <a:latin typeface="Microsoft YaHei" pitchFamily="34" charset="0"/>
                <a:ea typeface="Microsoft YaHei" pitchFamily="34" charset="-122"/>
                <a:cs typeface="Microsoft YaHei" pitchFamily="34" charset="-120"/>
              </a:rPr>
              <a:t>64 B</a:t>
            </a:r>
            <a:endParaRPr lang="zh-CN" sz="1100" dirty="0"/>
          </a:p>
        </p:txBody>
      </p:sp>
      <p:sp>
        <p:nvSpPr>
          <p:cNvPr id="72" name="Text 70"/>
          <p:cNvSpPr/>
          <p:nvPr/>
        </p:nvSpPr>
        <p:spPr>
          <a:xfrm>
            <a:off x="8119872" y="5029200"/>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状态</a:t>
            </a:r>
            <a:endParaRPr lang="zh-CN" sz="1150" dirty="0"/>
          </a:p>
        </p:txBody>
      </p:sp>
      <p:sp>
        <p:nvSpPr>
          <p:cNvPr id="73" name="Text 71"/>
          <p:cNvSpPr/>
          <p:nvPr/>
        </p:nvSpPr>
        <p:spPr>
          <a:xfrm>
            <a:off x="8650224" y="5029200"/>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无行 / 页状态</a:t>
            </a:r>
            <a:endParaRPr lang="zh-CN" sz="1150" dirty="0"/>
          </a:p>
        </p:txBody>
      </p:sp>
      <p:sp>
        <p:nvSpPr>
          <p:cNvPr id="74" name="Text 72"/>
          <p:cNvSpPr/>
          <p:nvPr/>
        </p:nvSpPr>
        <p:spPr>
          <a:xfrm>
            <a:off x="8119872" y="5458968"/>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排队</a:t>
            </a:r>
            <a:endParaRPr lang="zh-CN" sz="1150" dirty="0"/>
          </a:p>
        </p:txBody>
      </p:sp>
      <p:sp>
        <p:nvSpPr>
          <p:cNvPr id="75" name="Text 73"/>
          <p:cNvSpPr/>
          <p:nvPr/>
        </p:nvSpPr>
        <p:spPr>
          <a:xfrm>
            <a:off x="8650224" y="5458968"/>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8 个端口（共 80 TB/s）、在途额度</a:t>
            </a:r>
            <a:endParaRPr lang="zh-CN" sz="1150" dirty="0"/>
          </a:p>
        </p:txBody>
      </p:sp>
      <p:sp>
        <p:nvSpPr>
          <p:cNvPr id="76" name="Text 74"/>
          <p:cNvSpPr/>
          <p:nvPr/>
        </p:nvSpPr>
        <p:spPr>
          <a:xfrm>
            <a:off x="8119872" y="5888736"/>
            <a:ext cx="502920" cy="384048"/>
          </a:xfrm>
          <a:prstGeom prst="rect">
            <a:avLst/>
          </a:prstGeom>
          <a:noFill/>
          <a:ln/>
        </p:spPr>
        <p:txBody>
          <a:bodyPr wrap="square" lIns="0" tIns="0" rIns="0" bIns="0" rtlCol="0" anchor="t"/>
          <a:lstStyle/>
          <a:p>
            <a:pPr algn="l" indent="0" marL="0">
              <a:lnSpc>
                <a:spcPct val="112000"/>
              </a:lnSpc>
              <a:buNone/>
            </a:pPr>
            <a:r>
              <a:rPr lang="zh-CN" altLang="en-US" sz="1150" b="1" dirty="0">
                <a:solidFill>
                  <a:srgbClr val="52514E"/>
                </a:solidFill>
                <a:latin typeface="Microsoft YaHei" pitchFamily="34" charset="0"/>
                <a:ea typeface="Microsoft YaHei" pitchFamily="34" charset="-122"/>
                <a:cs typeface="Microsoft YaHei" pitchFamily="34" charset="-120"/>
              </a:rPr>
              <a:t>时序</a:t>
            </a:r>
            <a:endParaRPr lang="zh-CN" sz="1150" dirty="0"/>
          </a:p>
        </p:txBody>
      </p:sp>
      <p:sp>
        <p:nvSpPr>
          <p:cNvPr id="77" name="Text 75"/>
          <p:cNvSpPr/>
          <p:nvPr/>
        </p:nvSpPr>
        <p:spPr>
          <a:xfrm>
            <a:off x="8650224" y="5888736"/>
            <a:ext cx="2990088" cy="384048"/>
          </a:xfrm>
          <a:prstGeom prst="rect">
            <a:avLst/>
          </a:prstGeom>
          <a:noFill/>
          <a:ln/>
        </p:spPr>
        <p:txBody>
          <a:bodyPr wrap="square" lIns="0" tIns="0" rIns="0" bIns="0" rtlCol="0" anchor="t"/>
          <a:lstStyle/>
          <a:p>
            <a:pPr algn="l" indent="0" marL="0">
              <a:lnSpc>
                <a:spcPct val="112000"/>
              </a:lnSpc>
              <a:buNone/>
            </a:pPr>
            <a:r>
              <a:rPr lang="zh-CN" altLang="en-US" sz="1150" dirty="0">
                <a:solidFill>
                  <a:srgbClr val="1A1D23"/>
                </a:solidFill>
                <a:latin typeface="Microsoft YaHei" pitchFamily="34" charset="0"/>
                <a:ea typeface="Microsoft YaHei" pitchFamily="34" charset="-122"/>
                <a:cs typeface="Microsoft YaHei" pitchFamily="34" charset="-120"/>
              </a:rPr>
              <a:t>1 ns 流水线时延</a:t>
            </a:r>
            <a:endParaRPr lang="zh-CN" sz="1150" dirty="0"/>
          </a:p>
        </p:txBody>
      </p:sp>
      <p:sp>
        <p:nvSpPr>
          <p:cNvPr id="78" name="Shape 76"/>
          <p:cNvSpPr/>
          <p:nvPr/>
        </p:nvSpPr>
        <p:spPr>
          <a:xfrm>
            <a:off x="548640" y="4919472"/>
            <a:ext cx="11091672" cy="0"/>
          </a:xfrm>
          <a:prstGeom prst="line">
            <a:avLst/>
          </a:prstGeom>
          <a:noFill/>
          <a:ln w="9525">
            <a:solidFill>
              <a:srgbClr val="D9D9D4"/>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05 · 同一段 KV 落到硬件上</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同一段 KV，在 HBM 里被切成 32 B 分散并行，在 HBF 里被整页读出</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映射规则：memory_mapping.map_dram_address（32 B 交织到 512 条通路）· map_nand_address（页先轮转 112 个 die，再换 plane）· SramCore（64 B 轮转 8 个端口）</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06</a:t>
            </a:r>
            <a:endParaRPr lang="zh-CN" sz="900" dirty="0"/>
          </a:p>
        </p:txBody>
      </p:sp>
      <p:sp>
        <p:nvSpPr>
          <p:cNvPr id="6" name="Text 4"/>
          <p:cNvSpPr/>
          <p:nvPr/>
        </p:nvSpPr>
        <p:spPr>
          <a:xfrm>
            <a:off x="1920240" y="1463040"/>
            <a:ext cx="9144000" cy="274320"/>
          </a:xfrm>
          <a:prstGeom prst="rect">
            <a:avLst/>
          </a:prstGeom>
          <a:noFill/>
          <a:ln/>
        </p:spPr>
        <p:txBody>
          <a:bodyPr wrap="square" lIns="0" tIns="0" rIns="0" bIns="0" rtlCol="0" anchor="t"/>
          <a:lstStyle/>
          <a:p>
            <a:pPr algn="l" indent="0" marL="0">
              <a:lnSpc>
                <a:spcPct val="112000"/>
              </a:lnSpc>
              <a:buNone/>
            </a:pPr>
            <a:r>
              <a:rPr lang="zh-CN" altLang="en-US" sz="1250" dirty="0">
                <a:solidFill>
                  <a:srgbClr val="52514E"/>
                </a:solidFill>
                <a:latin typeface="Microsoft YaHei" pitchFamily="34" charset="0"/>
                <a:ea typeface="Microsoft YaHei" pitchFamily="34" charset="-122"/>
                <a:cs typeface="Microsoft YaHei" pitchFamily="34" charset="-120"/>
              </a:rPr>
              <a:t>一个请求、一层的 K 缓冲区：按 token 顺序连续存放，每 token 256 B</a:t>
            </a:r>
            <a:endParaRPr lang="zh-CN" sz="1250" dirty="0"/>
          </a:p>
        </p:txBody>
      </p:sp>
      <p:sp>
        <p:nvSpPr>
          <p:cNvPr id="7" name="Shape 5"/>
          <p:cNvSpPr/>
          <p:nvPr/>
        </p:nvSpPr>
        <p:spPr>
          <a:xfrm>
            <a:off x="1920240" y="1783080"/>
            <a:ext cx="530352" cy="384048"/>
          </a:xfrm>
          <a:prstGeom prst="rect">
            <a:avLst/>
          </a:prstGeom>
          <a:solidFill>
            <a:srgbClr val="13213A"/>
          </a:solidFill>
          <a:ln w="9525">
            <a:solidFill>
              <a:srgbClr val="13213A"/>
            </a:solidFill>
            <a:prstDash val="solid"/>
          </a:ln>
        </p:spPr>
      </p:sp>
      <p:sp>
        <p:nvSpPr>
          <p:cNvPr id="8" name="Text 6"/>
          <p:cNvSpPr/>
          <p:nvPr/>
        </p:nvSpPr>
        <p:spPr>
          <a:xfrm>
            <a:off x="1920240"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b="1" dirty="0">
                <a:solidFill>
                  <a:srgbClr val="FFFFFF"/>
                </a:solidFill>
                <a:latin typeface="Microsoft YaHei" pitchFamily="34" charset="0"/>
                <a:ea typeface="Microsoft YaHei" pitchFamily="34" charset="-122"/>
                <a:cs typeface="Microsoft YaHei" pitchFamily="34" charset="-120"/>
              </a:rPr>
              <a:t>t0</a:t>
            </a:r>
            <a:endParaRPr lang="zh-CN" sz="1100" dirty="0"/>
          </a:p>
        </p:txBody>
      </p:sp>
      <p:sp>
        <p:nvSpPr>
          <p:cNvPr id="9" name="Shape 7"/>
          <p:cNvSpPr/>
          <p:nvPr/>
        </p:nvSpPr>
        <p:spPr>
          <a:xfrm>
            <a:off x="2487168" y="1783080"/>
            <a:ext cx="530352" cy="384048"/>
          </a:xfrm>
          <a:prstGeom prst="rect">
            <a:avLst/>
          </a:prstGeom>
          <a:solidFill>
            <a:srgbClr val="F4F4F1"/>
          </a:solidFill>
          <a:ln w="9525">
            <a:solidFill>
              <a:srgbClr val="D9D9D4"/>
            </a:solidFill>
            <a:prstDash val="solid"/>
          </a:ln>
        </p:spPr>
      </p:sp>
      <p:sp>
        <p:nvSpPr>
          <p:cNvPr id="10" name="Text 8"/>
          <p:cNvSpPr/>
          <p:nvPr/>
        </p:nvSpPr>
        <p:spPr>
          <a:xfrm>
            <a:off x="2487168"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a:t>
            </a:r>
            <a:endParaRPr lang="zh-CN" sz="1100" dirty="0"/>
          </a:p>
        </p:txBody>
      </p:sp>
      <p:sp>
        <p:nvSpPr>
          <p:cNvPr id="11" name="Shape 9"/>
          <p:cNvSpPr/>
          <p:nvPr/>
        </p:nvSpPr>
        <p:spPr>
          <a:xfrm>
            <a:off x="3054096" y="1783080"/>
            <a:ext cx="530352" cy="384048"/>
          </a:xfrm>
          <a:prstGeom prst="rect">
            <a:avLst/>
          </a:prstGeom>
          <a:solidFill>
            <a:srgbClr val="F4F4F1"/>
          </a:solidFill>
          <a:ln w="9525">
            <a:solidFill>
              <a:srgbClr val="D9D9D4"/>
            </a:solidFill>
            <a:prstDash val="solid"/>
          </a:ln>
        </p:spPr>
      </p:sp>
      <p:sp>
        <p:nvSpPr>
          <p:cNvPr id="12" name="Text 10"/>
          <p:cNvSpPr/>
          <p:nvPr/>
        </p:nvSpPr>
        <p:spPr>
          <a:xfrm>
            <a:off x="3054096"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t2</a:t>
            </a:r>
            <a:endParaRPr lang="zh-CN" sz="1100" dirty="0"/>
          </a:p>
        </p:txBody>
      </p:sp>
      <p:sp>
        <p:nvSpPr>
          <p:cNvPr id="13" name="Shape 11"/>
          <p:cNvSpPr/>
          <p:nvPr/>
        </p:nvSpPr>
        <p:spPr>
          <a:xfrm>
            <a:off x="3621024" y="1783080"/>
            <a:ext cx="530352" cy="384048"/>
          </a:xfrm>
          <a:prstGeom prst="rect">
            <a:avLst/>
          </a:prstGeom>
          <a:solidFill>
            <a:srgbClr val="F4F4F1"/>
          </a:solidFill>
          <a:ln w="9525">
            <a:solidFill>
              <a:srgbClr val="D9D9D4"/>
            </a:solidFill>
            <a:prstDash val="solid"/>
          </a:ln>
        </p:spPr>
      </p:sp>
      <p:sp>
        <p:nvSpPr>
          <p:cNvPr id="14" name="Text 12"/>
          <p:cNvSpPr/>
          <p:nvPr/>
        </p:nvSpPr>
        <p:spPr>
          <a:xfrm>
            <a:off x="3621024"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t3</a:t>
            </a:r>
            <a:endParaRPr lang="zh-CN" sz="1100" dirty="0"/>
          </a:p>
        </p:txBody>
      </p:sp>
      <p:sp>
        <p:nvSpPr>
          <p:cNvPr id="15" name="Shape 13"/>
          <p:cNvSpPr/>
          <p:nvPr/>
        </p:nvSpPr>
        <p:spPr>
          <a:xfrm>
            <a:off x="4187952" y="1783080"/>
            <a:ext cx="530352" cy="384048"/>
          </a:xfrm>
          <a:prstGeom prst="rect">
            <a:avLst/>
          </a:prstGeom>
          <a:solidFill>
            <a:srgbClr val="F4F4F1"/>
          </a:solidFill>
          <a:ln w="9525">
            <a:solidFill>
              <a:srgbClr val="D9D9D4"/>
            </a:solidFill>
            <a:prstDash val="solid"/>
          </a:ln>
        </p:spPr>
      </p:sp>
      <p:sp>
        <p:nvSpPr>
          <p:cNvPr id="16" name="Text 14"/>
          <p:cNvSpPr/>
          <p:nvPr/>
        </p:nvSpPr>
        <p:spPr>
          <a:xfrm>
            <a:off x="4187952"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t4</a:t>
            </a:r>
            <a:endParaRPr lang="zh-CN" sz="1100" dirty="0"/>
          </a:p>
        </p:txBody>
      </p:sp>
      <p:sp>
        <p:nvSpPr>
          <p:cNvPr id="17" name="Shape 15"/>
          <p:cNvSpPr/>
          <p:nvPr/>
        </p:nvSpPr>
        <p:spPr>
          <a:xfrm>
            <a:off x="4754880" y="1783080"/>
            <a:ext cx="530352" cy="384048"/>
          </a:xfrm>
          <a:prstGeom prst="rect">
            <a:avLst/>
          </a:prstGeom>
          <a:solidFill>
            <a:srgbClr val="F4F4F1"/>
          </a:solidFill>
          <a:ln w="9525">
            <a:solidFill>
              <a:srgbClr val="D9D9D4"/>
            </a:solidFill>
            <a:prstDash val="solid"/>
          </a:ln>
        </p:spPr>
      </p:sp>
      <p:sp>
        <p:nvSpPr>
          <p:cNvPr id="18" name="Text 16"/>
          <p:cNvSpPr/>
          <p:nvPr/>
        </p:nvSpPr>
        <p:spPr>
          <a:xfrm>
            <a:off x="4754880"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t5</a:t>
            </a:r>
            <a:endParaRPr lang="zh-CN" sz="1100" dirty="0"/>
          </a:p>
        </p:txBody>
      </p:sp>
      <p:sp>
        <p:nvSpPr>
          <p:cNvPr id="19" name="Shape 17"/>
          <p:cNvSpPr/>
          <p:nvPr/>
        </p:nvSpPr>
        <p:spPr>
          <a:xfrm>
            <a:off x="5321808" y="1783080"/>
            <a:ext cx="530352" cy="384048"/>
          </a:xfrm>
          <a:prstGeom prst="rect">
            <a:avLst/>
          </a:prstGeom>
          <a:solidFill>
            <a:srgbClr val="F4F4F1"/>
          </a:solidFill>
          <a:ln w="9525">
            <a:solidFill>
              <a:srgbClr val="D9D9D4"/>
            </a:solidFill>
            <a:prstDash val="solid"/>
          </a:ln>
        </p:spPr>
      </p:sp>
      <p:sp>
        <p:nvSpPr>
          <p:cNvPr id="20" name="Text 18"/>
          <p:cNvSpPr/>
          <p:nvPr/>
        </p:nvSpPr>
        <p:spPr>
          <a:xfrm>
            <a:off x="5321808"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t6</a:t>
            </a:r>
            <a:endParaRPr lang="zh-CN" sz="1100" dirty="0"/>
          </a:p>
        </p:txBody>
      </p:sp>
      <p:sp>
        <p:nvSpPr>
          <p:cNvPr id="21" name="Shape 19"/>
          <p:cNvSpPr/>
          <p:nvPr/>
        </p:nvSpPr>
        <p:spPr>
          <a:xfrm>
            <a:off x="5888736" y="1783080"/>
            <a:ext cx="530352" cy="384048"/>
          </a:xfrm>
          <a:prstGeom prst="rect">
            <a:avLst/>
          </a:prstGeom>
          <a:solidFill>
            <a:srgbClr val="F4F4F1"/>
          </a:solidFill>
          <a:ln w="9525">
            <a:solidFill>
              <a:srgbClr val="D9D9D4"/>
            </a:solidFill>
            <a:prstDash val="solid"/>
          </a:ln>
        </p:spPr>
      </p:sp>
      <p:sp>
        <p:nvSpPr>
          <p:cNvPr id="22" name="Text 20"/>
          <p:cNvSpPr/>
          <p:nvPr/>
        </p:nvSpPr>
        <p:spPr>
          <a:xfrm>
            <a:off x="5888736"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t7</a:t>
            </a:r>
            <a:endParaRPr lang="zh-CN" sz="1100" dirty="0"/>
          </a:p>
        </p:txBody>
      </p:sp>
      <p:sp>
        <p:nvSpPr>
          <p:cNvPr id="23" name="Shape 21"/>
          <p:cNvSpPr/>
          <p:nvPr/>
        </p:nvSpPr>
        <p:spPr>
          <a:xfrm>
            <a:off x="6455664" y="1783080"/>
            <a:ext cx="530352" cy="384048"/>
          </a:xfrm>
          <a:prstGeom prst="rect">
            <a:avLst/>
          </a:prstGeom>
          <a:solidFill>
            <a:srgbClr val="F4F4F1"/>
          </a:solidFill>
          <a:ln w="9525">
            <a:solidFill>
              <a:srgbClr val="D9D9D4"/>
            </a:solidFill>
            <a:prstDash val="solid"/>
          </a:ln>
        </p:spPr>
      </p:sp>
      <p:sp>
        <p:nvSpPr>
          <p:cNvPr id="24" name="Text 22"/>
          <p:cNvSpPr/>
          <p:nvPr/>
        </p:nvSpPr>
        <p:spPr>
          <a:xfrm>
            <a:off x="6455664"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t8</a:t>
            </a:r>
            <a:endParaRPr lang="zh-CN" sz="1100" dirty="0"/>
          </a:p>
        </p:txBody>
      </p:sp>
      <p:sp>
        <p:nvSpPr>
          <p:cNvPr id="25" name="Shape 23"/>
          <p:cNvSpPr/>
          <p:nvPr/>
        </p:nvSpPr>
        <p:spPr>
          <a:xfrm>
            <a:off x="7022592" y="1783080"/>
            <a:ext cx="530352" cy="384048"/>
          </a:xfrm>
          <a:prstGeom prst="rect">
            <a:avLst/>
          </a:prstGeom>
          <a:solidFill>
            <a:srgbClr val="F4F4F1"/>
          </a:solidFill>
          <a:ln w="9525">
            <a:solidFill>
              <a:srgbClr val="D9D9D4"/>
            </a:solidFill>
            <a:prstDash val="solid"/>
          </a:ln>
        </p:spPr>
      </p:sp>
      <p:sp>
        <p:nvSpPr>
          <p:cNvPr id="26" name="Text 24"/>
          <p:cNvSpPr/>
          <p:nvPr/>
        </p:nvSpPr>
        <p:spPr>
          <a:xfrm>
            <a:off x="7022592"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t9</a:t>
            </a:r>
            <a:endParaRPr lang="zh-CN" sz="1100" dirty="0"/>
          </a:p>
        </p:txBody>
      </p:sp>
      <p:sp>
        <p:nvSpPr>
          <p:cNvPr id="27" name="Shape 25"/>
          <p:cNvSpPr/>
          <p:nvPr/>
        </p:nvSpPr>
        <p:spPr>
          <a:xfrm>
            <a:off x="7589520" y="1783080"/>
            <a:ext cx="530352" cy="384048"/>
          </a:xfrm>
          <a:prstGeom prst="rect">
            <a:avLst/>
          </a:prstGeom>
          <a:solidFill>
            <a:srgbClr val="F4F4F1"/>
          </a:solidFill>
          <a:ln w="9525">
            <a:solidFill>
              <a:srgbClr val="D9D9D4"/>
            </a:solidFill>
            <a:prstDash val="solid"/>
          </a:ln>
        </p:spPr>
      </p:sp>
      <p:sp>
        <p:nvSpPr>
          <p:cNvPr id="28" name="Text 26"/>
          <p:cNvSpPr/>
          <p:nvPr/>
        </p:nvSpPr>
        <p:spPr>
          <a:xfrm>
            <a:off x="7589520"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t10</a:t>
            </a:r>
            <a:endParaRPr lang="zh-CN" sz="1100" dirty="0"/>
          </a:p>
        </p:txBody>
      </p:sp>
      <p:sp>
        <p:nvSpPr>
          <p:cNvPr id="29" name="Shape 27"/>
          <p:cNvSpPr/>
          <p:nvPr/>
        </p:nvSpPr>
        <p:spPr>
          <a:xfrm>
            <a:off x="8156448" y="1783080"/>
            <a:ext cx="530352" cy="384048"/>
          </a:xfrm>
          <a:prstGeom prst="rect">
            <a:avLst/>
          </a:prstGeom>
          <a:solidFill>
            <a:srgbClr val="F4F4F1"/>
          </a:solidFill>
          <a:ln w="9525">
            <a:solidFill>
              <a:srgbClr val="D9D9D4"/>
            </a:solidFill>
            <a:prstDash val="solid"/>
          </a:ln>
        </p:spPr>
      </p:sp>
      <p:sp>
        <p:nvSpPr>
          <p:cNvPr id="30" name="Text 28"/>
          <p:cNvSpPr/>
          <p:nvPr/>
        </p:nvSpPr>
        <p:spPr>
          <a:xfrm>
            <a:off x="8156448"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t11</a:t>
            </a:r>
            <a:endParaRPr lang="zh-CN" sz="1100" dirty="0"/>
          </a:p>
        </p:txBody>
      </p:sp>
      <p:sp>
        <p:nvSpPr>
          <p:cNvPr id="31" name="Shape 29"/>
          <p:cNvSpPr/>
          <p:nvPr/>
        </p:nvSpPr>
        <p:spPr>
          <a:xfrm>
            <a:off x="8723376" y="1783080"/>
            <a:ext cx="530352" cy="384048"/>
          </a:xfrm>
          <a:prstGeom prst="rect">
            <a:avLst/>
          </a:prstGeom>
          <a:solidFill>
            <a:srgbClr val="F4F4F1"/>
          </a:solidFill>
          <a:ln w="9525">
            <a:solidFill>
              <a:srgbClr val="D9D9D4"/>
            </a:solidFill>
            <a:prstDash val="solid"/>
          </a:ln>
        </p:spPr>
      </p:sp>
      <p:sp>
        <p:nvSpPr>
          <p:cNvPr id="32" name="Text 30"/>
          <p:cNvSpPr/>
          <p:nvPr/>
        </p:nvSpPr>
        <p:spPr>
          <a:xfrm>
            <a:off x="8723376"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t12</a:t>
            </a:r>
            <a:endParaRPr lang="zh-CN" sz="1100" dirty="0"/>
          </a:p>
        </p:txBody>
      </p:sp>
      <p:sp>
        <p:nvSpPr>
          <p:cNvPr id="33" name="Shape 31"/>
          <p:cNvSpPr/>
          <p:nvPr/>
        </p:nvSpPr>
        <p:spPr>
          <a:xfrm>
            <a:off x="9290304" y="1783080"/>
            <a:ext cx="530352" cy="384048"/>
          </a:xfrm>
          <a:prstGeom prst="rect">
            <a:avLst/>
          </a:prstGeom>
          <a:solidFill>
            <a:srgbClr val="F4F4F1"/>
          </a:solidFill>
          <a:ln w="9525">
            <a:solidFill>
              <a:srgbClr val="D9D9D4"/>
            </a:solidFill>
            <a:prstDash val="solid"/>
          </a:ln>
        </p:spPr>
      </p:sp>
      <p:sp>
        <p:nvSpPr>
          <p:cNvPr id="34" name="Text 32"/>
          <p:cNvSpPr/>
          <p:nvPr/>
        </p:nvSpPr>
        <p:spPr>
          <a:xfrm>
            <a:off x="9290304"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t13</a:t>
            </a:r>
            <a:endParaRPr lang="zh-CN" sz="1100" dirty="0"/>
          </a:p>
        </p:txBody>
      </p:sp>
      <p:sp>
        <p:nvSpPr>
          <p:cNvPr id="35" name="Shape 33"/>
          <p:cNvSpPr/>
          <p:nvPr/>
        </p:nvSpPr>
        <p:spPr>
          <a:xfrm>
            <a:off x="9857232" y="1783080"/>
            <a:ext cx="530352" cy="384048"/>
          </a:xfrm>
          <a:prstGeom prst="rect">
            <a:avLst/>
          </a:prstGeom>
          <a:solidFill>
            <a:srgbClr val="F4F4F1"/>
          </a:solidFill>
          <a:ln w="9525">
            <a:solidFill>
              <a:srgbClr val="D9D9D4"/>
            </a:solidFill>
            <a:prstDash val="solid"/>
          </a:ln>
        </p:spPr>
      </p:sp>
      <p:sp>
        <p:nvSpPr>
          <p:cNvPr id="36" name="Text 34"/>
          <p:cNvSpPr/>
          <p:nvPr/>
        </p:nvSpPr>
        <p:spPr>
          <a:xfrm>
            <a:off x="9857232"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t14</a:t>
            </a:r>
            <a:endParaRPr lang="zh-CN" sz="1100" dirty="0"/>
          </a:p>
        </p:txBody>
      </p:sp>
      <p:sp>
        <p:nvSpPr>
          <p:cNvPr id="37" name="Shape 35"/>
          <p:cNvSpPr/>
          <p:nvPr/>
        </p:nvSpPr>
        <p:spPr>
          <a:xfrm>
            <a:off x="10424160" y="1783080"/>
            <a:ext cx="530352" cy="384048"/>
          </a:xfrm>
          <a:prstGeom prst="rect">
            <a:avLst/>
          </a:prstGeom>
          <a:solidFill>
            <a:srgbClr val="F4F4F1"/>
          </a:solidFill>
          <a:ln w="9525">
            <a:solidFill>
              <a:srgbClr val="D9D9D4"/>
            </a:solidFill>
            <a:prstDash val="solid"/>
          </a:ln>
        </p:spPr>
      </p:sp>
      <p:sp>
        <p:nvSpPr>
          <p:cNvPr id="38" name="Text 36"/>
          <p:cNvSpPr/>
          <p:nvPr/>
        </p:nvSpPr>
        <p:spPr>
          <a:xfrm>
            <a:off x="10424160" y="1783080"/>
            <a:ext cx="530352" cy="384048"/>
          </a:xfrm>
          <a:prstGeom prst="rect">
            <a:avLst/>
          </a:prstGeom>
          <a:noFill/>
          <a:ln/>
        </p:spPr>
        <p:txBody>
          <a:bodyPr wrap="square" lIns="0" tIns="0" rIns="0" bIns="0" rtlCol="0" anchor="ctr"/>
          <a:lstStyle/>
          <a:p>
            <a:pPr algn="ctr"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t15</a:t>
            </a:r>
            <a:endParaRPr lang="zh-CN" sz="1100" dirty="0"/>
          </a:p>
        </p:txBody>
      </p:sp>
      <p:sp>
        <p:nvSpPr>
          <p:cNvPr id="39" name="Text 37"/>
          <p:cNvSpPr/>
          <p:nvPr/>
        </p:nvSpPr>
        <p:spPr>
          <a:xfrm>
            <a:off x="11018520" y="1783080"/>
            <a:ext cx="457200" cy="384048"/>
          </a:xfrm>
          <a:prstGeom prst="rect">
            <a:avLst/>
          </a:prstGeom>
          <a:noFill/>
          <a:ln/>
        </p:spPr>
        <p:txBody>
          <a:bodyPr wrap="square" lIns="0" tIns="0" rIns="0" bIns="0" rtlCol="0" anchor="ctr"/>
          <a:lstStyle/>
          <a:p>
            <a:pPr algn="l" indent="0" marL="0">
              <a:lnSpc>
                <a:spcPct val="112000"/>
              </a:lnSpc>
              <a:buNone/>
            </a:pPr>
            <a:r>
              <a:rPr lang="zh-CN" altLang="en-US" sz="1400" dirty="0">
                <a:solidFill>
                  <a:srgbClr val="52514E"/>
                </a:solidFill>
                <a:latin typeface="Microsoft YaHei" pitchFamily="34" charset="0"/>
                <a:ea typeface="Microsoft YaHei" pitchFamily="34" charset="-122"/>
                <a:cs typeface="Microsoft YaHei" pitchFamily="34" charset="-120"/>
              </a:rPr>
              <a:t>…</a:t>
            </a:r>
            <a:endParaRPr lang="zh-CN" sz="1400" dirty="0"/>
          </a:p>
        </p:txBody>
      </p:sp>
      <p:sp>
        <p:nvSpPr>
          <p:cNvPr id="40" name="Shape 38"/>
          <p:cNvSpPr/>
          <p:nvPr/>
        </p:nvSpPr>
        <p:spPr>
          <a:xfrm>
            <a:off x="548640" y="2514600"/>
            <a:ext cx="1143000" cy="384048"/>
          </a:xfrm>
          <a:prstGeom prst="rect">
            <a:avLst/>
          </a:prstGeom>
          <a:solidFill>
            <a:srgbClr val="1F5FAE"/>
          </a:solidFill>
          <a:ln w="12700">
            <a:solidFill>
              <a:srgbClr val="1F5FAE"/>
            </a:solidFill>
            <a:prstDash val="solid"/>
          </a:ln>
        </p:spPr>
      </p:sp>
      <p:sp>
        <p:nvSpPr>
          <p:cNvPr id="41" name="Text 39"/>
          <p:cNvSpPr/>
          <p:nvPr/>
        </p:nvSpPr>
        <p:spPr>
          <a:xfrm>
            <a:off x="548640" y="2514600"/>
            <a:ext cx="1143000" cy="384048"/>
          </a:xfrm>
          <a:prstGeom prst="rect">
            <a:avLst/>
          </a:prstGeom>
          <a:noFill/>
          <a:ln/>
        </p:spPr>
        <p:txBody>
          <a:bodyPr wrap="square" lIns="0" tIns="0" rIns="0" bIns="0" rtlCol="0" anchor="ctr"/>
          <a:lstStyle/>
          <a:p>
            <a:pPr algn="ctr" indent="0" marL="0">
              <a:lnSpc>
                <a:spcPct val="112000"/>
              </a:lnSpc>
              <a:buNone/>
            </a:pPr>
            <a:r>
              <a:rPr lang="zh-CN" altLang="en-US" sz="1400" b="1" dirty="0">
                <a:solidFill>
                  <a:srgbClr val="FFFFFF"/>
                </a:solidFill>
                <a:latin typeface="Microsoft YaHei" pitchFamily="34" charset="0"/>
                <a:ea typeface="Microsoft YaHei" pitchFamily="34" charset="-122"/>
                <a:cs typeface="Microsoft YaHei" pitchFamily="34" charset="-120"/>
              </a:rPr>
              <a:t>HBM</a:t>
            </a:r>
            <a:endParaRPr lang="zh-CN" sz="1400" dirty="0"/>
          </a:p>
        </p:txBody>
      </p:sp>
      <p:sp>
        <p:nvSpPr>
          <p:cNvPr id="42" name="Shape 40"/>
          <p:cNvSpPr/>
          <p:nvPr/>
        </p:nvSpPr>
        <p:spPr>
          <a:xfrm>
            <a:off x="1920240" y="2514600"/>
            <a:ext cx="420624" cy="384048"/>
          </a:xfrm>
          <a:prstGeom prst="rect">
            <a:avLst/>
          </a:prstGeom>
          <a:solidFill>
            <a:srgbClr val="2A78D6"/>
          </a:solidFill>
          <a:ln w="12700">
            <a:solidFill>
              <a:srgbClr val="2A78D6"/>
            </a:solidFill>
            <a:prstDash val="solid"/>
          </a:ln>
        </p:spPr>
      </p:sp>
      <p:sp>
        <p:nvSpPr>
          <p:cNvPr id="43" name="Text 41"/>
          <p:cNvSpPr/>
          <p:nvPr/>
        </p:nvSpPr>
        <p:spPr>
          <a:xfrm>
            <a:off x="19202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44" name="Text 42"/>
          <p:cNvSpPr/>
          <p:nvPr/>
        </p:nvSpPr>
        <p:spPr>
          <a:xfrm>
            <a:off x="18745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C0·PC0</a:t>
            </a:r>
            <a:endParaRPr lang="zh-CN" sz="900" dirty="0"/>
          </a:p>
        </p:txBody>
      </p:sp>
      <p:sp>
        <p:nvSpPr>
          <p:cNvPr id="45" name="Shape 43"/>
          <p:cNvSpPr/>
          <p:nvPr/>
        </p:nvSpPr>
        <p:spPr>
          <a:xfrm>
            <a:off x="2377440" y="2514600"/>
            <a:ext cx="420624" cy="384048"/>
          </a:xfrm>
          <a:prstGeom prst="rect">
            <a:avLst/>
          </a:prstGeom>
          <a:solidFill>
            <a:srgbClr val="2A78D6"/>
          </a:solidFill>
          <a:ln w="12700">
            <a:solidFill>
              <a:srgbClr val="2A78D6"/>
            </a:solidFill>
            <a:prstDash val="solid"/>
          </a:ln>
        </p:spPr>
      </p:sp>
      <p:sp>
        <p:nvSpPr>
          <p:cNvPr id="46" name="Text 44"/>
          <p:cNvSpPr/>
          <p:nvPr/>
        </p:nvSpPr>
        <p:spPr>
          <a:xfrm>
            <a:off x="23774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47" name="Text 45"/>
          <p:cNvSpPr/>
          <p:nvPr/>
        </p:nvSpPr>
        <p:spPr>
          <a:xfrm>
            <a:off x="23317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C0·PC1</a:t>
            </a:r>
            <a:endParaRPr lang="zh-CN" sz="900" dirty="0"/>
          </a:p>
        </p:txBody>
      </p:sp>
      <p:sp>
        <p:nvSpPr>
          <p:cNvPr id="48" name="Shape 46"/>
          <p:cNvSpPr/>
          <p:nvPr/>
        </p:nvSpPr>
        <p:spPr>
          <a:xfrm>
            <a:off x="2834640" y="2514600"/>
            <a:ext cx="420624" cy="384048"/>
          </a:xfrm>
          <a:prstGeom prst="rect">
            <a:avLst/>
          </a:prstGeom>
          <a:solidFill>
            <a:srgbClr val="2A78D6"/>
          </a:solidFill>
          <a:ln w="12700">
            <a:solidFill>
              <a:srgbClr val="2A78D6"/>
            </a:solidFill>
            <a:prstDash val="solid"/>
          </a:ln>
        </p:spPr>
      </p:sp>
      <p:sp>
        <p:nvSpPr>
          <p:cNvPr id="49" name="Text 47"/>
          <p:cNvSpPr/>
          <p:nvPr/>
        </p:nvSpPr>
        <p:spPr>
          <a:xfrm>
            <a:off x="28346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50" name="Text 48"/>
          <p:cNvSpPr/>
          <p:nvPr/>
        </p:nvSpPr>
        <p:spPr>
          <a:xfrm>
            <a:off x="27889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C1·PC0</a:t>
            </a:r>
            <a:endParaRPr lang="zh-CN" sz="900" dirty="0"/>
          </a:p>
        </p:txBody>
      </p:sp>
      <p:sp>
        <p:nvSpPr>
          <p:cNvPr id="51" name="Shape 49"/>
          <p:cNvSpPr/>
          <p:nvPr/>
        </p:nvSpPr>
        <p:spPr>
          <a:xfrm>
            <a:off x="3291840" y="2514600"/>
            <a:ext cx="420624" cy="384048"/>
          </a:xfrm>
          <a:prstGeom prst="rect">
            <a:avLst/>
          </a:prstGeom>
          <a:solidFill>
            <a:srgbClr val="2A78D6"/>
          </a:solidFill>
          <a:ln w="12700">
            <a:solidFill>
              <a:srgbClr val="2A78D6"/>
            </a:solidFill>
            <a:prstDash val="solid"/>
          </a:ln>
        </p:spPr>
      </p:sp>
      <p:sp>
        <p:nvSpPr>
          <p:cNvPr id="52" name="Text 50"/>
          <p:cNvSpPr/>
          <p:nvPr/>
        </p:nvSpPr>
        <p:spPr>
          <a:xfrm>
            <a:off x="32918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53" name="Text 51"/>
          <p:cNvSpPr/>
          <p:nvPr/>
        </p:nvSpPr>
        <p:spPr>
          <a:xfrm>
            <a:off x="32461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C1·PC1</a:t>
            </a:r>
            <a:endParaRPr lang="zh-CN" sz="900" dirty="0"/>
          </a:p>
        </p:txBody>
      </p:sp>
      <p:sp>
        <p:nvSpPr>
          <p:cNvPr id="54" name="Shape 52"/>
          <p:cNvSpPr/>
          <p:nvPr/>
        </p:nvSpPr>
        <p:spPr>
          <a:xfrm>
            <a:off x="3749040" y="2514600"/>
            <a:ext cx="420624" cy="384048"/>
          </a:xfrm>
          <a:prstGeom prst="rect">
            <a:avLst/>
          </a:prstGeom>
          <a:solidFill>
            <a:srgbClr val="2A78D6"/>
          </a:solidFill>
          <a:ln w="12700">
            <a:solidFill>
              <a:srgbClr val="2A78D6"/>
            </a:solidFill>
            <a:prstDash val="solid"/>
          </a:ln>
        </p:spPr>
      </p:sp>
      <p:sp>
        <p:nvSpPr>
          <p:cNvPr id="55" name="Text 53"/>
          <p:cNvSpPr/>
          <p:nvPr/>
        </p:nvSpPr>
        <p:spPr>
          <a:xfrm>
            <a:off x="37490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56" name="Text 54"/>
          <p:cNvSpPr/>
          <p:nvPr/>
        </p:nvSpPr>
        <p:spPr>
          <a:xfrm>
            <a:off x="37033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C2·PC0</a:t>
            </a:r>
            <a:endParaRPr lang="zh-CN" sz="900" dirty="0"/>
          </a:p>
        </p:txBody>
      </p:sp>
      <p:sp>
        <p:nvSpPr>
          <p:cNvPr id="57" name="Shape 55"/>
          <p:cNvSpPr/>
          <p:nvPr/>
        </p:nvSpPr>
        <p:spPr>
          <a:xfrm>
            <a:off x="4206240" y="2514600"/>
            <a:ext cx="420624" cy="384048"/>
          </a:xfrm>
          <a:prstGeom prst="rect">
            <a:avLst/>
          </a:prstGeom>
          <a:solidFill>
            <a:srgbClr val="2A78D6"/>
          </a:solidFill>
          <a:ln w="12700">
            <a:solidFill>
              <a:srgbClr val="2A78D6"/>
            </a:solidFill>
            <a:prstDash val="solid"/>
          </a:ln>
        </p:spPr>
      </p:sp>
      <p:sp>
        <p:nvSpPr>
          <p:cNvPr id="58" name="Text 56"/>
          <p:cNvSpPr/>
          <p:nvPr/>
        </p:nvSpPr>
        <p:spPr>
          <a:xfrm>
            <a:off x="42062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59" name="Text 57"/>
          <p:cNvSpPr/>
          <p:nvPr/>
        </p:nvSpPr>
        <p:spPr>
          <a:xfrm>
            <a:off x="41605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C2·PC1</a:t>
            </a:r>
            <a:endParaRPr lang="zh-CN" sz="900" dirty="0"/>
          </a:p>
        </p:txBody>
      </p:sp>
      <p:sp>
        <p:nvSpPr>
          <p:cNvPr id="60" name="Shape 58"/>
          <p:cNvSpPr/>
          <p:nvPr/>
        </p:nvSpPr>
        <p:spPr>
          <a:xfrm>
            <a:off x="4663440" y="2514600"/>
            <a:ext cx="420624" cy="384048"/>
          </a:xfrm>
          <a:prstGeom prst="rect">
            <a:avLst/>
          </a:prstGeom>
          <a:solidFill>
            <a:srgbClr val="2A78D6"/>
          </a:solidFill>
          <a:ln w="12700">
            <a:solidFill>
              <a:srgbClr val="2A78D6"/>
            </a:solidFill>
            <a:prstDash val="solid"/>
          </a:ln>
        </p:spPr>
      </p:sp>
      <p:sp>
        <p:nvSpPr>
          <p:cNvPr id="61" name="Text 59"/>
          <p:cNvSpPr/>
          <p:nvPr/>
        </p:nvSpPr>
        <p:spPr>
          <a:xfrm>
            <a:off x="46634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62" name="Text 60"/>
          <p:cNvSpPr/>
          <p:nvPr/>
        </p:nvSpPr>
        <p:spPr>
          <a:xfrm>
            <a:off x="46177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C3·PC0</a:t>
            </a:r>
            <a:endParaRPr lang="zh-CN" sz="900" dirty="0"/>
          </a:p>
        </p:txBody>
      </p:sp>
      <p:sp>
        <p:nvSpPr>
          <p:cNvPr id="63" name="Shape 61"/>
          <p:cNvSpPr/>
          <p:nvPr/>
        </p:nvSpPr>
        <p:spPr>
          <a:xfrm>
            <a:off x="5120640" y="2514600"/>
            <a:ext cx="420624" cy="384048"/>
          </a:xfrm>
          <a:prstGeom prst="rect">
            <a:avLst/>
          </a:prstGeom>
          <a:solidFill>
            <a:srgbClr val="2A78D6"/>
          </a:solidFill>
          <a:ln w="12700">
            <a:solidFill>
              <a:srgbClr val="2A78D6"/>
            </a:solidFill>
            <a:prstDash val="solid"/>
          </a:ln>
        </p:spPr>
      </p:sp>
      <p:sp>
        <p:nvSpPr>
          <p:cNvPr id="64" name="Text 62"/>
          <p:cNvSpPr/>
          <p:nvPr/>
        </p:nvSpPr>
        <p:spPr>
          <a:xfrm>
            <a:off x="5120640" y="2514600"/>
            <a:ext cx="4206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32 B</a:t>
            </a:r>
            <a:endParaRPr lang="zh-CN" sz="1000" dirty="0"/>
          </a:p>
        </p:txBody>
      </p:sp>
      <p:sp>
        <p:nvSpPr>
          <p:cNvPr id="65" name="Text 63"/>
          <p:cNvSpPr/>
          <p:nvPr/>
        </p:nvSpPr>
        <p:spPr>
          <a:xfrm>
            <a:off x="5074920" y="2944368"/>
            <a:ext cx="5120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C3·PC1</a:t>
            </a:r>
            <a:endParaRPr lang="zh-CN" sz="900" dirty="0"/>
          </a:p>
        </p:txBody>
      </p:sp>
      <p:sp>
        <p:nvSpPr>
          <p:cNvPr id="66" name="Text 64"/>
          <p:cNvSpPr/>
          <p:nvPr/>
        </p:nvSpPr>
        <p:spPr>
          <a:xfrm>
            <a:off x="5989320" y="2468880"/>
            <a:ext cx="5650992" cy="1188720"/>
          </a:xfrm>
          <a:prstGeom prst="rect">
            <a:avLst/>
          </a:prstGeom>
          <a:noFill/>
          <a:ln/>
        </p:spPr>
        <p:txBody>
          <a:bodyPr wrap="square" lIns="0" tIns="0" rIns="0" bIns="0" rtlCol="0" anchor="t"/>
          <a:lstStyle/>
          <a:p>
            <a:pPr algn="l" indent="0" marL="0">
              <a:lnSpc>
                <a:spcPct val="130000"/>
              </a:lnSpc>
              <a:buNone/>
            </a:pPr>
            <a:r>
              <a:rPr lang="zh-CN" altLang="en-US" sz="1250" b="1" dirty="0">
                <a:solidFill>
                  <a:srgbClr val="1A1D23"/>
                </a:solidFill>
                <a:latin typeface="Microsoft YaHei" pitchFamily="34" charset="0"/>
                <a:ea typeface="Microsoft YaHei" pitchFamily="34" charset="-122"/>
                <a:cs typeface="Microsoft YaHei" pitchFamily="34" charset="-120"/>
              </a:rPr>
              <a:t>t0 的 256 B = 8 个 32 B burst</a:t>
            </a:r>
            <a:endParaRPr lang="zh-CN" sz="1250" dirty="0"/>
          </a:p>
          <a:p>
            <a:pPr algn="l" indent="0" marL="0">
              <a:lnSpc>
                <a:spcPct val="130000"/>
              </a:lnSpc>
              <a:buNone/>
            </a:pPr>
            <a:r>
              <a:rPr lang="zh-CN" altLang="en-US" sz="1250" dirty="0">
                <a:solidFill>
                  <a:srgbClr val="52514E"/>
                </a:solidFill>
                <a:latin typeface="Microsoft YaHei" pitchFamily="34" charset="0"/>
                <a:ea typeface="Microsoft YaHei" pitchFamily="34" charset="-122"/>
                <a:cs typeface="Microsoft YaHei" pitchFamily="34" charset="-120"/>
              </a:rPr>
              <a:t>按 32 B 交织落到 4 个通道 × 2 个 PC，8 条数据通路同时传输。</a:t>
            </a:r>
            <a:endParaRPr lang="zh-CN" sz="1250" dirty="0"/>
          </a:p>
          <a:p>
            <a:pPr algn="l" indent="0" marL="0">
              <a:lnSpc>
                <a:spcPct val="130000"/>
              </a:lnSpc>
              <a:buNone/>
            </a:pPr>
            <a:r>
              <a:rPr lang="zh-CN" altLang="en-US" sz="1250" b="1" dirty="0">
                <a:solidFill>
                  <a:srgbClr val="1A1D23"/>
                </a:solidFill>
                <a:latin typeface="Microsoft YaHei" pitchFamily="34" charset="0"/>
                <a:ea typeface="Microsoft YaHei" pitchFamily="34" charset="-122"/>
                <a:cs typeface="Microsoft YaHei" pitchFamily="34" charset="-120"/>
              </a:rPr>
              <a:t>冷启动读 t0：37.8 ns（8 个 bank 各开一次行）</a:t>
            </a:r>
            <a:endParaRPr lang="zh-CN" sz="1250" dirty="0"/>
          </a:p>
        </p:txBody>
      </p:sp>
      <p:sp>
        <p:nvSpPr>
          <p:cNvPr id="67" name="Shape 65"/>
          <p:cNvSpPr/>
          <p:nvPr/>
        </p:nvSpPr>
        <p:spPr>
          <a:xfrm>
            <a:off x="548640" y="3520440"/>
            <a:ext cx="1143000" cy="384048"/>
          </a:xfrm>
          <a:prstGeom prst="rect">
            <a:avLst/>
          </a:prstGeom>
          <a:solidFill>
            <a:srgbClr val="C4501F"/>
          </a:solidFill>
          <a:ln w="12700">
            <a:solidFill>
              <a:srgbClr val="C4501F"/>
            </a:solidFill>
            <a:prstDash val="solid"/>
          </a:ln>
        </p:spPr>
      </p:sp>
      <p:sp>
        <p:nvSpPr>
          <p:cNvPr id="68" name="Text 66"/>
          <p:cNvSpPr/>
          <p:nvPr/>
        </p:nvSpPr>
        <p:spPr>
          <a:xfrm>
            <a:off x="548640" y="3520440"/>
            <a:ext cx="1143000" cy="384048"/>
          </a:xfrm>
          <a:prstGeom prst="rect">
            <a:avLst/>
          </a:prstGeom>
          <a:noFill/>
          <a:ln/>
        </p:spPr>
        <p:txBody>
          <a:bodyPr wrap="square" lIns="0" tIns="0" rIns="0" bIns="0" rtlCol="0" anchor="ctr"/>
          <a:lstStyle/>
          <a:p>
            <a:pPr algn="ctr" indent="0" marL="0">
              <a:lnSpc>
                <a:spcPct val="112000"/>
              </a:lnSpc>
              <a:buNone/>
            </a:pPr>
            <a:r>
              <a:rPr lang="zh-CN" altLang="en-US" sz="1400" b="1" dirty="0">
                <a:solidFill>
                  <a:srgbClr val="FFFFFF"/>
                </a:solidFill>
                <a:latin typeface="Microsoft YaHei" pitchFamily="34" charset="0"/>
                <a:ea typeface="Microsoft YaHei" pitchFamily="34" charset="-122"/>
                <a:cs typeface="Microsoft YaHei" pitchFamily="34" charset="-120"/>
              </a:rPr>
              <a:t>HBF</a:t>
            </a:r>
            <a:endParaRPr lang="zh-CN" sz="1400" dirty="0"/>
          </a:p>
        </p:txBody>
      </p:sp>
      <p:sp>
        <p:nvSpPr>
          <p:cNvPr id="69" name="Shape 67"/>
          <p:cNvSpPr/>
          <p:nvPr/>
        </p:nvSpPr>
        <p:spPr>
          <a:xfrm>
            <a:off x="1920240" y="3520440"/>
            <a:ext cx="3657600" cy="384048"/>
          </a:xfrm>
          <a:prstGeom prst="rect">
            <a:avLst/>
          </a:prstGeom>
          <a:solidFill>
            <a:srgbClr val="EB6834"/>
          </a:solidFill>
          <a:ln w="12700">
            <a:solidFill>
              <a:srgbClr val="EB6834"/>
            </a:solidFill>
            <a:prstDash val="solid"/>
          </a:ln>
        </p:spPr>
      </p:sp>
      <p:sp>
        <p:nvSpPr>
          <p:cNvPr id="70" name="Text 68"/>
          <p:cNvSpPr/>
          <p:nvPr/>
        </p:nvSpPr>
        <p:spPr>
          <a:xfrm>
            <a:off x="1920240" y="3520440"/>
            <a:ext cx="3657600" cy="384048"/>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页 0（4 KiB）= t0 … t15</a:t>
            </a:r>
            <a:endParaRPr lang="zh-CN" sz="1200" dirty="0"/>
          </a:p>
        </p:txBody>
      </p:sp>
      <p:sp>
        <p:nvSpPr>
          <p:cNvPr id="71" name="Text 69"/>
          <p:cNvSpPr/>
          <p:nvPr/>
        </p:nvSpPr>
        <p:spPr>
          <a:xfrm>
            <a:off x="1920240" y="3950208"/>
            <a:ext cx="3657600" cy="274320"/>
          </a:xfrm>
          <a:prstGeom prst="rect">
            <a:avLst/>
          </a:prstGeom>
          <a:noFill/>
          <a:ln/>
        </p:spPr>
        <p:txBody>
          <a:bodyPr wrap="square" lIns="0" tIns="0" rIns="0" bIns="0" rtlCol="0" anchor="t"/>
          <a:lstStyle/>
          <a:p>
            <a:pPr algn="ctr"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 die 0 · plane 0</a:t>
            </a:r>
            <a:endParaRPr lang="zh-CN" sz="1050" dirty="0"/>
          </a:p>
        </p:txBody>
      </p:sp>
      <p:sp>
        <p:nvSpPr>
          <p:cNvPr id="72" name="Shape 70"/>
          <p:cNvSpPr/>
          <p:nvPr/>
        </p:nvSpPr>
        <p:spPr>
          <a:xfrm>
            <a:off x="1920240" y="4297680"/>
            <a:ext cx="1161288" cy="457200"/>
          </a:xfrm>
          <a:prstGeom prst="rect">
            <a:avLst/>
          </a:prstGeom>
          <a:solidFill>
            <a:srgbClr val="FCE8DF"/>
          </a:solidFill>
          <a:ln w="9525">
            <a:solidFill>
              <a:srgbClr val="F6C2AA"/>
            </a:solidFill>
            <a:prstDash val="solid"/>
          </a:ln>
        </p:spPr>
      </p:sp>
      <p:sp>
        <p:nvSpPr>
          <p:cNvPr id="73" name="Text 71"/>
          <p:cNvSpPr/>
          <p:nvPr/>
        </p:nvSpPr>
        <p:spPr>
          <a:xfrm>
            <a:off x="1920240" y="4297680"/>
            <a:ext cx="1161288" cy="457200"/>
          </a:xfrm>
          <a:prstGeom prst="rect">
            <a:avLst/>
          </a:prstGeom>
          <a:noFill/>
          <a:ln/>
        </p:spPr>
        <p:txBody>
          <a:bodyPr wrap="square" lIns="0" tIns="0" rIns="0" bIns="0" rtlCol="0" anchor="ctr"/>
          <a:lstStyle/>
          <a:p>
            <a:pPr algn="ctr" indent="0" marL="0">
              <a:lnSpc>
                <a:spcPct val="100000"/>
              </a:lnSpc>
              <a:buNone/>
            </a:pPr>
            <a:r>
              <a:rPr lang="zh-CN" altLang="en-US" sz="950" dirty="0">
                <a:solidFill>
                  <a:srgbClr val="1A1D23"/>
                </a:solidFill>
                <a:latin typeface="Microsoft YaHei" pitchFamily="34" charset="0"/>
                <a:ea typeface="Microsoft YaHei" pitchFamily="34" charset="-122"/>
                <a:cs typeface="Microsoft YaHei" pitchFamily="34" charset="-120"/>
              </a:rPr>
              <a:t>页 1</a:t>
            </a:r>
            <a:endParaRPr lang="zh-CN" sz="950" dirty="0"/>
          </a:p>
          <a:p>
            <a:pPr algn="ctr" indent="0" marL="0">
              <a:lnSpc>
                <a:spcPct val="100000"/>
              </a:lnSpc>
              <a:buNone/>
            </a:pPr>
            <a:r>
              <a:rPr lang="zh-CN" altLang="en-US" sz="950" dirty="0">
                <a:solidFill>
                  <a:srgbClr val="1A1D23"/>
                </a:solidFill>
                <a:latin typeface="Microsoft YaHei" pitchFamily="34" charset="0"/>
                <a:ea typeface="Microsoft YaHei" pitchFamily="34" charset="-122"/>
                <a:cs typeface="Microsoft YaHei" pitchFamily="34" charset="-120"/>
              </a:rPr>
              <a:t>die 1 · plane 0</a:t>
            </a:r>
            <a:endParaRPr lang="zh-CN" sz="950" dirty="0"/>
          </a:p>
        </p:txBody>
      </p:sp>
      <p:sp>
        <p:nvSpPr>
          <p:cNvPr id="74" name="Shape 72"/>
          <p:cNvSpPr/>
          <p:nvPr/>
        </p:nvSpPr>
        <p:spPr>
          <a:xfrm>
            <a:off x="3172968" y="4297680"/>
            <a:ext cx="1161288" cy="457200"/>
          </a:xfrm>
          <a:prstGeom prst="rect">
            <a:avLst/>
          </a:prstGeom>
          <a:solidFill>
            <a:srgbClr val="FCE8DF"/>
          </a:solidFill>
          <a:ln w="9525">
            <a:solidFill>
              <a:srgbClr val="F6C2AA"/>
            </a:solidFill>
            <a:prstDash val="solid"/>
          </a:ln>
        </p:spPr>
      </p:sp>
      <p:sp>
        <p:nvSpPr>
          <p:cNvPr id="75" name="Text 73"/>
          <p:cNvSpPr/>
          <p:nvPr/>
        </p:nvSpPr>
        <p:spPr>
          <a:xfrm>
            <a:off x="3172968" y="4297680"/>
            <a:ext cx="1161288" cy="457200"/>
          </a:xfrm>
          <a:prstGeom prst="rect">
            <a:avLst/>
          </a:prstGeom>
          <a:noFill/>
          <a:ln/>
        </p:spPr>
        <p:txBody>
          <a:bodyPr wrap="square" lIns="0" tIns="0" rIns="0" bIns="0" rtlCol="0" anchor="ctr"/>
          <a:lstStyle/>
          <a:p>
            <a:pPr algn="ctr" indent="0" marL="0">
              <a:lnSpc>
                <a:spcPct val="100000"/>
              </a:lnSpc>
              <a:buNone/>
            </a:pPr>
            <a:r>
              <a:rPr lang="zh-CN" altLang="en-US" sz="950" dirty="0">
                <a:solidFill>
                  <a:srgbClr val="1A1D23"/>
                </a:solidFill>
                <a:latin typeface="Microsoft YaHei" pitchFamily="34" charset="0"/>
                <a:ea typeface="Microsoft YaHei" pitchFamily="34" charset="-122"/>
                <a:cs typeface="Microsoft YaHei" pitchFamily="34" charset="-120"/>
              </a:rPr>
              <a:t>页 2</a:t>
            </a:r>
            <a:endParaRPr lang="zh-CN" sz="950" dirty="0"/>
          </a:p>
          <a:p>
            <a:pPr algn="ctr" indent="0" marL="0">
              <a:lnSpc>
                <a:spcPct val="100000"/>
              </a:lnSpc>
              <a:buNone/>
            </a:pPr>
            <a:r>
              <a:rPr lang="zh-CN" altLang="en-US" sz="950" dirty="0">
                <a:solidFill>
                  <a:srgbClr val="1A1D23"/>
                </a:solidFill>
                <a:latin typeface="Microsoft YaHei" pitchFamily="34" charset="0"/>
                <a:ea typeface="Microsoft YaHei" pitchFamily="34" charset="-122"/>
                <a:cs typeface="Microsoft YaHei" pitchFamily="34" charset="-120"/>
              </a:rPr>
              <a:t>die 2 · plane 0</a:t>
            </a:r>
            <a:endParaRPr lang="zh-CN" sz="950" dirty="0"/>
          </a:p>
        </p:txBody>
      </p:sp>
      <p:sp>
        <p:nvSpPr>
          <p:cNvPr id="76" name="Shape 74"/>
          <p:cNvSpPr/>
          <p:nvPr/>
        </p:nvSpPr>
        <p:spPr>
          <a:xfrm>
            <a:off x="4425696" y="4297680"/>
            <a:ext cx="1161288" cy="457200"/>
          </a:xfrm>
          <a:prstGeom prst="rect">
            <a:avLst/>
          </a:prstGeom>
          <a:solidFill>
            <a:srgbClr val="FCE8DF"/>
          </a:solidFill>
          <a:ln w="9525">
            <a:solidFill>
              <a:srgbClr val="F6C2AA"/>
            </a:solidFill>
            <a:prstDash val="solid"/>
          </a:ln>
        </p:spPr>
      </p:sp>
      <p:sp>
        <p:nvSpPr>
          <p:cNvPr id="77" name="Text 75"/>
          <p:cNvSpPr/>
          <p:nvPr/>
        </p:nvSpPr>
        <p:spPr>
          <a:xfrm>
            <a:off x="4425696" y="4297680"/>
            <a:ext cx="1161288" cy="457200"/>
          </a:xfrm>
          <a:prstGeom prst="rect">
            <a:avLst/>
          </a:prstGeom>
          <a:noFill/>
          <a:ln/>
        </p:spPr>
        <p:txBody>
          <a:bodyPr wrap="square" lIns="0" tIns="0" rIns="0" bIns="0" rtlCol="0" anchor="ctr"/>
          <a:lstStyle/>
          <a:p>
            <a:pPr algn="ctr" indent="0" marL="0">
              <a:lnSpc>
                <a:spcPct val="100000"/>
              </a:lnSpc>
              <a:buNone/>
            </a:pPr>
            <a:r>
              <a:rPr lang="zh-CN" altLang="en-US" sz="950" dirty="0">
                <a:solidFill>
                  <a:srgbClr val="1A1D23"/>
                </a:solidFill>
                <a:latin typeface="Microsoft YaHei" pitchFamily="34" charset="0"/>
                <a:ea typeface="Microsoft YaHei" pitchFamily="34" charset="-122"/>
                <a:cs typeface="Microsoft YaHei" pitchFamily="34" charset="-120"/>
              </a:rPr>
              <a:t>页 112</a:t>
            </a:r>
            <a:endParaRPr lang="zh-CN" sz="950" dirty="0"/>
          </a:p>
          <a:p>
            <a:pPr algn="ctr" indent="0" marL="0">
              <a:lnSpc>
                <a:spcPct val="100000"/>
              </a:lnSpc>
              <a:buNone/>
            </a:pPr>
            <a:r>
              <a:rPr lang="zh-CN" altLang="en-US" sz="950" dirty="0">
                <a:solidFill>
                  <a:srgbClr val="1A1D23"/>
                </a:solidFill>
                <a:latin typeface="Microsoft YaHei" pitchFamily="34" charset="0"/>
                <a:ea typeface="Microsoft YaHei" pitchFamily="34" charset="-122"/>
                <a:cs typeface="Microsoft YaHei" pitchFamily="34" charset="-120"/>
              </a:rPr>
              <a:t>die 0 · plane 1</a:t>
            </a:r>
            <a:endParaRPr lang="zh-CN" sz="950" dirty="0"/>
          </a:p>
        </p:txBody>
      </p:sp>
      <p:sp>
        <p:nvSpPr>
          <p:cNvPr id="78" name="Text 76"/>
          <p:cNvSpPr/>
          <p:nvPr/>
        </p:nvSpPr>
        <p:spPr>
          <a:xfrm>
            <a:off x="5989320" y="3474720"/>
            <a:ext cx="5650992" cy="1188720"/>
          </a:xfrm>
          <a:prstGeom prst="rect">
            <a:avLst/>
          </a:prstGeom>
          <a:noFill/>
          <a:ln/>
        </p:spPr>
        <p:txBody>
          <a:bodyPr wrap="square" lIns="0" tIns="0" rIns="0" bIns="0" rtlCol="0" anchor="t"/>
          <a:lstStyle/>
          <a:p>
            <a:pPr algn="l" indent="0" marL="0">
              <a:lnSpc>
                <a:spcPct val="130000"/>
              </a:lnSpc>
              <a:buNone/>
            </a:pPr>
            <a:r>
              <a:rPr lang="zh-CN" altLang="en-US" sz="1250" b="1" dirty="0">
                <a:solidFill>
                  <a:srgbClr val="1A1D23"/>
                </a:solidFill>
                <a:latin typeface="Microsoft YaHei" pitchFamily="34" charset="0"/>
                <a:ea typeface="Microsoft YaHei" pitchFamily="34" charset="-122"/>
                <a:cs typeface="Microsoft YaHei" pitchFamily="34" charset="-120"/>
              </a:rPr>
              <a:t>t0 ~ t15 共用一个 4 KiB 页</a:t>
            </a:r>
            <a:endParaRPr lang="zh-CN" sz="1250" dirty="0"/>
          </a:p>
          <a:p>
            <a:pPr algn="l" indent="0" marL="0">
              <a:lnSpc>
                <a:spcPct val="130000"/>
              </a:lnSpc>
              <a:buNone/>
            </a:pPr>
            <a:r>
              <a:rPr lang="zh-CN" altLang="en-US" sz="1250" dirty="0">
                <a:solidFill>
                  <a:srgbClr val="52514E"/>
                </a:solidFill>
                <a:latin typeface="Microsoft YaHei" pitchFamily="34" charset="0"/>
                <a:ea typeface="Microsoft YaHei" pitchFamily="34" charset="-122"/>
                <a:cs typeface="Microsoft YaHei" pitchFamily="34" charset="-120"/>
              </a:rPr>
              <a:t>读 t0 也要整页读出：1,041 ns；下一步读 t1 时，该页还在 plane 页缓冲里：0.37 ns。</a:t>
            </a:r>
            <a:endParaRPr lang="zh-CN" sz="1250" dirty="0"/>
          </a:p>
          <a:p>
            <a:pPr algn="l" indent="0" marL="0">
              <a:lnSpc>
                <a:spcPct val="130000"/>
              </a:lnSpc>
              <a:buNone/>
            </a:pPr>
            <a:r>
              <a:rPr lang="zh-CN" altLang="en-US" sz="1250" b="1" dirty="0">
                <a:solidFill>
                  <a:srgbClr val="1A1D23"/>
                </a:solidFill>
                <a:latin typeface="Microsoft YaHei" pitchFamily="34" charset="0"/>
                <a:ea typeface="Microsoft YaHei" pitchFamily="34" charset="-122"/>
                <a:cs typeface="Microsoft YaHei" pitchFamily="34" charset="-120"/>
              </a:rPr>
              <a:t>相邻页依次落到不同 die，再换 plane</a:t>
            </a:r>
            <a:endParaRPr lang="zh-CN" sz="1250" dirty="0"/>
          </a:p>
        </p:txBody>
      </p:sp>
      <p:sp>
        <p:nvSpPr>
          <p:cNvPr id="79" name="Shape 77"/>
          <p:cNvSpPr/>
          <p:nvPr/>
        </p:nvSpPr>
        <p:spPr>
          <a:xfrm>
            <a:off x="548640" y="5166360"/>
            <a:ext cx="1143000" cy="384048"/>
          </a:xfrm>
          <a:prstGeom prst="rect">
            <a:avLst/>
          </a:prstGeom>
          <a:solidFill>
            <a:srgbClr val="13845C"/>
          </a:solidFill>
          <a:ln w="12700">
            <a:solidFill>
              <a:srgbClr val="13845C"/>
            </a:solidFill>
            <a:prstDash val="solid"/>
          </a:ln>
        </p:spPr>
      </p:sp>
      <p:sp>
        <p:nvSpPr>
          <p:cNvPr id="80" name="Text 78"/>
          <p:cNvSpPr/>
          <p:nvPr/>
        </p:nvSpPr>
        <p:spPr>
          <a:xfrm>
            <a:off x="548640" y="5166360"/>
            <a:ext cx="1143000" cy="384048"/>
          </a:xfrm>
          <a:prstGeom prst="rect">
            <a:avLst/>
          </a:prstGeom>
          <a:noFill/>
          <a:ln/>
        </p:spPr>
        <p:txBody>
          <a:bodyPr wrap="square" lIns="0" tIns="0" rIns="0" bIns="0" rtlCol="0" anchor="ctr"/>
          <a:lstStyle/>
          <a:p>
            <a:pPr algn="ctr" indent="0" marL="0">
              <a:lnSpc>
                <a:spcPct val="112000"/>
              </a:lnSpc>
              <a:buNone/>
            </a:pPr>
            <a:r>
              <a:rPr lang="zh-CN" altLang="en-US" sz="1400" b="1" dirty="0">
                <a:solidFill>
                  <a:srgbClr val="FFFFFF"/>
                </a:solidFill>
                <a:latin typeface="Microsoft YaHei" pitchFamily="34" charset="0"/>
                <a:ea typeface="Microsoft YaHei" pitchFamily="34" charset="-122"/>
                <a:cs typeface="Microsoft YaHei" pitchFamily="34" charset="-120"/>
              </a:rPr>
              <a:t>SRAM</a:t>
            </a:r>
            <a:endParaRPr lang="zh-CN" sz="1400" dirty="0"/>
          </a:p>
        </p:txBody>
      </p:sp>
      <p:sp>
        <p:nvSpPr>
          <p:cNvPr id="81" name="Shape 79"/>
          <p:cNvSpPr/>
          <p:nvPr/>
        </p:nvSpPr>
        <p:spPr>
          <a:xfrm>
            <a:off x="1920240" y="5166360"/>
            <a:ext cx="877824" cy="384048"/>
          </a:xfrm>
          <a:prstGeom prst="rect">
            <a:avLst/>
          </a:prstGeom>
          <a:solidFill>
            <a:srgbClr val="1BAF7A"/>
          </a:solidFill>
          <a:ln w="12700">
            <a:solidFill>
              <a:srgbClr val="1BAF7A"/>
            </a:solidFill>
            <a:prstDash val="solid"/>
          </a:ln>
        </p:spPr>
      </p:sp>
      <p:sp>
        <p:nvSpPr>
          <p:cNvPr id="82" name="Text 80"/>
          <p:cNvSpPr/>
          <p:nvPr/>
        </p:nvSpPr>
        <p:spPr>
          <a:xfrm>
            <a:off x="1920240" y="5166360"/>
            <a:ext cx="8778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64 B</a:t>
            </a:r>
            <a:endParaRPr lang="zh-CN" sz="1000" dirty="0"/>
          </a:p>
        </p:txBody>
      </p:sp>
      <p:sp>
        <p:nvSpPr>
          <p:cNvPr id="83" name="Text 81"/>
          <p:cNvSpPr/>
          <p:nvPr/>
        </p:nvSpPr>
        <p:spPr>
          <a:xfrm>
            <a:off x="1874520" y="5596128"/>
            <a:ext cx="9692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端口 0</a:t>
            </a:r>
            <a:endParaRPr lang="zh-CN" sz="900" dirty="0"/>
          </a:p>
        </p:txBody>
      </p:sp>
      <p:sp>
        <p:nvSpPr>
          <p:cNvPr id="84" name="Shape 82"/>
          <p:cNvSpPr/>
          <p:nvPr/>
        </p:nvSpPr>
        <p:spPr>
          <a:xfrm>
            <a:off x="2834640" y="5166360"/>
            <a:ext cx="877824" cy="384048"/>
          </a:xfrm>
          <a:prstGeom prst="rect">
            <a:avLst/>
          </a:prstGeom>
          <a:solidFill>
            <a:srgbClr val="1BAF7A"/>
          </a:solidFill>
          <a:ln w="12700">
            <a:solidFill>
              <a:srgbClr val="1BAF7A"/>
            </a:solidFill>
            <a:prstDash val="solid"/>
          </a:ln>
        </p:spPr>
      </p:sp>
      <p:sp>
        <p:nvSpPr>
          <p:cNvPr id="85" name="Text 83"/>
          <p:cNvSpPr/>
          <p:nvPr/>
        </p:nvSpPr>
        <p:spPr>
          <a:xfrm>
            <a:off x="2834640" y="5166360"/>
            <a:ext cx="8778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64 B</a:t>
            </a:r>
            <a:endParaRPr lang="zh-CN" sz="1000" dirty="0"/>
          </a:p>
        </p:txBody>
      </p:sp>
      <p:sp>
        <p:nvSpPr>
          <p:cNvPr id="86" name="Text 84"/>
          <p:cNvSpPr/>
          <p:nvPr/>
        </p:nvSpPr>
        <p:spPr>
          <a:xfrm>
            <a:off x="2788920" y="5596128"/>
            <a:ext cx="9692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端口 1</a:t>
            </a:r>
            <a:endParaRPr lang="zh-CN" sz="900" dirty="0"/>
          </a:p>
        </p:txBody>
      </p:sp>
      <p:sp>
        <p:nvSpPr>
          <p:cNvPr id="87" name="Shape 85"/>
          <p:cNvSpPr/>
          <p:nvPr/>
        </p:nvSpPr>
        <p:spPr>
          <a:xfrm>
            <a:off x="3749040" y="5166360"/>
            <a:ext cx="877824" cy="384048"/>
          </a:xfrm>
          <a:prstGeom prst="rect">
            <a:avLst/>
          </a:prstGeom>
          <a:solidFill>
            <a:srgbClr val="1BAF7A"/>
          </a:solidFill>
          <a:ln w="12700">
            <a:solidFill>
              <a:srgbClr val="1BAF7A"/>
            </a:solidFill>
            <a:prstDash val="solid"/>
          </a:ln>
        </p:spPr>
      </p:sp>
      <p:sp>
        <p:nvSpPr>
          <p:cNvPr id="88" name="Text 86"/>
          <p:cNvSpPr/>
          <p:nvPr/>
        </p:nvSpPr>
        <p:spPr>
          <a:xfrm>
            <a:off x="3749040" y="5166360"/>
            <a:ext cx="8778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64 B</a:t>
            </a:r>
            <a:endParaRPr lang="zh-CN" sz="1000" dirty="0"/>
          </a:p>
        </p:txBody>
      </p:sp>
      <p:sp>
        <p:nvSpPr>
          <p:cNvPr id="89" name="Text 87"/>
          <p:cNvSpPr/>
          <p:nvPr/>
        </p:nvSpPr>
        <p:spPr>
          <a:xfrm>
            <a:off x="3703320" y="5596128"/>
            <a:ext cx="9692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端口 2</a:t>
            </a:r>
            <a:endParaRPr lang="zh-CN" sz="900" dirty="0"/>
          </a:p>
        </p:txBody>
      </p:sp>
      <p:sp>
        <p:nvSpPr>
          <p:cNvPr id="90" name="Shape 88"/>
          <p:cNvSpPr/>
          <p:nvPr/>
        </p:nvSpPr>
        <p:spPr>
          <a:xfrm>
            <a:off x="4663440" y="5166360"/>
            <a:ext cx="877824" cy="384048"/>
          </a:xfrm>
          <a:prstGeom prst="rect">
            <a:avLst/>
          </a:prstGeom>
          <a:solidFill>
            <a:srgbClr val="1BAF7A"/>
          </a:solidFill>
          <a:ln w="12700">
            <a:solidFill>
              <a:srgbClr val="1BAF7A"/>
            </a:solidFill>
            <a:prstDash val="solid"/>
          </a:ln>
        </p:spPr>
      </p:sp>
      <p:sp>
        <p:nvSpPr>
          <p:cNvPr id="91" name="Text 89"/>
          <p:cNvSpPr/>
          <p:nvPr/>
        </p:nvSpPr>
        <p:spPr>
          <a:xfrm>
            <a:off x="4663440" y="5166360"/>
            <a:ext cx="877824" cy="384048"/>
          </a:xfrm>
          <a:prstGeom prst="rect">
            <a:avLst/>
          </a:prstGeom>
          <a:noFill/>
          <a:ln/>
        </p:spPr>
        <p:txBody>
          <a:bodyPr wrap="square" lIns="0" tIns="0" rIns="0" bIns="0" rtlCol="0" anchor="ctr"/>
          <a:lstStyle/>
          <a:p>
            <a:pPr algn="ctr" indent="0" marL="0">
              <a:lnSpc>
                <a:spcPct val="112000"/>
              </a:lnSpc>
              <a:buNone/>
            </a:pPr>
            <a:r>
              <a:rPr lang="zh-CN" altLang="en-US" sz="1000" b="1" dirty="0">
                <a:solidFill>
                  <a:srgbClr val="FFFFFF"/>
                </a:solidFill>
                <a:latin typeface="Microsoft YaHei" pitchFamily="34" charset="0"/>
                <a:ea typeface="Microsoft YaHei" pitchFamily="34" charset="-122"/>
                <a:cs typeface="Microsoft YaHei" pitchFamily="34" charset="-120"/>
              </a:rPr>
              <a:t>64 B</a:t>
            </a:r>
            <a:endParaRPr lang="zh-CN" sz="1000" dirty="0"/>
          </a:p>
        </p:txBody>
      </p:sp>
      <p:sp>
        <p:nvSpPr>
          <p:cNvPr id="92" name="Text 90"/>
          <p:cNvSpPr/>
          <p:nvPr/>
        </p:nvSpPr>
        <p:spPr>
          <a:xfrm>
            <a:off x="4617720" y="5596128"/>
            <a:ext cx="969264" cy="256032"/>
          </a:xfrm>
          <a:prstGeom prst="rect">
            <a:avLst/>
          </a:prstGeom>
          <a:noFill/>
          <a:ln/>
        </p:spPr>
        <p:txBody>
          <a:bodyPr wrap="square" lIns="0" tIns="0" rIns="0" bIns="0" rtlCol="0" anchor="t"/>
          <a:lstStyle/>
          <a:p>
            <a:pPr algn="ctr" indent="0" marL="0">
              <a:lnSpc>
                <a:spcPct val="112000"/>
              </a:lnSpc>
              <a:buNone/>
            </a:pPr>
            <a:r>
              <a:rPr lang="zh-CN" altLang="en-US" sz="900" dirty="0">
                <a:solidFill>
                  <a:srgbClr val="52514E"/>
                </a:solidFill>
                <a:latin typeface="Microsoft YaHei" pitchFamily="34" charset="0"/>
                <a:ea typeface="Microsoft YaHei" pitchFamily="34" charset="-122"/>
                <a:cs typeface="Microsoft YaHei" pitchFamily="34" charset="-120"/>
              </a:rPr>
              <a:t>端口 3</a:t>
            </a:r>
            <a:endParaRPr lang="zh-CN" sz="900" dirty="0"/>
          </a:p>
        </p:txBody>
      </p:sp>
      <p:sp>
        <p:nvSpPr>
          <p:cNvPr id="93" name="Text 91"/>
          <p:cNvSpPr/>
          <p:nvPr/>
        </p:nvSpPr>
        <p:spPr>
          <a:xfrm>
            <a:off x="5989320" y="5120640"/>
            <a:ext cx="5650992" cy="1188720"/>
          </a:xfrm>
          <a:prstGeom prst="rect">
            <a:avLst/>
          </a:prstGeom>
          <a:noFill/>
          <a:ln/>
        </p:spPr>
        <p:txBody>
          <a:bodyPr wrap="square" lIns="0" tIns="0" rIns="0" bIns="0" rtlCol="0" anchor="t"/>
          <a:lstStyle/>
          <a:p>
            <a:pPr algn="l" indent="0" marL="0">
              <a:lnSpc>
                <a:spcPct val="130000"/>
              </a:lnSpc>
              <a:buNone/>
            </a:pPr>
            <a:r>
              <a:rPr lang="zh-CN" altLang="en-US" sz="1250" b="1" dirty="0">
                <a:solidFill>
                  <a:srgbClr val="1A1D23"/>
                </a:solidFill>
                <a:latin typeface="Microsoft YaHei" pitchFamily="34" charset="0"/>
                <a:ea typeface="Microsoft YaHei" pitchFamily="34" charset="-122"/>
                <a:cs typeface="Microsoft YaHei" pitchFamily="34" charset="-120"/>
              </a:rPr>
              <a:t>t0 的 256 B = 4 个 64 B burst，轮流分到 4 个端口</a:t>
            </a:r>
            <a:endParaRPr lang="zh-CN" sz="1250" dirty="0"/>
          </a:p>
          <a:p>
            <a:pPr algn="l" indent="0" marL="0">
              <a:lnSpc>
                <a:spcPct val="130000"/>
              </a:lnSpc>
              <a:buNone/>
            </a:pPr>
            <a:r>
              <a:rPr lang="zh-CN" altLang="en-US" sz="1250" dirty="0">
                <a:solidFill>
                  <a:srgbClr val="52514E"/>
                </a:solidFill>
                <a:latin typeface="Microsoft YaHei" pitchFamily="34" charset="0"/>
                <a:ea typeface="Microsoft YaHei" pitchFamily="34" charset="-122"/>
                <a:cs typeface="Microsoft YaHei" pitchFamily="34" charset="-120"/>
              </a:rPr>
              <a:t>无行/页状态：1.0 ns（1 ns 流水线 + 传输）</a:t>
            </a:r>
            <a:endParaRPr lang="zh-CN"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06 · HBM：一次读怎么计时</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HBM：同样读 32 B，耗时取决于目标行是否已经打开</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仿真器实测（DramCore，jedec_hbm 模式）：HBM4 研究参考时序 tCK 0.64 ns、tRCD 14 ns、tRP 15.36 ns、读延迟 20.48 ns；tRRD/tFAW 借用 HBM3E 参考包，非厂商标定</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07</a:t>
            </a:r>
            <a:endParaRPr lang="zh-CN" sz="900" dirty="0"/>
          </a:p>
        </p:txBody>
      </p:sp>
      <p:sp>
        <p:nvSpPr>
          <p:cNvPr id="6" name="Text 4"/>
          <p:cNvSpPr/>
          <p:nvPr/>
        </p:nvSpPr>
        <p:spPr>
          <a:xfrm>
            <a:off x="548640" y="1810512"/>
            <a:ext cx="1554480" cy="292608"/>
          </a:xfrm>
          <a:prstGeom prst="rect">
            <a:avLst/>
          </a:prstGeom>
          <a:noFill/>
          <a:ln/>
        </p:spPr>
        <p:txBody>
          <a:bodyPr wrap="square" lIns="0" tIns="0" rIns="0" bIns="0" rtlCol="0" anchor="t"/>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行命中</a:t>
            </a:r>
            <a:endParaRPr lang="zh-CN" sz="1500" dirty="0"/>
          </a:p>
        </p:txBody>
      </p:sp>
      <p:sp>
        <p:nvSpPr>
          <p:cNvPr id="7" name="Text 5"/>
          <p:cNvSpPr/>
          <p:nvPr/>
        </p:nvSpPr>
        <p:spPr>
          <a:xfrm>
            <a:off x="548640" y="2103120"/>
            <a:ext cx="1554480" cy="256032"/>
          </a:xfrm>
          <a:prstGeom prst="rect">
            <a:avLst/>
          </a:prstGeom>
          <a:noFill/>
          <a:ln/>
        </p:spPr>
        <p:txBody>
          <a:bodyPr wrap="square" lIns="0" tIns="0" rIns="0" bIns="0" rtlCol="0" anchor="t"/>
          <a:lstStyle/>
          <a:p>
            <a:pPr algn="l"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目标行已打开</a:t>
            </a:r>
            <a:endParaRPr lang="zh-CN" sz="1100" dirty="0"/>
          </a:p>
        </p:txBody>
      </p:sp>
      <p:sp>
        <p:nvSpPr>
          <p:cNvPr id="8" name="Shape 6"/>
          <p:cNvSpPr/>
          <p:nvPr/>
        </p:nvSpPr>
        <p:spPr>
          <a:xfrm>
            <a:off x="2240280" y="1828800"/>
            <a:ext cx="5129784" cy="457200"/>
          </a:xfrm>
          <a:prstGeom prst="rect">
            <a:avLst/>
          </a:prstGeom>
          <a:solidFill>
            <a:srgbClr val="FAFAF8"/>
          </a:solidFill>
          <a:ln w="12700">
            <a:solidFill>
              <a:srgbClr val="FAFAF8"/>
            </a:solidFill>
            <a:prstDash val="solid"/>
          </a:ln>
        </p:spPr>
      </p:sp>
      <p:sp>
        <p:nvSpPr>
          <p:cNvPr id="9" name="Shape 7"/>
          <p:cNvSpPr/>
          <p:nvPr/>
        </p:nvSpPr>
        <p:spPr>
          <a:xfrm>
            <a:off x="2281318" y="1828800"/>
            <a:ext cx="54718" cy="457200"/>
          </a:xfrm>
          <a:prstGeom prst="rect">
            <a:avLst/>
          </a:prstGeom>
          <a:solidFill>
            <a:srgbClr val="13213A"/>
          </a:solidFill>
          <a:ln w="12700">
            <a:solidFill>
              <a:srgbClr val="13213A"/>
            </a:solidFill>
            <a:prstDash val="solid"/>
          </a:ln>
        </p:spPr>
      </p:sp>
      <p:sp>
        <p:nvSpPr>
          <p:cNvPr id="10" name="Text 8"/>
          <p:cNvSpPr/>
          <p:nvPr/>
        </p:nvSpPr>
        <p:spPr>
          <a:xfrm>
            <a:off x="2052718" y="1581912"/>
            <a:ext cx="511918" cy="219456"/>
          </a:xfrm>
          <a:prstGeom prst="rect">
            <a:avLst/>
          </a:prstGeom>
          <a:noFill/>
          <a:ln/>
        </p:spPr>
        <p:txBody>
          <a:bodyPr wrap="square" lIns="0" tIns="0" rIns="0" bIns="0" rtlCol="0" anchor="t"/>
          <a:lstStyle/>
          <a:p>
            <a:pPr algn="ctr" indent="0" marL="0">
              <a:lnSpc>
                <a:spcPct val="112000"/>
              </a:lnSpc>
              <a:buNone/>
            </a:pPr>
            <a:r>
              <a:rPr lang="zh-CN" altLang="en-US" sz="950" b="1" dirty="0">
                <a:solidFill>
                  <a:srgbClr val="1A1D23"/>
                </a:solidFill>
                <a:latin typeface="Microsoft YaHei" pitchFamily="34" charset="0"/>
                <a:ea typeface="Microsoft YaHei" pitchFamily="34" charset="-122"/>
                <a:cs typeface="Microsoft YaHei" pitchFamily="34" charset="-120"/>
              </a:rPr>
              <a:t>RD</a:t>
            </a:r>
            <a:endParaRPr lang="zh-CN" sz="950" dirty="0"/>
          </a:p>
        </p:txBody>
      </p:sp>
      <p:sp>
        <p:nvSpPr>
          <p:cNvPr id="11" name="Shape 9"/>
          <p:cNvSpPr/>
          <p:nvPr/>
        </p:nvSpPr>
        <p:spPr>
          <a:xfrm>
            <a:off x="2336036" y="1828800"/>
            <a:ext cx="1696249" cy="457200"/>
          </a:xfrm>
          <a:prstGeom prst="rect">
            <a:avLst/>
          </a:prstGeom>
          <a:solidFill>
            <a:srgbClr val="BBD3F2"/>
          </a:solidFill>
          <a:ln w="12700">
            <a:solidFill>
              <a:srgbClr val="BBD3F2"/>
            </a:solidFill>
            <a:prstDash val="solid"/>
          </a:ln>
        </p:spPr>
      </p:sp>
      <p:sp>
        <p:nvSpPr>
          <p:cNvPr id="12" name="Text 10"/>
          <p:cNvSpPr/>
          <p:nvPr/>
        </p:nvSpPr>
        <p:spPr>
          <a:xfrm>
            <a:off x="2336036" y="1828800"/>
            <a:ext cx="1696249" cy="457200"/>
          </a:xfrm>
          <a:prstGeom prst="rect">
            <a:avLst/>
          </a:prstGeom>
          <a:noFill/>
          <a:ln/>
        </p:spPr>
        <p:txBody>
          <a:bodyPr wrap="square" lIns="0" tIns="0" rIns="0" bIns="0" rtlCol="0" anchor="ctr"/>
          <a:lstStyle/>
          <a:p>
            <a:pPr algn="ctr" indent="0" marL="0">
              <a:lnSpc>
                <a:spcPct val="112000"/>
              </a:lnSpc>
              <a:buNone/>
            </a:pPr>
            <a:r>
              <a:rPr lang="zh-CN" altLang="en-US" sz="1050" dirty="0">
                <a:solidFill>
                  <a:srgbClr val="1A1D23"/>
                </a:solidFill>
                <a:latin typeface="Microsoft YaHei" pitchFamily="34" charset="0"/>
                <a:ea typeface="Microsoft YaHei" pitchFamily="34" charset="-122"/>
                <a:cs typeface="Microsoft YaHei" pitchFamily="34" charset="-120"/>
              </a:rPr>
              <a:t>读延迟 RL</a:t>
            </a:r>
            <a:endParaRPr lang="zh-CN" sz="1050" dirty="0"/>
          </a:p>
        </p:txBody>
      </p:sp>
      <p:sp>
        <p:nvSpPr>
          <p:cNvPr id="13" name="Shape 11"/>
          <p:cNvSpPr/>
          <p:nvPr/>
        </p:nvSpPr>
        <p:spPr>
          <a:xfrm>
            <a:off x="4032285" y="1828800"/>
            <a:ext cx="109435" cy="457200"/>
          </a:xfrm>
          <a:prstGeom prst="rect">
            <a:avLst/>
          </a:prstGeom>
          <a:solidFill>
            <a:srgbClr val="2A78D6"/>
          </a:solidFill>
          <a:ln w="12700">
            <a:solidFill>
              <a:srgbClr val="2A78D6"/>
            </a:solidFill>
            <a:prstDash val="solid"/>
          </a:ln>
        </p:spPr>
      </p:sp>
      <p:sp>
        <p:nvSpPr>
          <p:cNvPr id="14" name="Text 12"/>
          <p:cNvSpPr/>
          <p:nvPr/>
        </p:nvSpPr>
        <p:spPr>
          <a:xfrm>
            <a:off x="4233160" y="1828800"/>
            <a:ext cx="914400" cy="457200"/>
          </a:xfrm>
          <a:prstGeom prst="rect">
            <a:avLst/>
          </a:prstGeom>
          <a:noFill/>
          <a:ln/>
        </p:spPr>
        <p:txBody>
          <a:bodyPr wrap="square" lIns="0" tIns="0" rIns="0" bIns="0" rtlCol="0" anchor="ctr"/>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22.2 ns</a:t>
            </a:r>
            <a:endParaRPr lang="zh-CN" sz="1500" dirty="0"/>
          </a:p>
        </p:txBody>
      </p:sp>
      <p:sp>
        <p:nvSpPr>
          <p:cNvPr id="15" name="Text 13"/>
          <p:cNvSpPr/>
          <p:nvPr/>
        </p:nvSpPr>
        <p:spPr>
          <a:xfrm>
            <a:off x="548640" y="2862072"/>
            <a:ext cx="1554480" cy="292608"/>
          </a:xfrm>
          <a:prstGeom prst="rect">
            <a:avLst/>
          </a:prstGeom>
          <a:noFill/>
          <a:ln/>
        </p:spPr>
        <p:txBody>
          <a:bodyPr wrap="square" lIns="0" tIns="0" rIns="0" bIns="0" rtlCol="0" anchor="t"/>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未开行</a:t>
            </a:r>
            <a:endParaRPr lang="zh-CN" sz="1500" dirty="0"/>
          </a:p>
        </p:txBody>
      </p:sp>
      <p:sp>
        <p:nvSpPr>
          <p:cNvPr id="16" name="Text 14"/>
          <p:cNvSpPr/>
          <p:nvPr/>
        </p:nvSpPr>
        <p:spPr>
          <a:xfrm>
            <a:off x="548640" y="3154680"/>
            <a:ext cx="1554480" cy="256032"/>
          </a:xfrm>
          <a:prstGeom prst="rect">
            <a:avLst/>
          </a:prstGeom>
          <a:noFill/>
          <a:ln/>
        </p:spPr>
        <p:txBody>
          <a:bodyPr wrap="square" lIns="0" tIns="0" rIns="0" bIns="0" rtlCol="0" anchor="t"/>
          <a:lstStyle/>
          <a:p>
            <a:pPr algn="l"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bank 空闲</a:t>
            </a:r>
            <a:endParaRPr lang="zh-CN" sz="1100" dirty="0"/>
          </a:p>
        </p:txBody>
      </p:sp>
      <p:sp>
        <p:nvSpPr>
          <p:cNvPr id="17" name="Shape 15"/>
          <p:cNvSpPr/>
          <p:nvPr/>
        </p:nvSpPr>
        <p:spPr>
          <a:xfrm>
            <a:off x="2240280" y="2880360"/>
            <a:ext cx="5129784" cy="457200"/>
          </a:xfrm>
          <a:prstGeom prst="rect">
            <a:avLst/>
          </a:prstGeom>
          <a:solidFill>
            <a:srgbClr val="FAFAF8"/>
          </a:solidFill>
          <a:ln w="12700">
            <a:solidFill>
              <a:srgbClr val="FAFAF8"/>
            </a:solidFill>
            <a:prstDash val="solid"/>
          </a:ln>
        </p:spPr>
      </p:sp>
      <p:sp>
        <p:nvSpPr>
          <p:cNvPr id="18" name="Shape 16"/>
          <p:cNvSpPr/>
          <p:nvPr/>
        </p:nvSpPr>
        <p:spPr>
          <a:xfrm>
            <a:off x="2240280" y="2880360"/>
            <a:ext cx="82077" cy="457200"/>
          </a:xfrm>
          <a:prstGeom prst="rect">
            <a:avLst/>
          </a:prstGeom>
          <a:solidFill>
            <a:srgbClr val="13213A"/>
          </a:solidFill>
          <a:ln w="12700">
            <a:solidFill>
              <a:srgbClr val="13213A"/>
            </a:solidFill>
            <a:prstDash val="solid"/>
          </a:ln>
        </p:spPr>
      </p:sp>
      <p:sp>
        <p:nvSpPr>
          <p:cNvPr id="19" name="Text 17"/>
          <p:cNvSpPr/>
          <p:nvPr/>
        </p:nvSpPr>
        <p:spPr>
          <a:xfrm>
            <a:off x="2011680" y="2633472"/>
            <a:ext cx="539277" cy="219456"/>
          </a:xfrm>
          <a:prstGeom prst="rect">
            <a:avLst/>
          </a:prstGeom>
          <a:noFill/>
          <a:ln/>
        </p:spPr>
        <p:txBody>
          <a:bodyPr wrap="square" lIns="0" tIns="0" rIns="0" bIns="0" rtlCol="0" anchor="t"/>
          <a:lstStyle/>
          <a:p>
            <a:pPr algn="ctr" indent="0" marL="0">
              <a:lnSpc>
                <a:spcPct val="112000"/>
              </a:lnSpc>
              <a:buNone/>
            </a:pPr>
            <a:r>
              <a:rPr lang="zh-CN" altLang="en-US" sz="950" b="1" dirty="0">
                <a:solidFill>
                  <a:srgbClr val="1A1D23"/>
                </a:solidFill>
                <a:latin typeface="Microsoft YaHei" pitchFamily="34" charset="0"/>
                <a:ea typeface="Microsoft YaHei" pitchFamily="34" charset="-122"/>
                <a:cs typeface="Microsoft YaHei" pitchFamily="34" charset="-120"/>
              </a:rPr>
              <a:t>ACT</a:t>
            </a:r>
            <a:endParaRPr lang="zh-CN" sz="950" dirty="0"/>
          </a:p>
        </p:txBody>
      </p:sp>
      <p:sp>
        <p:nvSpPr>
          <p:cNvPr id="20" name="Shape 18"/>
          <p:cNvSpPr/>
          <p:nvPr/>
        </p:nvSpPr>
        <p:spPr>
          <a:xfrm>
            <a:off x="2322357" y="2880360"/>
            <a:ext cx="1176430" cy="457200"/>
          </a:xfrm>
          <a:prstGeom prst="rect">
            <a:avLst/>
          </a:prstGeom>
          <a:solidFill>
            <a:srgbClr val="D9D9D4"/>
          </a:solidFill>
          <a:ln w="12700">
            <a:solidFill>
              <a:srgbClr val="D9D9D4"/>
            </a:solidFill>
            <a:prstDash val="solid"/>
          </a:ln>
        </p:spPr>
      </p:sp>
      <p:sp>
        <p:nvSpPr>
          <p:cNvPr id="21" name="Text 19"/>
          <p:cNvSpPr/>
          <p:nvPr/>
        </p:nvSpPr>
        <p:spPr>
          <a:xfrm>
            <a:off x="2322357" y="2880360"/>
            <a:ext cx="1176430" cy="457200"/>
          </a:xfrm>
          <a:prstGeom prst="rect">
            <a:avLst/>
          </a:prstGeom>
          <a:noFill/>
          <a:ln/>
        </p:spPr>
        <p:txBody>
          <a:bodyPr wrap="square" lIns="0" tIns="0" rIns="0" bIns="0" rtlCol="0" anchor="ctr"/>
          <a:lstStyle/>
          <a:p>
            <a:pPr algn="ctr" indent="0" marL="0">
              <a:lnSpc>
                <a:spcPct val="112000"/>
              </a:lnSpc>
              <a:buNone/>
            </a:pPr>
            <a:r>
              <a:rPr lang="zh-CN" altLang="en-US" sz="1050" dirty="0">
                <a:solidFill>
                  <a:srgbClr val="1A1D23"/>
                </a:solidFill>
                <a:latin typeface="Microsoft YaHei" pitchFamily="34" charset="0"/>
                <a:ea typeface="Microsoft YaHei" pitchFamily="34" charset="-122"/>
                <a:cs typeface="Microsoft YaHei" pitchFamily="34" charset="-120"/>
              </a:rPr>
              <a:t>tRCD 开行</a:t>
            </a:r>
            <a:endParaRPr lang="zh-CN" sz="1050" dirty="0"/>
          </a:p>
        </p:txBody>
      </p:sp>
      <p:sp>
        <p:nvSpPr>
          <p:cNvPr id="22" name="Shape 20"/>
          <p:cNvSpPr/>
          <p:nvPr/>
        </p:nvSpPr>
        <p:spPr>
          <a:xfrm>
            <a:off x="3498787" y="2880360"/>
            <a:ext cx="54718" cy="457200"/>
          </a:xfrm>
          <a:prstGeom prst="rect">
            <a:avLst/>
          </a:prstGeom>
          <a:solidFill>
            <a:srgbClr val="13213A"/>
          </a:solidFill>
          <a:ln w="12700">
            <a:solidFill>
              <a:srgbClr val="13213A"/>
            </a:solidFill>
            <a:prstDash val="solid"/>
          </a:ln>
        </p:spPr>
      </p:sp>
      <p:sp>
        <p:nvSpPr>
          <p:cNvPr id="23" name="Text 21"/>
          <p:cNvSpPr/>
          <p:nvPr/>
        </p:nvSpPr>
        <p:spPr>
          <a:xfrm>
            <a:off x="3270187" y="2633472"/>
            <a:ext cx="511918" cy="219456"/>
          </a:xfrm>
          <a:prstGeom prst="rect">
            <a:avLst/>
          </a:prstGeom>
          <a:noFill/>
          <a:ln/>
        </p:spPr>
        <p:txBody>
          <a:bodyPr wrap="square" lIns="0" tIns="0" rIns="0" bIns="0" rtlCol="0" anchor="t"/>
          <a:lstStyle/>
          <a:p>
            <a:pPr algn="ctr" indent="0" marL="0">
              <a:lnSpc>
                <a:spcPct val="112000"/>
              </a:lnSpc>
              <a:buNone/>
            </a:pPr>
            <a:r>
              <a:rPr lang="zh-CN" altLang="en-US" sz="950" b="1" dirty="0">
                <a:solidFill>
                  <a:srgbClr val="1A1D23"/>
                </a:solidFill>
                <a:latin typeface="Microsoft YaHei" pitchFamily="34" charset="0"/>
                <a:ea typeface="Microsoft YaHei" pitchFamily="34" charset="-122"/>
                <a:cs typeface="Microsoft YaHei" pitchFamily="34" charset="-120"/>
              </a:rPr>
              <a:t>RD</a:t>
            </a:r>
            <a:endParaRPr lang="zh-CN" sz="950" dirty="0"/>
          </a:p>
        </p:txBody>
      </p:sp>
      <p:sp>
        <p:nvSpPr>
          <p:cNvPr id="24" name="Shape 22"/>
          <p:cNvSpPr/>
          <p:nvPr/>
        </p:nvSpPr>
        <p:spPr>
          <a:xfrm>
            <a:off x="3553505" y="2880360"/>
            <a:ext cx="1696249" cy="457200"/>
          </a:xfrm>
          <a:prstGeom prst="rect">
            <a:avLst/>
          </a:prstGeom>
          <a:solidFill>
            <a:srgbClr val="BBD3F2"/>
          </a:solidFill>
          <a:ln w="12700">
            <a:solidFill>
              <a:srgbClr val="BBD3F2"/>
            </a:solidFill>
            <a:prstDash val="solid"/>
          </a:ln>
        </p:spPr>
      </p:sp>
      <p:sp>
        <p:nvSpPr>
          <p:cNvPr id="25" name="Text 23"/>
          <p:cNvSpPr/>
          <p:nvPr/>
        </p:nvSpPr>
        <p:spPr>
          <a:xfrm>
            <a:off x="3553505" y="2880360"/>
            <a:ext cx="1696249" cy="457200"/>
          </a:xfrm>
          <a:prstGeom prst="rect">
            <a:avLst/>
          </a:prstGeom>
          <a:noFill/>
          <a:ln/>
        </p:spPr>
        <p:txBody>
          <a:bodyPr wrap="square" lIns="0" tIns="0" rIns="0" bIns="0" rtlCol="0" anchor="ctr"/>
          <a:lstStyle/>
          <a:p>
            <a:pPr algn="ctr" indent="0" marL="0">
              <a:lnSpc>
                <a:spcPct val="112000"/>
              </a:lnSpc>
              <a:buNone/>
            </a:pPr>
            <a:r>
              <a:rPr lang="zh-CN" altLang="en-US" sz="1050" dirty="0">
                <a:solidFill>
                  <a:srgbClr val="1A1D23"/>
                </a:solidFill>
                <a:latin typeface="Microsoft YaHei" pitchFamily="34" charset="0"/>
                <a:ea typeface="Microsoft YaHei" pitchFamily="34" charset="-122"/>
                <a:cs typeface="Microsoft YaHei" pitchFamily="34" charset="-120"/>
              </a:rPr>
              <a:t>读延迟 RL</a:t>
            </a:r>
            <a:endParaRPr lang="zh-CN" sz="1050" dirty="0"/>
          </a:p>
        </p:txBody>
      </p:sp>
      <p:sp>
        <p:nvSpPr>
          <p:cNvPr id="26" name="Shape 24"/>
          <p:cNvSpPr/>
          <p:nvPr/>
        </p:nvSpPr>
        <p:spPr>
          <a:xfrm>
            <a:off x="5249753" y="2880360"/>
            <a:ext cx="109435" cy="457200"/>
          </a:xfrm>
          <a:prstGeom prst="rect">
            <a:avLst/>
          </a:prstGeom>
          <a:solidFill>
            <a:srgbClr val="2A78D6"/>
          </a:solidFill>
          <a:ln w="12700">
            <a:solidFill>
              <a:srgbClr val="2A78D6"/>
            </a:solidFill>
            <a:prstDash val="solid"/>
          </a:ln>
        </p:spPr>
      </p:sp>
      <p:sp>
        <p:nvSpPr>
          <p:cNvPr id="27" name="Text 25"/>
          <p:cNvSpPr/>
          <p:nvPr/>
        </p:nvSpPr>
        <p:spPr>
          <a:xfrm>
            <a:off x="5450629" y="2880360"/>
            <a:ext cx="914400" cy="457200"/>
          </a:xfrm>
          <a:prstGeom prst="rect">
            <a:avLst/>
          </a:prstGeom>
          <a:noFill/>
          <a:ln/>
        </p:spPr>
        <p:txBody>
          <a:bodyPr wrap="square" lIns="0" tIns="0" rIns="0" bIns="0" rtlCol="0" anchor="ctr"/>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36.5 ns</a:t>
            </a:r>
            <a:endParaRPr lang="zh-CN" sz="1500" dirty="0"/>
          </a:p>
        </p:txBody>
      </p:sp>
      <p:sp>
        <p:nvSpPr>
          <p:cNvPr id="28" name="Text 26"/>
          <p:cNvSpPr/>
          <p:nvPr/>
        </p:nvSpPr>
        <p:spPr>
          <a:xfrm>
            <a:off x="548640" y="3913632"/>
            <a:ext cx="1554480" cy="292608"/>
          </a:xfrm>
          <a:prstGeom prst="rect">
            <a:avLst/>
          </a:prstGeom>
          <a:noFill/>
          <a:ln/>
        </p:spPr>
        <p:txBody>
          <a:bodyPr wrap="square" lIns="0" tIns="0" rIns="0" bIns="0" rtlCol="0" anchor="t"/>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行冲突</a:t>
            </a:r>
            <a:endParaRPr lang="zh-CN" sz="1500" dirty="0"/>
          </a:p>
        </p:txBody>
      </p:sp>
      <p:sp>
        <p:nvSpPr>
          <p:cNvPr id="29" name="Text 27"/>
          <p:cNvSpPr/>
          <p:nvPr/>
        </p:nvSpPr>
        <p:spPr>
          <a:xfrm>
            <a:off x="548640" y="4206240"/>
            <a:ext cx="1554480" cy="256032"/>
          </a:xfrm>
          <a:prstGeom prst="rect">
            <a:avLst/>
          </a:prstGeom>
          <a:noFill/>
          <a:ln/>
        </p:spPr>
        <p:txBody>
          <a:bodyPr wrap="square" lIns="0" tIns="0" rIns="0" bIns="0" rtlCol="0" anchor="t"/>
          <a:lstStyle/>
          <a:p>
            <a:pPr algn="l" indent="0" marL="0">
              <a:lnSpc>
                <a:spcPct val="112000"/>
              </a:lnSpc>
              <a:buNone/>
            </a:pPr>
            <a:r>
              <a:rPr lang="zh-CN" altLang="en-US" sz="1100" dirty="0">
                <a:solidFill>
                  <a:srgbClr val="52514E"/>
                </a:solidFill>
                <a:latin typeface="Microsoft YaHei" pitchFamily="34" charset="0"/>
                <a:ea typeface="Microsoft YaHei" pitchFamily="34" charset="-122"/>
                <a:cs typeface="Microsoft YaHei" pitchFamily="34" charset="-120"/>
              </a:rPr>
              <a:t>开着别的行</a:t>
            </a:r>
            <a:endParaRPr lang="zh-CN" sz="1100" dirty="0"/>
          </a:p>
        </p:txBody>
      </p:sp>
      <p:sp>
        <p:nvSpPr>
          <p:cNvPr id="30" name="Shape 28"/>
          <p:cNvSpPr/>
          <p:nvPr/>
        </p:nvSpPr>
        <p:spPr>
          <a:xfrm>
            <a:off x="2240280" y="3931920"/>
            <a:ext cx="5129784" cy="457200"/>
          </a:xfrm>
          <a:prstGeom prst="rect">
            <a:avLst/>
          </a:prstGeom>
          <a:solidFill>
            <a:srgbClr val="FAFAF8"/>
          </a:solidFill>
          <a:ln w="12700">
            <a:solidFill>
              <a:srgbClr val="FAFAF8"/>
            </a:solidFill>
            <a:prstDash val="solid"/>
          </a:ln>
        </p:spPr>
      </p:sp>
      <p:sp>
        <p:nvSpPr>
          <p:cNvPr id="31" name="Shape 29"/>
          <p:cNvSpPr/>
          <p:nvPr/>
        </p:nvSpPr>
        <p:spPr>
          <a:xfrm>
            <a:off x="2253959" y="3931920"/>
            <a:ext cx="45720" cy="457200"/>
          </a:xfrm>
          <a:prstGeom prst="rect">
            <a:avLst/>
          </a:prstGeom>
          <a:solidFill>
            <a:srgbClr val="13213A"/>
          </a:solidFill>
          <a:ln w="12700">
            <a:solidFill>
              <a:srgbClr val="13213A"/>
            </a:solidFill>
            <a:prstDash val="solid"/>
          </a:ln>
        </p:spPr>
      </p:sp>
      <p:sp>
        <p:nvSpPr>
          <p:cNvPr id="32" name="Text 30"/>
          <p:cNvSpPr/>
          <p:nvPr/>
        </p:nvSpPr>
        <p:spPr>
          <a:xfrm>
            <a:off x="2025359" y="3685032"/>
            <a:ext cx="502920" cy="219456"/>
          </a:xfrm>
          <a:prstGeom prst="rect">
            <a:avLst/>
          </a:prstGeom>
          <a:noFill/>
          <a:ln/>
        </p:spPr>
        <p:txBody>
          <a:bodyPr wrap="square" lIns="0" tIns="0" rIns="0" bIns="0" rtlCol="0" anchor="t"/>
          <a:lstStyle/>
          <a:p>
            <a:pPr algn="ctr" indent="0" marL="0">
              <a:lnSpc>
                <a:spcPct val="112000"/>
              </a:lnSpc>
              <a:buNone/>
            </a:pPr>
            <a:r>
              <a:rPr lang="zh-CN" altLang="en-US" sz="950" b="1" dirty="0">
                <a:solidFill>
                  <a:srgbClr val="1A1D23"/>
                </a:solidFill>
                <a:latin typeface="Microsoft YaHei" pitchFamily="34" charset="0"/>
                <a:ea typeface="Microsoft YaHei" pitchFamily="34" charset="-122"/>
                <a:cs typeface="Microsoft YaHei" pitchFamily="34" charset="-120"/>
              </a:rPr>
              <a:t>PRE</a:t>
            </a:r>
            <a:endParaRPr lang="zh-CN" sz="950" dirty="0"/>
          </a:p>
        </p:txBody>
      </p:sp>
      <p:sp>
        <p:nvSpPr>
          <p:cNvPr id="33" name="Shape 31"/>
          <p:cNvSpPr/>
          <p:nvPr/>
        </p:nvSpPr>
        <p:spPr>
          <a:xfrm>
            <a:off x="2281318" y="3931920"/>
            <a:ext cx="1285866" cy="457200"/>
          </a:xfrm>
          <a:prstGeom prst="rect">
            <a:avLst/>
          </a:prstGeom>
          <a:solidFill>
            <a:srgbClr val="D9D9D4"/>
          </a:solidFill>
          <a:ln w="12700">
            <a:solidFill>
              <a:srgbClr val="D9D9D4"/>
            </a:solidFill>
            <a:prstDash val="solid"/>
          </a:ln>
        </p:spPr>
      </p:sp>
      <p:sp>
        <p:nvSpPr>
          <p:cNvPr id="34" name="Text 32"/>
          <p:cNvSpPr/>
          <p:nvPr/>
        </p:nvSpPr>
        <p:spPr>
          <a:xfrm>
            <a:off x="2281318" y="3931920"/>
            <a:ext cx="1285866" cy="457200"/>
          </a:xfrm>
          <a:prstGeom prst="rect">
            <a:avLst/>
          </a:prstGeom>
          <a:noFill/>
          <a:ln/>
        </p:spPr>
        <p:txBody>
          <a:bodyPr wrap="square" lIns="0" tIns="0" rIns="0" bIns="0" rtlCol="0" anchor="ctr"/>
          <a:lstStyle/>
          <a:p>
            <a:pPr algn="ctr" indent="0" marL="0">
              <a:lnSpc>
                <a:spcPct val="112000"/>
              </a:lnSpc>
              <a:buNone/>
            </a:pPr>
            <a:r>
              <a:rPr lang="zh-CN" altLang="en-US" sz="1050" dirty="0">
                <a:solidFill>
                  <a:srgbClr val="1A1D23"/>
                </a:solidFill>
                <a:latin typeface="Microsoft YaHei" pitchFamily="34" charset="0"/>
                <a:ea typeface="Microsoft YaHei" pitchFamily="34" charset="-122"/>
                <a:cs typeface="Microsoft YaHei" pitchFamily="34" charset="-120"/>
              </a:rPr>
              <a:t>tRP 关行</a:t>
            </a:r>
            <a:endParaRPr lang="zh-CN" sz="1050" dirty="0"/>
          </a:p>
        </p:txBody>
      </p:sp>
      <p:sp>
        <p:nvSpPr>
          <p:cNvPr id="35" name="Shape 33"/>
          <p:cNvSpPr/>
          <p:nvPr/>
        </p:nvSpPr>
        <p:spPr>
          <a:xfrm>
            <a:off x="3594543" y="3931920"/>
            <a:ext cx="82077" cy="457200"/>
          </a:xfrm>
          <a:prstGeom prst="rect">
            <a:avLst/>
          </a:prstGeom>
          <a:solidFill>
            <a:srgbClr val="13213A"/>
          </a:solidFill>
          <a:ln w="12700">
            <a:solidFill>
              <a:srgbClr val="13213A"/>
            </a:solidFill>
            <a:prstDash val="solid"/>
          </a:ln>
        </p:spPr>
      </p:sp>
      <p:sp>
        <p:nvSpPr>
          <p:cNvPr id="36" name="Text 34"/>
          <p:cNvSpPr/>
          <p:nvPr/>
        </p:nvSpPr>
        <p:spPr>
          <a:xfrm>
            <a:off x="3365943" y="3685032"/>
            <a:ext cx="539277" cy="219456"/>
          </a:xfrm>
          <a:prstGeom prst="rect">
            <a:avLst/>
          </a:prstGeom>
          <a:noFill/>
          <a:ln/>
        </p:spPr>
        <p:txBody>
          <a:bodyPr wrap="square" lIns="0" tIns="0" rIns="0" bIns="0" rtlCol="0" anchor="t"/>
          <a:lstStyle/>
          <a:p>
            <a:pPr algn="ctr" indent="0" marL="0">
              <a:lnSpc>
                <a:spcPct val="112000"/>
              </a:lnSpc>
              <a:buNone/>
            </a:pPr>
            <a:r>
              <a:rPr lang="zh-CN" altLang="en-US" sz="950" b="1" dirty="0">
                <a:solidFill>
                  <a:srgbClr val="1A1D23"/>
                </a:solidFill>
                <a:latin typeface="Microsoft YaHei" pitchFamily="34" charset="0"/>
                <a:ea typeface="Microsoft YaHei" pitchFamily="34" charset="-122"/>
                <a:cs typeface="Microsoft YaHei" pitchFamily="34" charset="-120"/>
              </a:rPr>
              <a:t>ACT</a:t>
            </a:r>
            <a:endParaRPr lang="zh-CN" sz="950" dirty="0"/>
          </a:p>
        </p:txBody>
      </p:sp>
      <p:sp>
        <p:nvSpPr>
          <p:cNvPr id="37" name="Shape 35"/>
          <p:cNvSpPr/>
          <p:nvPr/>
        </p:nvSpPr>
        <p:spPr>
          <a:xfrm>
            <a:off x="3676620" y="3931920"/>
            <a:ext cx="1176430" cy="457200"/>
          </a:xfrm>
          <a:prstGeom prst="rect">
            <a:avLst/>
          </a:prstGeom>
          <a:solidFill>
            <a:srgbClr val="D9D9D4"/>
          </a:solidFill>
          <a:ln w="12700">
            <a:solidFill>
              <a:srgbClr val="D9D9D4"/>
            </a:solidFill>
            <a:prstDash val="solid"/>
          </a:ln>
        </p:spPr>
      </p:sp>
      <p:sp>
        <p:nvSpPr>
          <p:cNvPr id="38" name="Text 36"/>
          <p:cNvSpPr/>
          <p:nvPr/>
        </p:nvSpPr>
        <p:spPr>
          <a:xfrm>
            <a:off x="3676620" y="3931920"/>
            <a:ext cx="1176430" cy="457200"/>
          </a:xfrm>
          <a:prstGeom prst="rect">
            <a:avLst/>
          </a:prstGeom>
          <a:noFill/>
          <a:ln/>
        </p:spPr>
        <p:txBody>
          <a:bodyPr wrap="square" lIns="0" tIns="0" rIns="0" bIns="0" rtlCol="0" anchor="ctr"/>
          <a:lstStyle/>
          <a:p>
            <a:pPr algn="ctr" indent="0" marL="0">
              <a:lnSpc>
                <a:spcPct val="112000"/>
              </a:lnSpc>
              <a:buNone/>
            </a:pPr>
            <a:r>
              <a:rPr lang="zh-CN" altLang="en-US" sz="1050" dirty="0">
                <a:solidFill>
                  <a:srgbClr val="1A1D23"/>
                </a:solidFill>
                <a:latin typeface="Microsoft YaHei" pitchFamily="34" charset="0"/>
                <a:ea typeface="Microsoft YaHei" pitchFamily="34" charset="-122"/>
                <a:cs typeface="Microsoft YaHei" pitchFamily="34" charset="-120"/>
              </a:rPr>
              <a:t>tRCD 开行</a:t>
            </a:r>
            <a:endParaRPr lang="zh-CN" sz="1050" dirty="0"/>
          </a:p>
        </p:txBody>
      </p:sp>
      <p:sp>
        <p:nvSpPr>
          <p:cNvPr id="39" name="Shape 37"/>
          <p:cNvSpPr/>
          <p:nvPr/>
        </p:nvSpPr>
        <p:spPr>
          <a:xfrm>
            <a:off x="4853050" y="3931920"/>
            <a:ext cx="54718" cy="457200"/>
          </a:xfrm>
          <a:prstGeom prst="rect">
            <a:avLst/>
          </a:prstGeom>
          <a:solidFill>
            <a:srgbClr val="13213A"/>
          </a:solidFill>
          <a:ln w="12700">
            <a:solidFill>
              <a:srgbClr val="13213A"/>
            </a:solidFill>
            <a:prstDash val="solid"/>
          </a:ln>
        </p:spPr>
      </p:sp>
      <p:sp>
        <p:nvSpPr>
          <p:cNvPr id="40" name="Text 38"/>
          <p:cNvSpPr/>
          <p:nvPr/>
        </p:nvSpPr>
        <p:spPr>
          <a:xfrm>
            <a:off x="4624450" y="3685032"/>
            <a:ext cx="511918" cy="219456"/>
          </a:xfrm>
          <a:prstGeom prst="rect">
            <a:avLst/>
          </a:prstGeom>
          <a:noFill/>
          <a:ln/>
        </p:spPr>
        <p:txBody>
          <a:bodyPr wrap="square" lIns="0" tIns="0" rIns="0" bIns="0" rtlCol="0" anchor="t"/>
          <a:lstStyle/>
          <a:p>
            <a:pPr algn="ctr" indent="0" marL="0">
              <a:lnSpc>
                <a:spcPct val="112000"/>
              </a:lnSpc>
              <a:buNone/>
            </a:pPr>
            <a:r>
              <a:rPr lang="zh-CN" altLang="en-US" sz="950" b="1" dirty="0">
                <a:solidFill>
                  <a:srgbClr val="1A1D23"/>
                </a:solidFill>
                <a:latin typeface="Microsoft YaHei" pitchFamily="34" charset="0"/>
                <a:ea typeface="Microsoft YaHei" pitchFamily="34" charset="-122"/>
                <a:cs typeface="Microsoft YaHei" pitchFamily="34" charset="-120"/>
              </a:rPr>
              <a:t>RD</a:t>
            </a:r>
            <a:endParaRPr lang="zh-CN" sz="950" dirty="0"/>
          </a:p>
        </p:txBody>
      </p:sp>
      <p:sp>
        <p:nvSpPr>
          <p:cNvPr id="41" name="Shape 39"/>
          <p:cNvSpPr/>
          <p:nvPr/>
        </p:nvSpPr>
        <p:spPr>
          <a:xfrm>
            <a:off x="4907768" y="3931920"/>
            <a:ext cx="1696249" cy="457200"/>
          </a:xfrm>
          <a:prstGeom prst="rect">
            <a:avLst/>
          </a:prstGeom>
          <a:solidFill>
            <a:srgbClr val="BBD3F2"/>
          </a:solidFill>
          <a:ln w="12700">
            <a:solidFill>
              <a:srgbClr val="BBD3F2"/>
            </a:solidFill>
            <a:prstDash val="solid"/>
          </a:ln>
        </p:spPr>
      </p:sp>
      <p:sp>
        <p:nvSpPr>
          <p:cNvPr id="42" name="Text 40"/>
          <p:cNvSpPr/>
          <p:nvPr/>
        </p:nvSpPr>
        <p:spPr>
          <a:xfrm>
            <a:off x="4907768" y="3931920"/>
            <a:ext cx="1696249" cy="457200"/>
          </a:xfrm>
          <a:prstGeom prst="rect">
            <a:avLst/>
          </a:prstGeom>
          <a:noFill/>
          <a:ln/>
        </p:spPr>
        <p:txBody>
          <a:bodyPr wrap="square" lIns="0" tIns="0" rIns="0" bIns="0" rtlCol="0" anchor="ctr"/>
          <a:lstStyle/>
          <a:p>
            <a:pPr algn="ctr" indent="0" marL="0">
              <a:lnSpc>
                <a:spcPct val="112000"/>
              </a:lnSpc>
              <a:buNone/>
            </a:pPr>
            <a:r>
              <a:rPr lang="zh-CN" altLang="en-US" sz="1050" dirty="0">
                <a:solidFill>
                  <a:srgbClr val="1A1D23"/>
                </a:solidFill>
                <a:latin typeface="Microsoft YaHei" pitchFamily="34" charset="0"/>
                <a:ea typeface="Microsoft YaHei" pitchFamily="34" charset="-122"/>
                <a:cs typeface="Microsoft YaHei" pitchFamily="34" charset="-120"/>
              </a:rPr>
              <a:t>读延迟 RL</a:t>
            </a:r>
            <a:endParaRPr lang="zh-CN" sz="1050" dirty="0"/>
          </a:p>
        </p:txBody>
      </p:sp>
      <p:sp>
        <p:nvSpPr>
          <p:cNvPr id="43" name="Shape 41"/>
          <p:cNvSpPr/>
          <p:nvPr/>
        </p:nvSpPr>
        <p:spPr>
          <a:xfrm>
            <a:off x="6604016" y="3931920"/>
            <a:ext cx="109435" cy="457200"/>
          </a:xfrm>
          <a:prstGeom prst="rect">
            <a:avLst/>
          </a:prstGeom>
          <a:solidFill>
            <a:srgbClr val="2A78D6"/>
          </a:solidFill>
          <a:ln w="12700">
            <a:solidFill>
              <a:srgbClr val="2A78D6"/>
            </a:solidFill>
            <a:prstDash val="solid"/>
          </a:ln>
        </p:spPr>
      </p:sp>
      <p:sp>
        <p:nvSpPr>
          <p:cNvPr id="44" name="Text 42"/>
          <p:cNvSpPr/>
          <p:nvPr/>
        </p:nvSpPr>
        <p:spPr>
          <a:xfrm>
            <a:off x="6804892" y="3931920"/>
            <a:ext cx="914400" cy="457200"/>
          </a:xfrm>
          <a:prstGeom prst="rect">
            <a:avLst/>
          </a:prstGeom>
          <a:noFill/>
          <a:ln/>
        </p:spPr>
        <p:txBody>
          <a:bodyPr wrap="square" lIns="0" tIns="0" rIns="0" bIns="0" rtlCol="0" anchor="ctr"/>
          <a:lstStyle/>
          <a:p>
            <a:pPr algn="l" indent="0" marL="0">
              <a:lnSpc>
                <a:spcPct val="112000"/>
              </a:lnSpc>
              <a:buNone/>
            </a:pPr>
            <a:r>
              <a:rPr lang="zh-CN" altLang="en-US" sz="1500" b="1" dirty="0">
                <a:solidFill>
                  <a:srgbClr val="1A1D23"/>
                </a:solidFill>
                <a:latin typeface="Microsoft YaHei" pitchFamily="34" charset="0"/>
                <a:ea typeface="Microsoft YaHei" pitchFamily="34" charset="-122"/>
                <a:cs typeface="Microsoft YaHei" pitchFamily="34" charset="-120"/>
              </a:rPr>
              <a:t>52.3 ns</a:t>
            </a:r>
            <a:endParaRPr lang="zh-CN" sz="1500" dirty="0"/>
          </a:p>
        </p:txBody>
      </p:sp>
      <p:sp>
        <p:nvSpPr>
          <p:cNvPr id="45" name="Shape 43"/>
          <p:cNvSpPr/>
          <p:nvPr/>
        </p:nvSpPr>
        <p:spPr>
          <a:xfrm>
            <a:off x="2240280" y="4572000"/>
            <a:ext cx="5129784" cy="0"/>
          </a:xfrm>
          <a:prstGeom prst="line">
            <a:avLst/>
          </a:prstGeom>
          <a:noFill/>
          <a:ln w="9525">
            <a:solidFill>
              <a:srgbClr val="8A8A86"/>
            </a:solidFill>
            <a:prstDash val="solid"/>
          </a:ln>
        </p:spPr>
      </p:sp>
      <p:sp>
        <p:nvSpPr>
          <p:cNvPr id="46" name="Shape 44"/>
          <p:cNvSpPr/>
          <p:nvPr/>
        </p:nvSpPr>
        <p:spPr>
          <a:xfrm>
            <a:off x="2240280" y="4572000"/>
            <a:ext cx="0" cy="64008"/>
          </a:xfrm>
          <a:prstGeom prst="line">
            <a:avLst/>
          </a:prstGeom>
          <a:noFill/>
          <a:ln w="9525">
            <a:solidFill>
              <a:srgbClr val="8A8A86"/>
            </a:solidFill>
            <a:prstDash val="solid"/>
          </a:ln>
        </p:spPr>
      </p:sp>
      <p:sp>
        <p:nvSpPr>
          <p:cNvPr id="47" name="Text 45"/>
          <p:cNvSpPr/>
          <p:nvPr/>
        </p:nvSpPr>
        <p:spPr>
          <a:xfrm>
            <a:off x="1965960"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0</a:t>
            </a:r>
            <a:endParaRPr lang="zh-CN" sz="950" dirty="0"/>
          </a:p>
        </p:txBody>
      </p:sp>
      <p:sp>
        <p:nvSpPr>
          <p:cNvPr id="48" name="Shape 46"/>
          <p:cNvSpPr/>
          <p:nvPr/>
        </p:nvSpPr>
        <p:spPr>
          <a:xfrm>
            <a:off x="3095244" y="4572000"/>
            <a:ext cx="0" cy="64008"/>
          </a:xfrm>
          <a:prstGeom prst="line">
            <a:avLst/>
          </a:prstGeom>
          <a:noFill/>
          <a:ln w="9525">
            <a:solidFill>
              <a:srgbClr val="8A8A86"/>
            </a:solidFill>
            <a:prstDash val="solid"/>
          </a:ln>
        </p:spPr>
      </p:sp>
      <p:sp>
        <p:nvSpPr>
          <p:cNvPr id="49" name="Text 47"/>
          <p:cNvSpPr/>
          <p:nvPr/>
        </p:nvSpPr>
        <p:spPr>
          <a:xfrm>
            <a:off x="2820924"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10</a:t>
            </a:r>
            <a:endParaRPr lang="zh-CN" sz="950" dirty="0"/>
          </a:p>
        </p:txBody>
      </p:sp>
      <p:sp>
        <p:nvSpPr>
          <p:cNvPr id="50" name="Shape 48"/>
          <p:cNvSpPr/>
          <p:nvPr/>
        </p:nvSpPr>
        <p:spPr>
          <a:xfrm>
            <a:off x="3950208" y="4572000"/>
            <a:ext cx="0" cy="64008"/>
          </a:xfrm>
          <a:prstGeom prst="line">
            <a:avLst/>
          </a:prstGeom>
          <a:noFill/>
          <a:ln w="9525">
            <a:solidFill>
              <a:srgbClr val="8A8A86"/>
            </a:solidFill>
            <a:prstDash val="solid"/>
          </a:ln>
        </p:spPr>
      </p:sp>
      <p:sp>
        <p:nvSpPr>
          <p:cNvPr id="51" name="Text 49"/>
          <p:cNvSpPr/>
          <p:nvPr/>
        </p:nvSpPr>
        <p:spPr>
          <a:xfrm>
            <a:off x="3675888"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20</a:t>
            </a:r>
            <a:endParaRPr lang="zh-CN" sz="950" dirty="0"/>
          </a:p>
        </p:txBody>
      </p:sp>
      <p:sp>
        <p:nvSpPr>
          <p:cNvPr id="52" name="Shape 50"/>
          <p:cNvSpPr/>
          <p:nvPr/>
        </p:nvSpPr>
        <p:spPr>
          <a:xfrm>
            <a:off x="4805172" y="4572000"/>
            <a:ext cx="0" cy="64008"/>
          </a:xfrm>
          <a:prstGeom prst="line">
            <a:avLst/>
          </a:prstGeom>
          <a:noFill/>
          <a:ln w="9525">
            <a:solidFill>
              <a:srgbClr val="8A8A86"/>
            </a:solidFill>
            <a:prstDash val="solid"/>
          </a:ln>
        </p:spPr>
      </p:sp>
      <p:sp>
        <p:nvSpPr>
          <p:cNvPr id="53" name="Text 51"/>
          <p:cNvSpPr/>
          <p:nvPr/>
        </p:nvSpPr>
        <p:spPr>
          <a:xfrm>
            <a:off x="4530852"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30</a:t>
            </a:r>
            <a:endParaRPr lang="zh-CN" sz="950" dirty="0"/>
          </a:p>
        </p:txBody>
      </p:sp>
      <p:sp>
        <p:nvSpPr>
          <p:cNvPr id="54" name="Shape 52"/>
          <p:cNvSpPr/>
          <p:nvPr/>
        </p:nvSpPr>
        <p:spPr>
          <a:xfrm>
            <a:off x="5660136" y="4572000"/>
            <a:ext cx="0" cy="64008"/>
          </a:xfrm>
          <a:prstGeom prst="line">
            <a:avLst/>
          </a:prstGeom>
          <a:noFill/>
          <a:ln w="9525">
            <a:solidFill>
              <a:srgbClr val="8A8A86"/>
            </a:solidFill>
            <a:prstDash val="solid"/>
          </a:ln>
        </p:spPr>
      </p:sp>
      <p:sp>
        <p:nvSpPr>
          <p:cNvPr id="55" name="Text 53"/>
          <p:cNvSpPr/>
          <p:nvPr/>
        </p:nvSpPr>
        <p:spPr>
          <a:xfrm>
            <a:off x="5385816"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40</a:t>
            </a:r>
            <a:endParaRPr lang="zh-CN" sz="950" dirty="0"/>
          </a:p>
        </p:txBody>
      </p:sp>
      <p:sp>
        <p:nvSpPr>
          <p:cNvPr id="56" name="Shape 54"/>
          <p:cNvSpPr/>
          <p:nvPr/>
        </p:nvSpPr>
        <p:spPr>
          <a:xfrm>
            <a:off x="6515100" y="4572000"/>
            <a:ext cx="0" cy="64008"/>
          </a:xfrm>
          <a:prstGeom prst="line">
            <a:avLst/>
          </a:prstGeom>
          <a:noFill/>
          <a:ln w="9525">
            <a:solidFill>
              <a:srgbClr val="8A8A86"/>
            </a:solidFill>
            <a:prstDash val="solid"/>
          </a:ln>
        </p:spPr>
      </p:sp>
      <p:sp>
        <p:nvSpPr>
          <p:cNvPr id="57" name="Text 55"/>
          <p:cNvSpPr/>
          <p:nvPr/>
        </p:nvSpPr>
        <p:spPr>
          <a:xfrm>
            <a:off x="6240780"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50</a:t>
            </a:r>
            <a:endParaRPr lang="zh-CN" sz="950" dirty="0"/>
          </a:p>
        </p:txBody>
      </p:sp>
      <p:sp>
        <p:nvSpPr>
          <p:cNvPr id="58" name="Shape 56"/>
          <p:cNvSpPr/>
          <p:nvPr/>
        </p:nvSpPr>
        <p:spPr>
          <a:xfrm>
            <a:off x="7370064" y="4572000"/>
            <a:ext cx="0" cy="64008"/>
          </a:xfrm>
          <a:prstGeom prst="line">
            <a:avLst/>
          </a:prstGeom>
          <a:noFill/>
          <a:ln w="9525">
            <a:solidFill>
              <a:srgbClr val="8A8A86"/>
            </a:solidFill>
            <a:prstDash val="solid"/>
          </a:ln>
        </p:spPr>
      </p:sp>
      <p:sp>
        <p:nvSpPr>
          <p:cNvPr id="59" name="Text 57"/>
          <p:cNvSpPr/>
          <p:nvPr/>
        </p:nvSpPr>
        <p:spPr>
          <a:xfrm>
            <a:off x="7095744" y="4663440"/>
            <a:ext cx="548640" cy="228600"/>
          </a:xfrm>
          <a:prstGeom prst="rect">
            <a:avLst/>
          </a:prstGeom>
          <a:noFill/>
          <a:ln/>
        </p:spPr>
        <p:txBody>
          <a:bodyPr wrap="square" lIns="0" tIns="0" rIns="0" bIns="0" rtlCol="0" anchor="t"/>
          <a:lstStyle/>
          <a:p>
            <a:pPr algn="ctr" indent="0" marL="0">
              <a:lnSpc>
                <a:spcPct val="112000"/>
              </a:lnSpc>
              <a:buNone/>
            </a:pPr>
            <a:r>
              <a:rPr lang="zh-CN" altLang="en-US" sz="950" dirty="0">
                <a:solidFill>
                  <a:srgbClr val="52514E"/>
                </a:solidFill>
                <a:latin typeface="Microsoft YaHei" pitchFamily="34" charset="0"/>
                <a:ea typeface="Microsoft YaHei" pitchFamily="34" charset="-122"/>
                <a:cs typeface="Microsoft YaHei" pitchFamily="34" charset="-120"/>
              </a:rPr>
              <a:t>60 ns</a:t>
            </a:r>
            <a:endParaRPr lang="zh-CN" sz="950" dirty="0"/>
          </a:p>
        </p:txBody>
      </p:sp>
      <p:sp>
        <p:nvSpPr>
          <p:cNvPr id="60" name="Shape 58"/>
          <p:cNvSpPr/>
          <p:nvPr/>
        </p:nvSpPr>
        <p:spPr>
          <a:xfrm>
            <a:off x="548640" y="5120640"/>
            <a:ext cx="201168" cy="201168"/>
          </a:xfrm>
          <a:prstGeom prst="rect">
            <a:avLst/>
          </a:prstGeom>
          <a:solidFill>
            <a:srgbClr val="13213A"/>
          </a:solidFill>
          <a:ln w="12700">
            <a:solidFill>
              <a:srgbClr val="13213A"/>
            </a:solidFill>
            <a:prstDash val="solid"/>
          </a:ln>
        </p:spPr>
      </p:sp>
      <p:sp>
        <p:nvSpPr>
          <p:cNvPr id="61" name="Text 59"/>
          <p:cNvSpPr/>
          <p:nvPr/>
        </p:nvSpPr>
        <p:spPr>
          <a:xfrm>
            <a:off x="822960" y="5084064"/>
            <a:ext cx="1691640" cy="274320"/>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命令（ACT / PRE / RD）</a:t>
            </a:r>
            <a:endParaRPr lang="zh-CN" sz="1050" dirty="0"/>
          </a:p>
        </p:txBody>
      </p:sp>
      <p:sp>
        <p:nvSpPr>
          <p:cNvPr id="62" name="Shape 60"/>
          <p:cNvSpPr/>
          <p:nvPr/>
        </p:nvSpPr>
        <p:spPr>
          <a:xfrm>
            <a:off x="2514600" y="5120640"/>
            <a:ext cx="201168" cy="201168"/>
          </a:xfrm>
          <a:prstGeom prst="rect">
            <a:avLst/>
          </a:prstGeom>
          <a:solidFill>
            <a:srgbClr val="D9D9D4"/>
          </a:solidFill>
          <a:ln w="12700">
            <a:solidFill>
              <a:srgbClr val="D9D9D4"/>
            </a:solidFill>
            <a:prstDash val="solid"/>
          </a:ln>
        </p:spPr>
      </p:sp>
      <p:sp>
        <p:nvSpPr>
          <p:cNvPr id="63" name="Text 61"/>
          <p:cNvSpPr/>
          <p:nvPr/>
        </p:nvSpPr>
        <p:spPr>
          <a:xfrm>
            <a:off x="2788920" y="5084064"/>
            <a:ext cx="1691640" cy="274320"/>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等待时序约束</a:t>
            </a:r>
            <a:endParaRPr lang="zh-CN" sz="1050" dirty="0"/>
          </a:p>
        </p:txBody>
      </p:sp>
      <p:sp>
        <p:nvSpPr>
          <p:cNvPr id="64" name="Shape 62"/>
          <p:cNvSpPr/>
          <p:nvPr/>
        </p:nvSpPr>
        <p:spPr>
          <a:xfrm>
            <a:off x="4480560" y="5120640"/>
            <a:ext cx="201168" cy="201168"/>
          </a:xfrm>
          <a:prstGeom prst="rect">
            <a:avLst/>
          </a:prstGeom>
          <a:solidFill>
            <a:srgbClr val="BBD3F2"/>
          </a:solidFill>
          <a:ln w="12700">
            <a:solidFill>
              <a:srgbClr val="BBD3F2"/>
            </a:solidFill>
            <a:prstDash val="solid"/>
          </a:ln>
        </p:spPr>
      </p:sp>
      <p:sp>
        <p:nvSpPr>
          <p:cNvPr id="65" name="Text 63"/>
          <p:cNvSpPr/>
          <p:nvPr/>
        </p:nvSpPr>
        <p:spPr>
          <a:xfrm>
            <a:off x="4754880" y="5084064"/>
            <a:ext cx="1691640" cy="274320"/>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读流水线</a:t>
            </a:r>
            <a:endParaRPr lang="zh-CN" sz="1050" dirty="0"/>
          </a:p>
        </p:txBody>
      </p:sp>
      <p:sp>
        <p:nvSpPr>
          <p:cNvPr id="66" name="Shape 64"/>
          <p:cNvSpPr/>
          <p:nvPr/>
        </p:nvSpPr>
        <p:spPr>
          <a:xfrm>
            <a:off x="6446520" y="5120640"/>
            <a:ext cx="201168" cy="201168"/>
          </a:xfrm>
          <a:prstGeom prst="rect">
            <a:avLst/>
          </a:prstGeom>
          <a:solidFill>
            <a:srgbClr val="2A78D6"/>
          </a:solidFill>
          <a:ln w="12700">
            <a:solidFill>
              <a:srgbClr val="2A78D6"/>
            </a:solidFill>
            <a:prstDash val="solid"/>
          </a:ln>
        </p:spPr>
      </p:sp>
      <p:sp>
        <p:nvSpPr>
          <p:cNvPr id="67" name="Text 65"/>
          <p:cNvSpPr/>
          <p:nvPr/>
        </p:nvSpPr>
        <p:spPr>
          <a:xfrm>
            <a:off x="6720840" y="5084064"/>
            <a:ext cx="1691640" cy="274320"/>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32 B 数据 burst</a:t>
            </a:r>
            <a:endParaRPr lang="zh-CN" sz="1050" dirty="0"/>
          </a:p>
        </p:txBody>
      </p:sp>
      <p:sp>
        <p:nvSpPr>
          <p:cNvPr id="68" name="Text 66"/>
          <p:cNvSpPr/>
          <p:nvPr/>
        </p:nvSpPr>
        <p:spPr>
          <a:xfrm>
            <a:off x="548640" y="5623560"/>
            <a:ext cx="7223760" cy="548640"/>
          </a:xfrm>
          <a:prstGeom prst="rect">
            <a:avLst/>
          </a:prstGeom>
          <a:noFill/>
          <a:ln/>
        </p:spPr>
        <p:txBody>
          <a:bodyPr wrap="square" lIns="0" tIns="0" rIns="0" bIns="0" rtlCol="0" anchor="t"/>
          <a:lstStyle/>
          <a:p>
            <a:pPr algn="l" indent="0" marL="0">
              <a:lnSpc>
                <a:spcPct val="125000"/>
              </a:lnSpc>
              <a:buNone/>
            </a:pPr>
            <a:r>
              <a:rPr lang="zh-CN" altLang="en-US" sz="1300" b="1" dirty="0">
                <a:solidFill>
                  <a:srgbClr val="1A1D23"/>
                </a:solidFill>
                <a:latin typeface="Microsoft YaHei" pitchFamily="34" charset="0"/>
                <a:ea typeface="Microsoft YaHei" pitchFamily="34" charset="-122"/>
                <a:cs typeface="Microsoft YaHei" pitchFamily="34" charset="-120"/>
              </a:rPr>
              <a:t>仿真器逐个 bank 记住“开着哪一行”：上一个访问留下的行状态，决定下一个访问走哪条路径。</a:t>
            </a:r>
            <a:endParaRPr lang="zh-CN" sz="1300" dirty="0"/>
          </a:p>
        </p:txBody>
      </p:sp>
      <p:sp>
        <p:nvSpPr>
          <p:cNvPr id="69" name="Shape 67"/>
          <p:cNvSpPr/>
          <p:nvPr/>
        </p:nvSpPr>
        <p:spPr>
          <a:xfrm>
            <a:off x="8183880" y="1572768"/>
            <a:ext cx="3456432" cy="4553712"/>
          </a:xfrm>
          <a:prstGeom prst="rect">
            <a:avLst/>
          </a:prstGeom>
          <a:solidFill>
            <a:srgbClr val="F4F4F1"/>
          </a:solidFill>
          <a:ln w="12700">
            <a:solidFill>
              <a:srgbClr val="F4F4F1"/>
            </a:solidFill>
            <a:prstDash val="solid"/>
          </a:ln>
        </p:spPr>
      </p:sp>
      <p:sp>
        <p:nvSpPr>
          <p:cNvPr id="70" name="Text 68"/>
          <p:cNvSpPr/>
          <p:nvPr/>
        </p:nvSpPr>
        <p:spPr>
          <a:xfrm>
            <a:off x="8394192" y="1719072"/>
            <a:ext cx="310896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此外还要同时满足</a:t>
            </a:r>
            <a:endParaRPr lang="zh-CN" sz="1400" dirty="0"/>
          </a:p>
        </p:txBody>
      </p:sp>
      <p:sp>
        <p:nvSpPr>
          <p:cNvPr id="71" name="Text 69"/>
          <p:cNvSpPr/>
          <p:nvPr/>
        </p:nvSpPr>
        <p:spPr>
          <a:xfrm>
            <a:off x="8394192" y="2130552"/>
            <a:ext cx="3108960" cy="256032"/>
          </a:xfrm>
          <a:prstGeom prst="rect">
            <a:avLst/>
          </a:prstGeom>
          <a:noFill/>
          <a:ln/>
        </p:spPr>
        <p:txBody>
          <a:bodyPr wrap="square" lIns="0" tIns="0" rIns="0" bIns="0" rtlCol="0" anchor="t"/>
          <a:lstStyle/>
          <a:p>
            <a:pPr algn="l" indent="0" marL="0">
              <a:lnSpc>
                <a:spcPct val="112000"/>
              </a:lnSpc>
              <a:buNone/>
            </a:pPr>
            <a:r>
              <a:rPr lang="zh-CN" altLang="en-US" sz="1200" b="1" dirty="0">
                <a:solidFill>
                  <a:srgbClr val="1F5FAE"/>
                </a:solidFill>
                <a:latin typeface="Microsoft YaHei" pitchFamily="34" charset="0"/>
                <a:ea typeface="Microsoft YaHei" pitchFamily="34" charset="-122"/>
                <a:cs typeface="Microsoft YaHei" pitchFamily="34" charset="-120"/>
              </a:rPr>
              <a:t>开行速率</a:t>
            </a:r>
            <a:endParaRPr lang="zh-CN" sz="1200" dirty="0"/>
          </a:p>
        </p:txBody>
      </p:sp>
      <p:sp>
        <p:nvSpPr>
          <p:cNvPr id="72" name="Text 70"/>
          <p:cNvSpPr/>
          <p:nvPr/>
        </p:nvSpPr>
        <p:spPr>
          <a:xfrm>
            <a:off x="8394192" y="2386584"/>
            <a:ext cx="3108960" cy="54864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同一 PC 相邻 ACT ≥ 4 / 6 ns；任意 20 ns 内最多 4 次 ACT</a:t>
            </a:r>
            <a:endParaRPr lang="zh-CN" sz="1100" dirty="0"/>
          </a:p>
        </p:txBody>
      </p:sp>
      <p:sp>
        <p:nvSpPr>
          <p:cNvPr id="73" name="Text 71"/>
          <p:cNvSpPr/>
          <p:nvPr/>
        </p:nvSpPr>
        <p:spPr>
          <a:xfrm>
            <a:off x="8394192" y="2916936"/>
            <a:ext cx="3108960" cy="256032"/>
          </a:xfrm>
          <a:prstGeom prst="rect">
            <a:avLst/>
          </a:prstGeom>
          <a:noFill/>
          <a:ln/>
        </p:spPr>
        <p:txBody>
          <a:bodyPr wrap="square" lIns="0" tIns="0" rIns="0" bIns="0" rtlCol="0" anchor="t"/>
          <a:lstStyle/>
          <a:p>
            <a:pPr algn="l" indent="0" marL="0">
              <a:lnSpc>
                <a:spcPct val="112000"/>
              </a:lnSpc>
              <a:buNone/>
            </a:pPr>
            <a:r>
              <a:rPr lang="zh-CN" altLang="en-US" sz="1200" b="1" dirty="0">
                <a:solidFill>
                  <a:srgbClr val="1F5FAE"/>
                </a:solidFill>
                <a:latin typeface="Microsoft YaHei" pitchFamily="34" charset="0"/>
                <a:ea typeface="Microsoft YaHei" pitchFamily="34" charset="-122"/>
                <a:cs typeface="Microsoft YaHei" pitchFamily="34" charset="-120"/>
              </a:rPr>
              <a:t>列命令间隔</a:t>
            </a:r>
            <a:endParaRPr lang="zh-CN" sz="1200" dirty="0"/>
          </a:p>
        </p:txBody>
      </p:sp>
      <p:sp>
        <p:nvSpPr>
          <p:cNvPr id="74" name="Text 72"/>
          <p:cNvSpPr/>
          <p:nvPr/>
        </p:nvSpPr>
        <p:spPr>
          <a:xfrm>
            <a:off x="8394192" y="3172968"/>
            <a:ext cx="3108960" cy="54864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同 bank group 2.56 ns，跨组 1.28 ns；地址映射让连续 burst 轮换 bank group</a:t>
            </a:r>
            <a:endParaRPr lang="zh-CN" sz="1100" dirty="0"/>
          </a:p>
        </p:txBody>
      </p:sp>
      <p:sp>
        <p:nvSpPr>
          <p:cNvPr id="75" name="Text 73"/>
          <p:cNvSpPr/>
          <p:nvPr/>
        </p:nvSpPr>
        <p:spPr>
          <a:xfrm>
            <a:off x="8394192" y="3703320"/>
            <a:ext cx="3108960" cy="256032"/>
          </a:xfrm>
          <a:prstGeom prst="rect">
            <a:avLst/>
          </a:prstGeom>
          <a:noFill/>
          <a:ln/>
        </p:spPr>
        <p:txBody>
          <a:bodyPr wrap="square" lIns="0" tIns="0" rIns="0" bIns="0" rtlCol="0" anchor="t"/>
          <a:lstStyle/>
          <a:p>
            <a:pPr algn="l" indent="0" marL="0">
              <a:lnSpc>
                <a:spcPct val="112000"/>
              </a:lnSpc>
              <a:buNone/>
            </a:pPr>
            <a:r>
              <a:rPr lang="zh-CN" altLang="en-US" sz="1200" b="1" dirty="0">
                <a:solidFill>
                  <a:srgbClr val="1F5FAE"/>
                </a:solidFill>
                <a:latin typeface="Microsoft YaHei" pitchFamily="34" charset="0"/>
                <a:ea typeface="Microsoft YaHei" pitchFamily="34" charset="-122"/>
                <a:cs typeface="Microsoft YaHei" pitchFamily="34" charset="-120"/>
              </a:rPr>
              <a:t>共享命令总线</a:t>
            </a:r>
            <a:endParaRPr lang="zh-CN" sz="1200" dirty="0"/>
          </a:p>
        </p:txBody>
      </p:sp>
      <p:sp>
        <p:nvSpPr>
          <p:cNvPr id="76" name="Text 74"/>
          <p:cNvSpPr/>
          <p:nvPr/>
        </p:nvSpPr>
        <p:spPr>
          <a:xfrm>
            <a:off x="8394192" y="3959352"/>
            <a:ext cx="3108960" cy="54864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同一物理通道的 2 个 PC 共用行 / 列命令总线</a:t>
            </a:r>
            <a:endParaRPr lang="zh-CN" sz="1100" dirty="0"/>
          </a:p>
        </p:txBody>
      </p:sp>
      <p:sp>
        <p:nvSpPr>
          <p:cNvPr id="77" name="Text 75"/>
          <p:cNvSpPr/>
          <p:nvPr/>
        </p:nvSpPr>
        <p:spPr>
          <a:xfrm>
            <a:off x="8394192" y="4489704"/>
            <a:ext cx="3108960" cy="256032"/>
          </a:xfrm>
          <a:prstGeom prst="rect">
            <a:avLst/>
          </a:prstGeom>
          <a:noFill/>
          <a:ln/>
        </p:spPr>
        <p:txBody>
          <a:bodyPr wrap="square" lIns="0" tIns="0" rIns="0" bIns="0" rtlCol="0" anchor="t"/>
          <a:lstStyle/>
          <a:p>
            <a:pPr algn="l" indent="0" marL="0">
              <a:lnSpc>
                <a:spcPct val="112000"/>
              </a:lnSpc>
              <a:buNone/>
            </a:pPr>
            <a:r>
              <a:rPr lang="zh-CN" altLang="en-US" sz="1200" b="1" dirty="0">
                <a:solidFill>
                  <a:srgbClr val="1F5FAE"/>
                </a:solidFill>
                <a:latin typeface="Microsoft YaHei" pitchFamily="34" charset="0"/>
                <a:ea typeface="Microsoft YaHei" pitchFamily="34" charset="-122"/>
                <a:cs typeface="Microsoft YaHei" pitchFamily="34" charset="-120"/>
              </a:rPr>
              <a:t>刷新</a:t>
            </a:r>
            <a:endParaRPr lang="zh-CN" sz="1200" dirty="0"/>
          </a:p>
        </p:txBody>
      </p:sp>
      <p:sp>
        <p:nvSpPr>
          <p:cNvPr id="78" name="Text 76"/>
          <p:cNvSpPr/>
          <p:nvPr/>
        </p:nvSpPr>
        <p:spPr>
          <a:xfrm>
            <a:off x="8394192" y="4745736"/>
            <a:ext cx="3108960" cy="54864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每 3.9 µs 全 bank 刷新一次，期间该 PC 不可访问</a:t>
            </a:r>
            <a:endParaRPr lang="zh-CN" sz="1100" dirty="0"/>
          </a:p>
        </p:txBody>
      </p:sp>
      <p:sp>
        <p:nvSpPr>
          <p:cNvPr id="79" name="Text 77"/>
          <p:cNvSpPr/>
          <p:nvPr/>
        </p:nvSpPr>
        <p:spPr>
          <a:xfrm>
            <a:off x="8394192" y="5276088"/>
            <a:ext cx="3108960" cy="256032"/>
          </a:xfrm>
          <a:prstGeom prst="rect">
            <a:avLst/>
          </a:prstGeom>
          <a:noFill/>
          <a:ln/>
        </p:spPr>
        <p:txBody>
          <a:bodyPr wrap="square" lIns="0" tIns="0" rIns="0" bIns="0" rtlCol="0" anchor="t"/>
          <a:lstStyle/>
          <a:p>
            <a:pPr algn="l" indent="0" marL="0">
              <a:lnSpc>
                <a:spcPct val="112000"/>
              </a:lnSpc>
              <a:buNone/>
            </a:pPr>
            <a:r>
              <a:rPr lang="zh-CN" altLang="en-US" sz="1200" b="1" dirty="0">
                <a:solidFill>
                  <a:srgbClr val="1F5FAE"/>
                </a:solidFill>
                <a:latin typeface="Microsoft YaHei" pitchFamily="34" charset="0"/>
                <a:ea typeface="Microsoft YaHei" pitchFamily="34" charset="-122"/>
                <a:cs typeface="Microsoft YaHei" pitchFamily="34" charset="-120"/>
              </a:rPr>
              <a:t>其他</a:t>
            </a:r>
            <a:endParaRPr lang="zh-CN" sz="1200" dirty="0"/>
          </a:p>
        </p:txBody>
      </p:sp>
      <p:sp>
        <p:nvSpPr>
          <p:cNvPr id="80" name="Text 78"/>
          <p:cNvSpPr/>
          <p:nvPr/>
        </p:nvSpPr>
        <p:spPr>
          <a:xfrm>
            <a:off x="8394192" y="5532120"/>
            <a:ext cx="3108960" cy="54864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读写换向、写恢复、最长开行时间</a:t>
            </a:r>
            <a:endParaRPr lang="zh-CN"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07 · HBM 实测：位置与大小</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HBM：数据放在哪里、一次读多大，直接决定带宽</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左：仿真器探针（冷启动、1 MiB）；右：docs/exploring_hbf_native_comparison.md 记录的 405B 真实地址实测（2026-10-22，提交 add4a5d）</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08</a:t>
            </a:r>
            <a:endParaRPr lang="zh-CN" sz="900" dirty="0"/>
          </a:p>
        </p:txBody>
      </p:sp>
      <p:sp>
        <p:nvSpPr>
          <p:cNvPr id="6" name="Text 4"/>
          <p:cNvSpPr/>
          <p:nvPr/>
        </p:nvSpPr>
        <p:spPr>
          <a:xfrm>
            <a:off x="548640" y="1554480"/>
            <a:ext cx="5394960" cy="274320"/>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同样读 1 MiB（256 次 × 4 KiB），有效带宽 GB/s</a:t>
            </a:r>
            <a:endParaRPr lang="zh-CN" sz="1300" dirty="0"/>
          </a:p>
        </p:txBody>
      </p:sp>
      <p:graphicFrame>
        <p:nvGraphicFramePr>
          <p:cNvPr id="7" name="Chart 0" descr=""/>
          <p:cNvGraphicFramePr/>
          <p:nvPr/>
        </p:nvGraphicFramePr>
        <p:xfrm>
          <a:off x="457200" y="1874520"/>
          <a:ext cx="5394960" cy="1828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3749040"/>
            <a:ext cx="5394960" cy="548640"/>
          </a:xfrm>
          <a:prstGeom prst="rect">
            <a:avLst/>
          </a:prstGeom>
          <a:noFill/>
          <a:ln/>
        </p:spPr>
        <p:txBody>
          <a:bodyPr wrap="square" lIns="0" tIns="0" rIns="0" bIns="0" rtlCol="0" anchor="t"/>
          <a:lstStyle/>
          <a:p>
            <a:pPr algn="l" indent="0" marL="0">
              <a:lnSpc>
                <a:spcPct val="125000"/>
              </a:lnSpc>
              <a:buNone/>
            </a:pPr>
            <a:r>
              <a:rPr lang="zh-CN" altLang="en-US" sz="1150" dirty="0">
                <a:solidFill>
                  <a:srgbClr val="52514E"/>
                </a:solidFill>
                <a:latin typeface="Microsoft YaHei" pitchFamily="34" charset="0"/>
                <a:ea typeface="Microsoft YaHei" pitchFamily="34" charset="-122"/>
                <a:cs typeface="Microsoft YaHei" pitchFamily="34" charset="-120"/>
              </a:rPr>
              <a:t>相邻：32,768 次开行，0 次冲突</a:t>
            </a:r>
            <a:endParaRPr lang="zh-CN" sz="1150" dirty="0"/>
          </a:p>
          <a:p>
            <a:pPr algn="l" indent="0" marL="0">
              <a:lnSpc>
                <a:spcPct val="125000"/>
              </a:lnSpc>
              <a:buNone/>
            </a:pPr>
            <a:r>
              <a:rPr lang="zh-CN" altLang="en-US" sz="1150" dirty="0">
                <a:solidFill>
                  <a:srgbClr val="52514E"/>
                </a:solidFill>
                <a:latin typeface="Microsoft YaHei" pitchFamily="34" charset="0"/>
                <a:ea typeface="Microsoft YaHei" pitchFamily="34" charset="-122"/>
                <a:cs typeface="Microsoft YaHei" pitchFamily="34" charset="-120"/>
              </a:rPr>
              <a:t>分散：20,480 次开行 + 12,288 次行冲突（先关再开）</a:t>
            </a:r>
            <a:endParaRPr lang="zh-CN" sz="1150" dirty="0"/>
          </a:p>
        </p:txBody>
      </p:sp>
      <p:sp>
        <p:nvSpPr>
          <p:cNvPr id="9" name="Text 6"/>
          <p:cNvSpPr/>
          <p:nvPr/>
        </p:nvSpPr>
        <p:spPr>
          <a:xfrm>
            <a:off x="6245352" y="1554480"/>
            <a:ext cx="5394960" cy="274320"/>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405B 真实 KV 读（B=64，第 63 层，128 条 × 470 KB），GB/s</a:t>
            </a:r>
            <a:endParaRPr lang="zh-CN" sz="1300" dirty="0"/>
          </a:p>
        </p:txBody>
      </p:sp>
      <p:graphicFrame>
        <p:nvGraphicFramePr>
          <p:cNvPr id="10" name="Chart 1" descr=""/>
          <p:cNvGraphicFramePr/>
          <p:nvPr/>
        </p:nvGraphicFramePr>
        <p:xfrm>
          <a:off x="6153912" y="1874520"/>
          <a:ext cx="5394960" cy="219456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245352" y="4114800"/>
            <a:ext cx="5394960" cy="274320"/>
          </a:xfrm>
          <a:prstGeom prst="rect">
            <a:avLst/>
          </a:prstGeom>
          <a:noFill/>
          <a:ln/>
        </p:spPr>
        <p:txBody>
          <a:bodyPr wrap="square" lIns="0" tIns="0" rIns="0" bIns="0" rtlCol="0" anchor="t"/>
          <a:lstStyle/>
          <a:p>
            <a:pPr algn="l" indent="0" marL="0">
              <a:lnSpc>
                <a:spcPct val="112000"/>
              </a:lnSpc>
              <a:buNone/>
            </a:pPr>
            <a:r>
              <a:rPr lang="zh-CN" altLang="en-US" sz="1150" dirty="0">
                <a:solidFill>
                  <a:srgbClr val="52514E"/>
                </a:solidFill>
                <a:latin typeface="Microsoft YaHei" pitchFamily="34" charset="0"/>
                <a:ea typeface="Microsoft YaHei" pitchFamily="34" charset="-122"/>
                <a:cs typeface="Microsoft YaHei" pitchFamily="34" charset="-120"/>
              </a:rPr>
              <a:t>同样的字节数，真实 KV 地址只有连续存放的 26%</a:t>
            </a:r>
            <a:endParaRPr lang="zh-CN" sz="1150" dirty="0"/>
          </a:p>
        </p:txBody>
      </p:sp>
      <p:sp>
        <p:nvSpPr>
          <p:cNvPr id="12" name="Shape 8"/>
          <p:cNvSpPr/>
          <p:nvPr/>
        </p:nvSpPr>
        <p:spPr>
          <a:xfrm>
            <a:off x="548640" y="4663440"/>
            <a:ext cx="5394960" cy="1463040"/>
          </a:xfrm>
          <a:prstGeom prst="rect">
            <a:avLst/>
          </a:prstGeom>
          <a:solidFill>
            <a:srgbClr val="E4EEFA"/>
          </a:solidFill>
          <a:ln w="12700">
            <a:solidFill>
              <a:srgbClr val="E4EEFA"/>
            </a:solidFill>
            <a:prstDash val="solid"/>
          </a:ln>
        </p:spPr>
      </p:sp>
      <p:sp>
        <p:nvSpPr>
          <p:cNvPr id="13" name="Text 9"/>
          <p:cNvSpPr/>
          <p:nvPr/>
        </p:nvSpPr>
        <p:spPr>
          <a:xfrm>
            <a:off x="749808" y="4791456"/>
            <a:ext cx="502920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一个 32 B burst 只用到 8 B</a:t>
            </a:r>
            <a:endParaRPr lang="zh-CN" sz="1400" dirty="0"/>
          </a:p>
        </p:txBody>
      </p:sp>
      <p:sp>
        <p:nvSpPr>
          <p:cNvPr id="14" name="Text 10"/>
          <p:cNvSpPr/>
          <p:nvPr/>
        </p:nvSpPr>
        <p:spPr>
          <a:xfrm>
            <a:off x="749808" y="5166360"/>
            <a:ext cx="5029200" cy="868680"/>
          </a:xfrm>
          <a:prstGeom prst="rect">
            <a:avLst/>
          </a:prstGeom>
          <a:noFill/>
          <a:ln/>
        </p:spPr>
        <p:txBody>
          <a:bodyPr wrap="square" lIns="0" tIns="0" rIns="0" bIns="0" rtlCol="0" anchor="t"/>
          <a:lstStyle/>
          <a:p>
            <a:pPr algn="l" indent="0" marL="0">
              <a:lnSpc>
                <a:spcPct val="125000"/>
              </a:lnSpc>
              <a:buNone/>
            </a:pPr>
            <a:r>
              <a:rPr lang="zh-CN" altLang="en-US" sz="1200" dirty="0">
                <a:solidFill>
                  <a:srgbClr val="52514E"/>
                </a:solidFill>
                <a:latin typeface="Microsoft YaHei" pitchFamily="34" charset="0"/>
                <a:ea typeface="Microsoft YaHei" pitchFamily="34" charset="-122"/>
                <a:cs typeface="Microsoft YaHei" pitchFamily="34" charset="-120"/>
              </a:rPr>
              <a:t>搬运字节不变，有效带宽 47.2 → 11.8 GB/s，只剩 1/4。仿真器按 burst 计搬运量，不按请求字节数。</a:t>
            </a:r>
            <a:endParaRPr lang="zh-CN" sz="1200" dirty="0"/>
          </a:p>
        </p:txBody>
      </p:sp>
      <p:sp>
        <p:nvSpPr>
          <p:cNvPr id="15" name="Shape 11"/>
          <p:cNvSpPr/>
          <p:nvPr/>
        </p:nvSpPr>
        <p:spPr>
          <a:xfrm>
            <a:off x="6245352" y="4663440"/>
            <a:ext cx="5394960" cy="1463040"/>
          </a:xfrm>
          <a:prstGeom prst="rect">
            <a:avLst/>
          </a:prstGeom>
          <a:solidFill>
            <a:srgbClr val="E4EEFA"/>
          </a:solidFill>
          <a:ln w="12700">
            <a:solidFill>
              <a:srgbClr val="E4EEFA"/>
            </a:solidFill>
            <a:prstDash val="solid"/>
          </a:ln>
        </p:spPr>
      </p:sp>
      <p:sp>
        <p:nvSpPr>
          <p:cNvPr id="16" name="Text 12"/>
          <p:cNvSpPr/>
          <p:nvPr/>
        </p:nvSpPr>
        <p:spPr>
          <a:xfrm>
            <a:off x="6446520" y="4791456"/>
            <a:ext cx="502920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单次读越大，已开的行被复用越多</a:t>
            </a:r>
            <a:endParaRPr lang="zh-CN" sz="1400" dirty="0"/>
          </a:p>
        </p:txBody>
      </p:sp>
      <p:sp>
        <p:nvSpPr>
          <p:cNvPr id="17" name="Text 13"/>
          <p:cNvSpPr/>
          <p:nvPr/>
        </p:nvSpPr>
        <p:spPr>
          <a:xfrm>
            <a:off x="6446520" y="5166360"/>
            <a:ext cx="5029200" cy="868680"/>
          </a:xfrm>
          <a:prstGeom prst="rect">
            <a:avLst/>
          </a:prstGeom>
          <a:noFill/>
          <a:ln/>
        </p:spPr>
        <p:txBody>
          <a:bodyPr wrap="square" lIns="0" tIns="0" rIns="0" bIns="0" rtlCol="0" anchor="t"/>
          <a:lstStyle/>
          <a:p>
            <a:pPr algn="l" indent="0" marL="0">
              <a:lnSpc>
                <a:spcPct val="125000"/>
              </a:lnSpc>
              <a:buNone/>
            </a:pPr>
            <a:r>
              <a:rPr lang="zh-CN" altLang="en-US" sz="1200" dirty="0">
                <a:solidFill>
                  <a:srgbClr val="52514E"/>
                </a:solidFill>
                <a:latin typeface="Microsoft YaHei" pitchFamily="34" charset="0"/>
                <a:ea typeface="Microsoft YaHei" pitchFamily="34" charset="-122"/>
                <a:cs typeface="Microsoft YaHei" pitchFamily="34" charset="-120"/>
              </a:rPr>
              <a:t>1 MiB 冷读每个 bank 只用一次行：2.9 TB/s；26.5 MB 读 10.7 TB/s，96% 的 burst 命中已开的行。</a:t>
            </a:r>
            <a:endParaRPr lang="zh-CN"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08 · HBF：一次读怎么计时</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HBF：一次读要占用三段资源，最小单位是 4 KiB 页</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仿真器 NandCore（generic_nand）：页读 1 µs；内部通道每 die 100 GB/s；主机读 11.2 TB/s；本配置主机传输粒度 4 KiB（OCP HBF 规范允许 64 B，可配置）</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09</a:t>
            </a:r>
            <a:endParaRPr lang="zh-CN" sz="900" dirty="0"/>
          </a:p>
        </p:txBody>
      </p:sp>
      <p:sp>
        <p:nvSpPr>
          <p:cNvPr id="6" name="Shape 4"/>
          <p:cNvSpPr/>
          <p:nvPr/>
        </p:nvSpPr>
        <p:spPr>
          <a:xfrm>
            <a:off x="548640" y="1828800"/>
            <a:ext cx="1463040" cy="1097280"/>
          </a:xfrm>
          <a:prstGeom prst="rect">
            <a:avLst/>
          </a:prstGeom>
          <a:solidFill>
            <a:srgbClr val="13213A"/>
          </a:solidFill>
          <a:ln w="12700">
            <a:solidFill>
              <a:srgbClr val="13213A"/>
            </a:solidFill>
            <a:prstDash val="solid"/>
          </a:ln>
        </p:spPr>
      </p:sp>
      <p:sp>
        <p:nvSpPr>
          <p:cNvPr id="7" name="Text 5"/>
          <p:cNvSpPr/>
          <p:nvPr/>
        </p:nvSpPr>
        <p:spPr>
          <a:xfrm>
            <a:off x="548640" y="1828800"/>
            <a:ext cx="1463040" cy="1097280"/>
          </a:xfrm>
          <a:prstGeom prst="rect">
            <a:avLst/>
          </a:prstGeom>
          <a:noFill/>
          <a:ln/>
        </p:spPr>
        <p:txBody>
          <a:bodyPr wrap="square" lIns="0" tIns="0" rIns="0" bIns="0" rtlCol="0" anchor="ctr"/>
          <a:lstStyle/>
          <a:p>
            <a:pPr algn="ctr" indent="0" marL="0">
              <a:lnSpc>
                <a:spcPct val="112000"/>
              </a:lnSpc>
              <a:buNone/>
            </a:pPr>
            <a:r>
              <a:rPr lang="zh-CN" altLang="en-US" sz="1500" b="1" dirty="0">
                <a:solidFill>
                  <a:srgbClr val="FFFFFF"/>
                </a:solidFill>
                <a:latin typeface="Microsoft YaHei" pitchFamily="34" charset="0"/>
                <a:ea typeface="Microsoft YaHei" pitchFamily="34" charset="-122"/>
                <a:cs typeface="Microsoft YaHei" pitchFamily="34" charset="-120"/>
              </a:rPr>
              <a:t>读请求</a:t>
            </a:r>
            <a:endParaRPr lang="zh-CN" sz="1500" dirty="0"/>
          </a:p>
        </p:txBody>
      </p:sp>
      <p:sp>
        <p:nvSpPr>
          <p:cNvPr id="8" name="Shape 6"/>
          <p:cNvSpPr/>
          <p:nvPr/>
        </p:nvSpPr>
        <p:spPr>
          <a:xfrm>
            <a:off x="2377440" y="1828800"/>
            <a:ext cx="2377440" cy="1097280"/>
          </a:xfrm>
          <a:prstGeom prst="rect">
            <a:avLst/>
          </a:prstGeom>
          <a:solidFill>
            <a:srgbClr val="FCE8DF"/>
          </a:solidFill>
          <a:ln w="12700">
            <a:solidFill>
              <a:srgbClr val="FCE8DF"/>
            </a:solidFill>
            <a:prstDash val="solid"/>
          </a:ln>
        </p:spPr>
      </p:sp>
      <p:sp>
        <p:nvSpPr>
          <p:cNvPr id="9" name="Shape 7"/>
          <p:cNvSpPr/>
          <p:nvPr/>
        </p:nvSpPr>
        <p:spPr>
          <a:xfrm>
            <a:off x="2377440" y="1828800"/>
            <a:ext cx="64008" cy="1097280"/>
          </a:xfrm>
          <a:prstGeom prst="rect">
            <a:avLst/>
          </a:prstGeom>
          <a:solidFill>
            <a:srgbClr val="EB6834"/>
          </a:solidFill>
          <a:ln w="12700">
            <a:solidFill>
              <a:srgbClr val="EB6834"/>
            </a:solidFill>
            <a:prstDash val="solid"/>
          </a:ln>
        </p:spPr>
      </p:sp>
      <p:sp>
        <p:nvSpPr>
          <p:cNvPr id="10" name="Text 8"/>
          <p:cNvSpPr/>
          <p:nvPr/>
        </p:nvSpPr>
        <p:spPr>
          <a:xfrm>
            <a:off x="2560320" y="1892808"/>
            <a:ext cx="2103120" cy="292608"/>
          </a:xfrm>
          <a:prstGeom prst="rect">
            <a:avLst/>
          </a:prstGeom>
          <a:noFill/>
          <a:ln/>
        </p:spPr>
        <p:txBody>
          <a:bodyPr wrap="square" lIns="0" tIns="0" rIns="0" bIns="0" rtlCol="0" anchor="t"/>
          <a:lstStyle/>
          <a:p>
            <a:pPr algn="l" indent="0" marL="0">
              <a:lnSpc>
                <a:spcPct val="112000"/>
              </a:lnSpc>
              <a:buNone/>
            </a:pPr>
            <a:r>
              <a:rPr lang="zh-CN" altLang="en-US" sz="1350" b="1" dirty="0">
                <a:solidFill>
                  <a:srgbClr val="1A1D23"/>
                </a:solidFill>
                <a:latin typeface="Microsoft YaHei" pitchFamily="34" charset="0"/>
                <a:ea typeface="Microsoft YaHei" pitchFamily="34" charset="-122"/>
                <a:cs typeface="Microsoft YaHei" pitchFamily="34" charset="-120"/>
              </a:rPr>
              <a:t>① 阵列读页</a:t>
            </a:r>
            <a:endParaRPr lang="zh-CN" sz="1350" dirty="0"/>
          </a:p>
        </p:txBody>
      </p:sp>
      <p:sp>
        <p:nvSpPr>
          <p:cNvPr id="11" name="Text 9"/>
          <p:cNvSpPr/>
          <p:nvPr/>
        </p:nvSpPr>
        <p:spPr>
          <a:xfrm>
            <a:off x="2560320" y="2176272"/>
            <a:ext cx="210312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C4501F"/>
                </a:solidFill>
                <a:latin typeface="Microsoft YaHei" pitchFamily="34" charset="0"/>
                <a:ea typeface="Microsoft YaHei" pitchFamily="34" charset="-122"/>
                <a:cs typeface="Microsoft YaHei" pitchFamily="34" charset="-120"/>
              </a:rPr>
              <a:t>tR = 1 µs</a:t>
            </a:r>
            <a:endParaRPr lang="zh-CN" sz="1300" dirty="0"/>
          </a:p>
        </p:txBody>
      </p:sp>
      <p:sp>
        <p:nvSpPr>
          <p:cNvPr id="12" name="Text 10"/>
          <p:cNvSpPr/>
          <p:nvPr/>
        </p:nvSpPr>
        <p:spPr>
          <a:xfrm>
            <a:off x="2560320" y="2468880"/>
            <a:ext cx="2148840" cy="438912"/>
          </a:xfrm>
          <a:prstGeom prst="rect">
            <a:avLst/>
          </a:prstGeom>
          <a:noFill/>
          <a:ln/>
        </p:spPr>
        <p:txBody>
          <a:bodyPr wrap="square" lIns="0" tIns="0" rIns="0" bIns="0" rtlCol="0" anchor="t"/>
          <a:lstStyle/>
          <a:p>
            <a:pPr algn="l" indent="0" marL="0">
              <a:lnSpc>
                <a:spcPct val="110000"/>
              </a:lnSpc>
              <a:buNone/>
            </a:pPr>
            <a:r>
              <a:rPr lang="zh-CN" altLang="en-US" sz="1050" dirty="0">
                <a:solidFill>
                  <a:srgbClr val="52514E"/>
                </a:solidFill>
                <a:latin typeface="Microsoft YaHei" pitchFamily="34" charset="0"/>
                <a:ea typeface="Microsoft YaHei" pitchFamily="34" charset="-122"/>
                <a:cs typeface="Microsoft YaHei" pitchFamily="34" charset="-120"/>
              </a:rPr>
              <a:t>每个 plane 独立，共 2,800 个可同时工作</a:t>
            </a:r>
            <a:endParaRPr lang="zh-CN" sz="1050" dirty="0"/>
          </a:p>
        </p:txBody>
      </p:sp>
      <p:sp>
        <p:nvSpPr>
          <p:cNvPr id="13" name="Shape 11"/>
          <p:cNvSpPr/>
          <p:nvPr/>
        </p:nvSpPr>
        <p:spPr>
          <a:xfrm>
            <a:off x="2029968" y="2377440"/>
            <a:ext cx="329184" cy="0"/>
          </a:xfrm>
          <a:prstGeom prst="line">
            <a:avLst/>
          </a:prstGeom>
          <a:noFill/>
          <a:ln w="19050">
            <a:solidFill>
              <a:srgbClr val="8A8A86"/>
            </a:solidFill>
            <a:prstDash val="solid"/>
            <a:tailEnd type="triangle"/>
          </a:ln>
        </p:spPr>
      </p:sp>
      <p:sp>
        <p:nvSpPr>
          <p:cNvPr id="14" name="Shape 12"/>
          <p:cNvSpPr/>
          <p:nvPr/>
        </p:nvSpPr>
        <p:spPr>
          <a:xfrm>
            <a:off x="5074920" y="1828800"/>
            <a:ext cx="2377440" cy="1097280"/>
          </a:xfrm>
          <a:prstGeom prst="rect">
            <a:avLst/>
          </a:prstGeom>
          <a:solidFill>
            <a:srgbClr val="FCE8DF"/>
          </a:solidFill>
          <a:ln w="12700">
            <a:solidFill>
              <a:srgbClr val="FCE8DF"/>
            </a:solidFill>
            <a:prstDash val="solid"/>
          </a:ln>
        </p:spPr>
      </p:sp>
      <p:sp>
        <p:nvSpPr>
          <p:cNvPr id="15" name="Shape 13"/>
          <p:cNvSpPr/>
          <p:nvPr/>
        </p:nvSpPr>
        <p:spPr>
          <a:xfrm>
            <a:off x="5074920" y="1828800"/>
            <a:ext cx="64008" cy="1097280"/>
          </a:xfrm>
          <a:prstGeom prst="rect">
            <a:avLst/>
          </a:prstGeom>
          <a:solidFill>
            <a:srgbClr val="EB6834"/>
          </a:solidFill>
          <a:ln w="12700">
            <a:solidFill>
              <a:srgbClr val="EB6834"/>
            </a:solidFill>
            <a:prstDash val="solid"/>
          </a:ln>
        </p:spPr>
      </p:sp>
      <p:sp>
        <p:nvSpPr>
          <p:cNvPr id="16" name="Text 14"/>
          <p:cNvSpPr/>
          <p:nvPr/>
        </p:nvSpPr>
        <p:spPr>
          <a:xfrm>
            <a:off x="5257800" y="1892808"/>
            <a:ext cx="2103120" cy="292608"/>
          </a:xfrm>
          <a:prstGeom prst="rect">
            <a:avLst/>
          </a:prstGeom>
          <a:noFill/>
          <a:ln/>
        </p:spPr>
        <p:txBody>
          <a:bodyPr wrap="square" lIns="0" tIns="0" rIns="0" bIns="0" rtlCol="0" anchor="t"/>
          <a:lstStyle/>
          <a:p>
            <a:pPr algn="l" indent="0" marL="0">
              <a:lnSpc>
                <a:spcPct val="112000"/>
              </a:lnSpc>
              <a:buNone/>
            </a:pPr>
            <a:r>
              <a:rPr lang="zh-CN" altLang="en-US" sz="1350" b="1" dirty="0">
                <a:solidFill>
                  <a:srgbClr val="1A1D23"/>
                </a:solidFill>
                <a:latin typeface="Microsoft YaHei" pitchFamily="34" charset="0"/>
                <a:ea typeface="Microsoft YaHei" pitchFamily="34" charset="-122"/>
                <a:cs typeface="Microsoft YaHei" pitchFamily="34" charset="-120"/>
              </a:rPr>
              <a:t>② 内部通道</a:t>
            </a:r>
            <a:endParaRPr lang="zh-CN" sz="1350" dirty="0"/>
          </a:p>
        </p:txBody>
      </p:sp>
      <p:sp>
        <p:nvSpPr>
          <p:cNvPr id="17" name="Text 15"/>
          <p:cNvSpPr/>
          <p:nvPr/>
        </p:nvSpPr>
        <p:spPr>
          <a:xfrm>
            <a:off x="5257800" y="2176272"/>
            <a:ext cx="210312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C4501F"/>
                </a:solidFill>
                <a:latin typeface="Microsoft YaHei" pitchFamily="34" charset="0"/>
                <a:ea typeface="Microsoft YaHei" pitchFamily="34" charset="-122"/>
                <a:cs typeface="Microsoft YaHei" pitchFamily="34" charset="-120"/>
              </a:rPr>
              <a:t>搬整页 4 KiB</a:t>
            </a:r>
            <a:endParaRPr lang="zh-CN" sz="1300" dirty="0"/>
          </a:p>
        </p:txBody>
      </p:sp>
      <p:sp>
        <p:nvSpPr>
          <p:cNvPr id="18" name="Text 16"/>
          <p:cNvSpPr/>
          <p:nvPr/>
        </p:nvSpPr>
        <p:spPr>
          <a:xfrm>
            <a:off x="5257800" y="2468880"/>
            <a:ext cx="2148840" cy="438912"/>
          </a:xfrm>
          <a:prstGeom prst="rect">
            <a:avLst/>
          </a:prstGeom>
          <a:noFill/>
          <a:ln/>
        </p:spPr>
        <p:txBody>
          <a:bodyPr wrap="square" lIns="0" tIns="0" rIns="0" bIns="0" rtlCol="0" anchor="t"/>
          <a:lstStyle/>
          <a:p>
            <a:pPr algn="l" indent="0" marL="0">
              <a:lnSpc>
                <a:spcPct val="110000"/>
              </a:lnSpc>
              <a:buNone/>
            </a:pPr>
            <a:r>
              <a:rPr lang="zh-CN" altLang="en-US" sz="1050" dirty="0">
                <a:solidFill>
                  <a:srgbClr val="52514E"/>
                </a:solidFill>
                <a:latin typeface="Microsoft YaHei" pitchFamily="34" charset="0"/>
                <a:ea typeface="Microsoft YaHei" pitchFamily="34" charset="-122"/>
                <a:cs typeface="Microsoft YaHei" pitchFamily="34" charset="-120"/>
              </a:rPr>
              <a:t>每 die 一条，100 GB/s；同 die 的 25 个 plane 共用</a:t>
            </a:r>
            <a:endParaRPr lang="zh-CN" sz="1050" dirty="0"/>
          </a:p>
        </p:txBody>
      </p:sp>
      <p:sp>
        <p:nvSpPr>
          <p:cNvPr id="19" name="Shape 17"/>
          <p:cNvSpPr/>
          <p:nvPr/>
        </p:nvSpPr>
        <p:spPr>
          <a:xfrm>
            <a:off x="4727448" y="2377440"/>
            <a:ext cx="329184" cy="0"/>
          </a:xfrm>
          <a:prstGeom prst="line">
            <a:avLst/>
          </a:prstGeom>
          <a:noFill/>
          <a:ln w="19050">
            <a:solidFill>
              <a:srgbClr val="8A8A86"/>
            </a:solidFill>
            <a:prstDash val="solid"/>
            <a:tailEnd type="triangle"/>
          </a:ln>
        </p:spPr>
      </p:sp>
      <p:sp>
        <p:nvSpPr>
          <p:cNvPr id="20" name="Shape 18"/>
          <p:cNvSpPr/>
          <p:nvPr/>
        </p:nvSpPr>
        <p:spPr>
          <a:xfrm>
            <a:off x="7772400" y="1828800"/>
            <a:ext cx="2377440" cy="1097280"/>
          </a:xfrm>
          <a:prstGeom prst="rect">
            <a:avLst/>
          </a:prstGeom>
          <a:solidFill>
            <a:srgbClr val="FCE8DF"/>
          </a:solidFill>
          <a:ln w="12700">
            <a:solidFill>
              <a:srgbClr val="FCE8DF"/>
            </a:solidFill>
            <a:prstDash val="solid"/>
          </a:ln>
        </p:spPr>
      </p:sp>
      <p:sp>
        <p:nvSpPr>
          <p:cNvPr id="21" name="Shape 19"/>
          <p:cNvSpPr/>
          <p:nvPr/>
        </p:nvSpPr>
        <p:spPr>
          <a:xfrm>
            <a:off x="7772400" y="1828800"/>
            <a:ext cx="64008" cy="1097280"/>
          </a:xfrm>
          <a:prstGeom prst="rect">
            <a:avLst/>
          </a:prstGeom>
          <a:solidFill>
            <a:srgbClr val="EB6834"/>
          </a:solidFill>
          <a:ln w="12700">
            <a:solidFill>
              <a:srgbClr val="EB6834"/>
            </a:solidFill>
            <a:prstDash val="solid"/>
          </a:ln>
        </p:spPr>
      </p:sp>
      <p:sp>
        <p:nvSpPr>
          <p:cNvPr id="22" name="Text 20"/>
          <p:cNvSpPr/>
          <p:nvPr/>
        </p:nvSpPr>
        <p:spPr>
          <a:xfrm>
            <a:off x="7955280" y="1892808"/>
            <a:ext cx="2103120" cy="292608"/>
          </a:xfrm>
          <a:prstGeom prst="rect">
            <a:avLst/>
          </a:prstGeom>
          <a:noFill/>
          <a:ln/>
        </p:spPr>
        <p:txBody>
          <a:bodyPr wrap="square" lIns="0" tIns="0" rIns="0" bIns="0" rtlCol="0" anchor="t"/>
          <a:lstStyle/>
          <a:p>
            <a:pPr algn="l" indent="0" marL="0">
              <a:lnSpc>
                <a:spcPct val="112000"/>
              </a:lnSpc>
              <a:buNone/>
            </a:pPr>
            <a:r>
              <a:rPr lang="zh-CN" altLang="en-US" sz="1350" b="1" dirty="0">
                <a:solidFill>
                  <a:srgbClr val="1A1D23"/>
                </a:solidFill>
                <a:latin typeface="Microsoft YaHei" pitchFamily="34" charset="0"/>
                <a:ea typeface="Microsoft YaHei" pitchFamily="34" charset="-122"/>
                <a:cs typeface="Microsoft YaHei" pitchFamily="34" charset="-120"/>
              </a:rPr>
              <a:t>③ 主机链路</a:t>
            </a:r>
            <a:endParaRPr lang="zh-CN" sz="1350" dirty="0"/>
          </a:p>
        </p:txBody>
      </p:sp>
      <p:sp>
        <p:nvSpPr>
          <p:cNvPr id="23" name="Text 21"/>
          <p:cNvSpPr/>
          <p:nvPr/>
        </p:nvSpPr>
        <p:spPr>
          <a:xfrm>
            <a:off x="7955280" y="2176272"/>
            <a:ext cx="210312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C4501F"/>
                </a:solidFill>
                <a:latin typeface="Microsoft YaHei" pitchFamily="34" charset="0"/>
                <a:ea typeface="Microsoft YaHei" pitchFamily="34" charset="-122"/>
                <a:cs typeface="Microsoft YaHei" pitchFamily="34" charset="-120"/>
              </a:rPr>
              <a:t>搬 4 KiB</a:t>
            </a:r>
            <a:endParaRPr lang="zh-CN" sz="1300" dirty="0"/>
          </a:p>
        </p:txBody>
      </p:sp>
      <p:sp>
        <p:nvSpPr>
          <p:cNvPr id="24" name="Text 22"/>
          <p:cNvSpPr/>
          <p:nvPr/>
        </p:nvSpPr>
        <p:spPr>
          <a:xfrm>
            <a:off x="7955280" y="2468880"/>
            <a:ext cx="2148840" cy="438912"/>
          </a:xfrm>
          <a:prstGeom prst="rect">
            <a:avLst/>
          </a:prstGeom>
          <a:noFill/>
          <a:ln/>
        </p:spPr>
        <p:txBody>
          <a:bodyPr wrap="square" lIns="0" tIns="0" rIns="0" bIns="0" rtlCol="0" anchor="t"/>
          <a:lstStyle/>
          <a:p>
            <a:pPr algn="l" indent="0" marL="0">
              <a:lnSpc>
                <a:spcPct val="110000"/>
              </a:lnSpc>
              <a:buNone/>
            </a:pPr>
            <a:r>
              <a:rPr lang="zh-CN" altLang="en-US" sz="1050" dirty="0">
                <a:solidFill>
                  <a:srgbClr val="52514E"/>
                </a:solidFill>
                <a:latin typeface="Microsoft YaHei" pitchFamily="34" charset="0"/>
                <a:ea typeface="Microsoft YaHei" pitchFamily="34" charset="-122"/>
                <a:cs typeface="Microsoft YaHei" pitchFamily="34" charset="-120"/>
              </a:rPr>
              <a:t>全部堆共 11.2 TB/s</a:t>
            </a:r>
            <a:endParaRPr lang="zh-CN" sz="1050" dirty="0"/>
          </a:p>
        </p:txBody>
      </p:sp>
      <p:sp>
        <p:nvSpPr>
          <p:cNvPr id="25" name="Shape 23"/>
          <p:cNvSpPr/>
          <p:nvPr/>
        </p:nvSpPr>
        <p:spPr>
          <a:xfrm>
            <a:off x="7424928" y="2377440"/>
            <a:ext cx="329184" cy="0"/>
          </a:xfrm>
          <a:prstGeom prst="line">
            <a:avLst/>
          </a:prstGeom>
          <a:noFill/>
          <a:ln w="19050">
            <a:solidFill>
              <a:srgbClr val="8A8A86"/>
            </a:solidFill>
            <a:prstDash val="solid"/>
            <a:tailEnd type="triangle"/>
          </a:ln>
        </p:spPr>
      </p:sp>
      <p:sp>
        <p:nvSpPr>
          <p:cNvPr id="26" name="Shape 24"/>
          <p:cNvSpPr/>
          <p:nvPr/>
        </p:nvSpPr>
        <p:spPr>
          <a:xfrm>
            <a:off x="10469880" y="2377440"/>
            <a:ext cx="347472" cy="0"/>
          </a:xfrm>
          <a:prstGeom prst="line">
            <a:avLst/>
          </a:prstGeom>
          <a:noFill/>
          <a:ln w="19050">
            <a:solidFill>
              <a:srgbClr val="8A8A86"/>
            </a:solidFill>
            <a:prstDash val="solid"/>
            <a:tailEnd type="triangle"/>
          </a:ln>
        </p:spPr>
      </p:sp>
      <p:sp>
        <p:nvSpPr>
          <p:cNvPr id="27" name="Shape 25"/>
          <p:cNvSpPr/>
          <p:nvPr/>
        </p:nvSpPr>
        <p:spPr>
          <a:xfrm>
            <a:off x="10835640" y="1828800"/>
            <a:ext cx="804672" cy="1097280"/>
          </a:xfrm>
          <a:prstGeom prst="rect">
            <a:avLst/>
          </a:prstGeom>
          <a:solidFill>
            <a:srgbClr val="13213A"/>
          </a:solidFill>
          <a:ln w="12700">
            <a:solidFill>
              <a:srgbClr val="13213A"/>
            </a:solidFill>
            <a:prstDash val="solid"/>
          </a:ln>
        </p:spPr>
      </p:sp>
      <p:sp>
        <p:nvSpPr>
          <p:cNvPr id="28" name="Text 26"/>
          <p:cNvSpPr/>
          <p:nvPr/>
        </p:nvSpPr>
        <p:spPr>
          <a:xfrm>
            <a:off x="10835640" y="1828800"/>
            <a:ext cx="804672" cy="1097280"/>
          </a:xfrm>
          <a:prstGeom prst="rect">
            <a:avLst/>
          </a:prstGeom>
          <a:noFill/>
          <a:ln/>
        </p:spPr>
        <p:txBody>
          <a:bodyPr wrap="square" lIns="0" tIns="0" rIns="0" bIns="0" rtlCol="0" anchor="ctr"/>
          <a:lstStyle/>
          <a:p>
            <a:pPr algn="ctr" indent="0" marL="0">
              <a:lnSpc>
                <a:spcPct val="112000"/>
              </a:lnSpc>
              <a:buNone/>
            </a:pPr>
            <a:r>
              <a:rPr lang="zh-CN" altLang="en-US" sz="1400" b="1" dirty="0">
                <a:solidFill>
                  <a:srgbClr val="FFFFFF"/>
                </a:solidFill>
                <a:latin typeface="Microsoft YaHei" pitchFamily="34" charset="0"/>
                <a:ea typeface="Microsoft YaHei" pitchFamily="34" charset="-122"/>
                <a:cs typeface="Microsoft YaHei" pitchFamily="34" charset="-120"/>
              </a:rPr>
              <a:t>完成</a:t>
            </a:r>
            <a:endParaRPr lang="zh-CN" sz="1400" dirty="0"/>
          </a:p>
        </p:txBody>
      </p:sp>
      <p:sp>
        <p:nvSpPr>
          <p:cNvPr id="29" name="Shape 27"/>
          <p:cNvSpPr/>
          <p:nvPr/>
        </p:nvSpPr>
        <p:spPr>
          <a:xfrm>
            <a:off x="1280160" y="2926080"/>
            <a:ext cx="0" cy="502920"/>
          </a:xfrm>
          <a:prstGeom prst="line">
            <a:avLst/>
          </a:prstGeom>
          <a:noFill/>
          <a:ln w="15875">
            <a:solidFill>
              <a:srgbClr val="C4501F"/>
            </a:solidFill>
            <a:prstDash val="solid"/>
          </a:ln>
        </p:spPr>
      </p:sp>
      <p:sp>
        <p:nvSpPr>
          <p:cNvPr id="30" name="Shape 28"/>
          <p:cNvSpPr/>
          <p:nvPr/>
        </p:nvSpPr>
        <p:spPr>
          <a:xfrm>
            <a:off x="1280160" y="3429000"/>
            <a:ext cx="6446520" cy="0"/>
          </a:xfrm>
          <a:prstGeom prst="line">
            <a:avLst/>
          </a:prstGeom>
          <a:noFill/>
          <a:ln w="15875">
            <a:solidFill>
              <a:srgbClr val="C4501F"/>
            </a:solidFill>
            <a:prstDash val="dash"/>
          </a:ln>
        </p:spPr>
      </p:sp>
      <p:sp>
        <p:nvSpPr>
          <p:cNvPr id="31" name="Shape 29"/>
          <p:cNvSpPr/>
          <p:nvPr/>
        </p:nvSpPr>
        <p:spPr>
          <a:xfrm flipV="1">
            <a:off x="7726680" y="2944368"/>
            <a:ext cx="0" cy="484632"/>
          </a:xfrm>
          <a:prstGeom prst="line">
            <a:avLst/>
          </a:prstGeom>
          <a:noFill/>
          <a:ln w="15875">
            <a:solidFill>
              <a:srgbClr val="C4501F"/>
            </a:solidFill>
            <a:prstDash val="solid"/>
            <a:tailEnd type="triangle"/>
          </a:ln>
        </p:spPr>
      </p:sp>
      <p:sp>
        <p:nvSpPr>
          <p:cNvPr id="32" name="Shape 30"/>
          <p:cNvSpPr/>
          <p:nvPr/>
        </p:nvSpPr>
        <p:spPr>
          <a:xfrm>
            <a:off x="2743200" y="3200400"/>
            <a:ext cx="4206240" cy="457200"/>
          </a:xfrm>
          <a:prstGeom prst="rect">
            <a:avLst/>
          </a:prstGeom>
          <a:solidFill>
            <a:srgbClr val="FFFFFF"/>
          </a:solidFill>
          <a:ln w="9525">
            <a:solidFill>
              <a:srgbClr val="F6C2AA"/>
            </a:solidFill>
            <a:prstDash val="solid"/>
          </a:ln>
        </p:spPr>
      </p:sp>
      <p:sp>
        <p:nvSpPr>
          <p:cNvPr id="33" name="Text 31"/>
          <p:cNvSpPr/>
          <p:nvPr/>
        </p:nvSpPr>
        <p:spPr>
          <a:xfrm>
            <a:off x="2743200" y="3200400"/>
            <a:ext cx="4206240" cy="457200"/>
          </a:xfrm>
          <a:prstGeom prst="rect">
            <a:avLst/>
          </a:prstGeom>
          <a:noFill/>
          <a:ln/>
        </p:spPr>
        <p:txBody>
          <a:bodyPr wrap="square" lIns="0" tIns="0" rIns="0" bIns="0" rtlCol="0" anchor="ctr"/>
          <a:lstStyle/>
          <a:p>
            <a:pPr algn="ctr" indent="0" marL="0">
              <a:lnSpc>
                <a:spcPct val="112000"/>
              </a:lnSpc>
              <a:buNone/>
            </a:pPr>
            <a:r>
              <a:rPr lang="zh-CN" altLang="en-US" sz="1150" b="1" dirty="0">
                <a:solidFill>
                  <a:srgbClr val="1A1D23"/>
                </a:solidFill>
                <a:latin typeface="Microsoft YaHei" pitchFamily="34" charset="0"/>
                <a:ea typeface="Microsoft YaHei" pitchFamily="34" charset="-122"/>
                <a:cs typeface="Microsoft YaHei" pitchFamily="34" charset="-120"/>
              </a:rPr>
              <a:t>页缓冲命中：跳过 ①②，只走 ③（0.37 ns vs 1,041 ns）</a:t>
            </a:r>
            <a:endParaRPr lang="zh-CN" sz="1150" dirty="0"/>
          </a:p>
        </p:txBody>
      </p:sp>
      <p:sp>
        <p:nvSpPr>
          <p:cNvPr id="34" name="Shape 32"/>
          <p:cNvSpPr/>
          <p:nvPr/>
        </p:nvSpPr>
        <p:spPr>
          <a:xfrm>
            <a:off x="548640" y="4114800"/>
            <a:ext cx="3520440" cy="2011680"/>
          </a:xfrm>
          <a:prstGeom prst="rect">
            <a:avLst/>
          </a:prstGeom>
          <a:solidFill>
            <a:srgbClr val="F4F4F1"/>
          </a:solidFill>
          <a:ln w="12700">
            <a:solidFill>
              <a:srgbClr val="F4F4F1"/>
            </a:solidFill>
            <a:prstDash val="solid"/>
          </a:ln>
        </p:spPr>
      </p:sp>
      <p:sp>
        <p:nvSpPr>
          <p:cNvPr id="35" name="Text 33"/>
          <p:cNvSpPr/>
          <p:nvPr/>
        </p:nvSpPr>
        <p:spPr>
          <a:xfrm>
            <a:off x="749808" y="4233672"/>
            <a:ext cx="3108960" cy="301752"/>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读放大</a:t>
            </a:r>
            <a:endParaRPr lang="zh-CN" sz="1400" dirty="0"/>
          </a:p>
        </p:txBody>
      </p:sp>
      <p:sp>
        <p:nvSpPr>
          <p:cNvPr id="36" name="Text 34"/>
          <p:cNvSpPr/>
          <p:nvPr/>
        </p:nvSpPr>
        <p:spPr>
          <a:xfrm>
            <a:off x="749808" y="4553712"/>
            <a:ext cx="3154680" cy="457200"/>
          </a:xfrm>
          <a:prstGeom prst="rect">
            <a:avLst/>
          </a:prstGeom>
          <a:noFill/>
          <a:ln/>
        </p:spPr>
        <p:txBody>
          <a:bodyPr wrap="square" lIns="0" tIns="0" rIns="0" bIns="0" rtlCol="0" anchor="t"/>
          <a:lstStyle/>
          <a:p>
            <a:pPr algn="l" indent="0" marL="0">
              <a:lnSpc>
                <a:spcPct val="115000"/>
              </a:lnSpc>
              <a:buNone/>
            </a:pPr>
            <a:r>
              <a:rPr lang="zh-CN" altLang="en-US" sz="1150" dirty="0">
                <a:solidFill>
                  <a:srgbClr val="52514E"/>
                </a:solidFill>
                <a:latin typeface="Microsoft YaHei" pitchFamily="34" charset="0"/>
                <a:ea typeface="Microsoft YaHei" pitchFamily="34" charset="-122"/>
                <a:cs typeface="Microsoft YaHei" pitchFamily="34" charset="-120"/>
              </a:rPr>
              <a:t>只要 256 B，也要读出并搬运整页 4 KiB</a:t>
            </a:r>
            <a:endParaRPr lang="zh-CN" sz="1150" dirty="0"/>
          </a:p>
        </p:txBody>
      </p:sp>
      <p:sp>
        <p:nvSpPr>
          <p:cNvPr id="37" name="Text 35"/>
          <p:cNvSpPr/>
          <p:nvPr/>
        </p:nvSpPr>
        <p:spPr>
          <a:xfrm>
            <a:off x="749808" y="5029200"/>
            <a:ext cx="3108960" cy="566928"/>
          </a:xfrm>
          <a:prstGeom prst="rect">
            <a:avLst/>
          </a:prstGeom>
          <a:noFill/>
          <a:ln/>
        </p:spPr>
        <p:txBody>
          <a:bodyPr wrap="square" lIns="0" tIns="0" rIns="0" bIns="0" rtlCol="0" anchor="t"/>
          <a:lstStyle/>
          <a:p>
            <a:pPr algn="l" indent="0" marL="0">
              <a:lnSpc>
                <a:spcPct val="112000"/>
              </a:lnSpc>
              <a:buNone/>
            </a:pPr>
            <a:r>
              <a:rPr lang="zh-CN" altLang="en-US" sz="3000" b="1" dirty="0">
                <a:solidFill>
                  <a:srgbClr val="1A1D23"/>
                </a:solidFill>
                <a:latin typeface="Microsoft YaHei" pitchFamily="34" charset="0"/>
                <a:ea typeface="Microsoft YaHei" pitchFamily="34" charset="-122"/>
                <a:cs typeface="Microsoft YaHei" pitchFamily="34" charset="-120"/>
              </a:rPr>
              <a:t>16×</a:t>
            </a:r>
            <a:endParaRPr lang="zh-CN" sz="3000" dirty="0"/>
          </a:p>
        </p:txBody>
      </p:sp>
      <p:sp>
        <p:nvSpPr>
          <p:cNvPr id="38" name="Text 36"/>
          <p:cNvSpPr/>
          <p:nvPr/>
        </p:nvSpPr>
        <p:spPr>
          <a:xfrm>
            <a:off x="749808" y="5623560"/>
            <a:ext cx="31546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单个 token 的读：搬运 4,096 B，有用 256 B</a:t>
            </a:r>
            <a:endParaRPr lang="zh-CN" sz="1100" dirty="0"/>
          </a:p>
        </p:txBody>
      </p:sp>
      <p:sp>
        <p:nvSpPr>
          <p:cNvPr id="39" name="Shape 37"/>
          <p:cNvSpPr/>
          <p:nvPr/>
        </p:nvSpPr>
        <p:spPr>
          <a:xfrm>
            <a:off x="4334256" y="4114800"/>
            <a:ext cx="3520440" cy="2011680"/>
          </a:xfrm>
          <a:prstGeom prst="rect">
            <a:avLst/>
          </a:prstGeom>
          <a:solidFill>
            <a:srgbClr val="F4F4F1"/>
          </a:solidFill>
          <a:ln w="12700">
            <a:solidFill>
              <a:srgbClr val="F4F4F1"/>
            </a:solidFill>
            <a:prstDash val="solid"/>
          </a:ln>
        </p:spPr>
      </p:sp>
      <p:sp>
        <p:nvSpPr>
          <p:cNvPr id="40" name="Text 38"/>
          <p:cNvSpPr/>
          <p:nvPr/>
        </p:nvSpPr>
        <p:spPr>
          <a:xfrm>
            <a:off x="4535424" y="4233672"/>
            <a:ext cx="3108960" cy="301752"/>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并行靠“铺页”</a:t>
            </a:r>
            <a:endParaRPr lang="zh-CN" sz="1400" dirty="0"/>
          </a:p>
        </p:txBody>
      </p:sp>
      <p:sp>
        <p:nvSpPr>
          <p:cNvPr id="41" name="Text 39"/>
          <p:cNvSpPr/>
          <p:nvPr/>
        </p:nvSpPr>
        <p:spPr>
          <a:xfrm>
            <a:off x="4535424" y="4553712"/>
            <a:ext cx="3154680" cy="457200"/>
          </a:xfrm>
          <a:prstGeom prst="rect">
            <a:avLst/>
          </a:prstGeom>
          <a:noFill/>
          <a:ln/>
        </p:spPr>
        <p:txBody>
          <a:bodyPr wrap="square" lIns="0" tIns="0" rIns="0" bIns="0" rtlCol="0" anchor="t"/>
          <a:lstStyle/>
          <a:p>
            <a:pPr algn="l" indent="0" marL="0">
              <a:lnSpc>
                <a:spcPct val="115000"/>
              </a:lnSpc>
              <a:buNone/>
            </a:pPr>
            <a:r>
              <a:rPr lang="zh-CN" altLang="en-US" sz="1150" dirty="0">
                <a:solidFill>
                  <a:srgbClr val="52514E"/>
                </a:solidFill>
                <a:latin typeface="Microsoft YaHei" pitchFamily="34" charset="0"/>
                <a:ea typeface="Microsoft YaHei" pitchFamily="34" charset="-122"/>
                <a:cs typeface="Microsoft YaHei" pitchFamily="34" charset="-120"/>
              </a:rPr>
              <a:t>连续的页依次落到 112 个 die，再换 plane</a:t>
            </a:r>
            <a:endParaRPr lang="zh-CN" sz="1150" dirty="0"/>
          </a:p>
        </p:txBody>
      </p:sp>
      <p:sp>
        <p:nvSpPr>
          <p:cNvPr id="42" name="Text 40"/>
          <p:cNvSpPr/>
          <p:nvPr/>
        </p:nvSpPr>
        <p:spPr>
          <a:xfrm>
            <a:off x="4535424" y="5029200"/>
            <a:ext cx="3108960" cy="566928"/>
          </a:xfrm>
          <a:prstGeom prst="rect">
            <a:avLst/>
          </a:prstGeom>
          <a:noFill/>
          <a:ln/>
        </p:spPr>
        <p:txBody>
          <a:bodyPr wrap="square" lIns="0" tIns="0" rIns="0" bIns="0" rtlCol="0" anchor="t"/>
          <a:lstStyle/>
          <a:p>
            <a:pPr algn="l" indent="0" marL="0">
              <a:lnSpc>
                <a:spcPct val="112000"/>
              </a:lnSpc>
              <a:buNone/>
            </a:pPr>
            <a:r>
              <a:rPr lang="zh-CN" altLang="en-US" sz="3000" b="1" dirty="0">
                <a:solidFill>
                  <a:srgbClr val="1A1D23"/>
                </a:solidFill>
                <a:latin typeface="Microsoft YaHei" pitchFamily="34" charset="0"/>
                <a:ea typeface="Microsoft YaHei" pitchFamily="34" charset="-122"/>
                <a:cs typeface="Microsoft YaHei" pitchFamily="34" charset="-120"/>
              </a:rPr>
              <a:t>1.13 µs</a:t>
            </a:r>
            <a:endParaRPr lang="zh-CN" sz="3000" dirty="0"/>
          </a:p>
        </p:txBody>
      </p:sp>
      <p:sp>
        <p:nvSpPr>
          <p:cNvPr id="43" name="Text 41"/>
          <p:cNvSpPr/>
          <p:nvPr/>
        </p:nvSpPr>
        <p:spPr>
          <a:xfrm>
            <a:off x="4535424" y="5623560"/>
            <a:ext cx="31546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1 MiB 连续读：256 页同时在不同 plane 上读</a:t>
            </a:r>
            <a:endParaRPr lang="zh-CN" sz="1100" dirty="0"/>
          </a:p>
        </p:txBody>
      </p:sp>
      <p:sp>
        <p:nvSpPr>
          <p:cNvPr id="44" name="Shape 42"/>
          <p:cNvSpPr/>
          <p:nvPr/>
        </p:nvSpPr>
        <p:spPr>
          <a:xfrm>
            <a:off x="8119872" y="4114800"/>
            <a:ext cx="3520440" cy="2011680"/>
          </a:xfrm>
          <a:prstGeom prst="rect">
            <a:avLst/>
          </a:prstGeom>
          <a:solidFill>
            <a:srgbClr val="F4F4F1"/>
          </a:solidFill>
          <a:ln w="12700">
            <a:solidFill>
              <a:srgbClr val="F4F4F1"/>
            </a:solidFill>
            <a:prstDash val="solid"/>
          </a:ln>
        </p:spPr>
      </p:sp>
      <p:sp>
        <p:nvSpPr>
          <p:cNvPr id="45" name="Text 43"/>
          <p:cNvSpPr/>
          <p:nvPr/>
        </p:nvSpPr>
        <p:spPr>
          <a:xfrm>
            <a:off x="8321040" y="4233672"/>
            <a:ext cx="3108960" cy="301752"/>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位置也有影响</a:t>
            </a:r>
            <a:endParaRPr lang="zh-CN" sz="1400" dirty="0"/>
          </a:p>
        </p:txBody>
      </p:sp>
      <p:sp>
        <p:nvSpPr>
          <p:cNvPr id="46" name="Text 44"/>
          <p:cNvSpPr/>
          <p:nvPr/>
        </p:nvSpPr>
        <p:spPr>
          <a:xfrm>
            <a:off x="8321040" y="4553712"/>
            <a:ext cx="3154680" cy="457200"/>
          </a:xfrm>
          <a:prstGeom prst="rect">
            <a:avLst/>
          </a:prstGeom>
          <a:noFill/>
          <a:ln/>
        </p:spPr>
        <p:txBody>
          <a:bodyPr wrap="square" lIns="0" tIns="0" rIns="0" bIns="0" rtlCol="0" anchor="t"/>
          <a:lstStyle/>
          <a:p>
            <a:pPr algn="l" indent="0" marL="0">
              <a:lnSpc>
                <a:spcPct val="115000"/>
              </a:lnSpc>
              <a:buNone/>
            </a:pPr>
            <a:r>
              <a:rPr lang="zh-CN" altLang="en-US" sz="1150" dirty="0">
                <a:solidFill>
                  <a:srgbClr val="52514E"/>
                </a:solidFill>
                <a:latin typeface="Microsoft YaHei" pitchFamily="34" charset="0"/>
                <a:ea typeface="Microsoft YaHei" pitchFamily="34" charset="-122"/>
                <a:cs typeface="Microsoft YaHei" pitchFamily="34" charset="-120"/>
              </a:rPr>
              <a:t>页落到同一个 plane，读页只能排队</a:t>
            </a:r>
            <a:endParaRPr lang="zh-CN" sz="1150" dirty="0"/>
          </a:p>
        </p:txBody>
      </p:sp>
      <p:sp>
        <p:nvSpPr>
          <p:cNvPr id="47" name="Text 45"/>
          <p:cNvSpPr/>
          <p:nvPr/>
        </p:nvSpPr>
        <p:spPr>
          <a:xfrm>
            <a:off x="8321040" y="5029200"/>
            <a:ext cx="3108960" cy="566928"/>
          </a:xfrm>
          <a:prstGeom prst="rect">
            <a:avLst/>
          </a:prstGeom>
          <a:noFill/>
          <a:ln/>
        </p:spPr>
        <p:txBody>
          <a:bodyPr wrap="square" lIns="0" tIns="0" rIns="0" bIns="0" rtlCol="0" anchor="t"/>
          <a:lstStyle/>
          <a:p>
            <a:pPr algn="l" indent="0" marL="0">
              <a:lnSpc>
                <a:spcPct val="112000"/>
              </a:lnSpc>
              <a:buNone/>
            </a:pPr>
            <a:r>
              <a:rPr lang="zh-CN" altLang="en-US" sz="3000" b="1" dirty="0">
                <a:solidFill>
                  <a:srgbClr val="1A1D23"/>
                </a:solidFill>
                <a:latin typeface="Microsoft YaHei" pitchFamily="34" charset="0"/>
                <a:ea typeface="Microsoft YaHei" pitchFamily="34" charset="-122"/>
                <a:cs typeface="Microsoft YaHei" pitchFamily="34" charset="-120"/>
              </a:rPr>
              <a:t>3.25 µs</a:t>
            </a:r>
            <a:endParaRPr lang="zh-CN" sz="3000" dirty="0"/>
          </a:p>
        </p:txBody>
      </p:sp>
      <p:sp>
        <p:nvSpPr>
          <p:cNvPr id="48" name="Text 46"/>
          <p:cNvSpPr/>
          <p:nvPr/>
        </p:nvSpPr>
        <p:spPr>
          <a:xfrm>
            <a:off x="8321040" y="5623560"/>
            <a:ext cx="31546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256 个随机页：有的 plane 分到 3 页，只能串行读 3 次</a:t>
            </a:r>
            <a:endParaRPr lang="zh-CN"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09 · HBF 实测：读多大</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HBF：KV 读得越大、越并发，越接近 HBM；短读时劣势最大</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仿真器探针：单个冷请求，读一个请求一层的 K（405B、TP8 每 token 256 B）；批量行为 64 个 SHORT 请求同时读各自的 K 缓冲区</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10</a:t>
            </a:r>
            <a:endParaRPr lang="zh-CN" sz="900" dirty="0"/>
          </a:p>
        </p:txBody>
      </p:sp>
      <p:sp>
        <p:nvSpPr>
          <p:cNvPr id="6" name="Text 4"/>
          <p:cNvSpPr/>
          <p:nvPr/>
        </p:nvSpPr>
        <p:spPr>
          <a:xfrm>
            <a:off x="548640" y="1536192"/>
            <a:ext cx="7132320" cy="274320"/>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单次读的有效带宽（GB/s，对数刻度）</a:t>
            </a:r>
            <a:endParaRPr lang="zh-CN" sz="1300" dirty="0"/>
          </a:p>
        </p:txBody>
      </p:sp>
      <p:graphicFrame>
        <p:nvGraphicFramePr>
          <p:cNvPr id="7" name="Chart 0" descr=""/>
          <p:cNvGraphicFramePr/>
          <p:nvPr/>
        </p:nvGraphicFramePr>
        <p:xfrm>
          <a:off x="457200" y="1810512"/>
          <a:ext cx="7223760" cy="42976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572768"/>
            <a:ext cx="3639312" cy="2697480"/>
          </a:xfrm>
          <a:prstGeom prst="rect">
            <a:avLst/>
          </a:prstGeom>
          <a:solidFill>
            <a:srgbClr val="F4F4F1"/>
          </a:solidFill>
          <a:ln w="12700">
            <a:solidFill>
              <a:srgbClr val="F4F4F1"/>
            </a:solidFill>
            <a:prstDash val="solid"/>
          </a:ln>
        </p:spPr>
      </p:sp>
      <p:sp>
        <p:nvSpPr>
          <p:cNvPr id="9" name="Text 6"/>
          <p:cNvSpPr/>
          <p:nvPr/>
        </p:nvSpPr>
        <p:spPr>
          <a:xfrm>
            <a:off x="8202168" y="1691640"/>
            <a:ext cx="3291840" cy="301752"/>
          </a:xfrm>
          <a:prstGeom prst="rect">
            <a:avLst/>
          </a:prstGeom>
          <a:noFill/>
          <a:ln/>
        </p:spPr>
        <p:txBody>
          <a:bodyPr wrap="square" lIns="0" tIns="0" rIns="0" bIns="0" rtlCol="0" anchor="t"/>
          <a:lstStyle/>
          <a:p>
            <a:pPr algn="l" indent="0" marL="0">
              <a:lnSpc>
                <a:spcPct val="112000"/>
              </a:lnSpc>
              <a:buNone/>
            </a:pPr>
            <a:r>
              <a:rPr lang="zh-CN" altLang="en-US" sz="1350" b="1" dirty="0">
                <a:solidFill>
                  <a:srgbClr val="1A1D23"/>
                </a:solidFill>
                <a:latin typeface="Microsoft YaHei" pitchFamily="34" charset="0"/>
                <a:ea typeface="Microsoft YaHei" pitchFamily="34" charset="-122"/>
                <a:cs typeface="Microsoft YaHei" pitchFamily="34" charset="-120"/>
              </a:rPr>
              <a:t>HBF 耗时是 HBM 的几倍</a:t>
            </a:r>
            <a:endParaRPr lang="zh-CN" sz="1350" dirty="0"/>
          </a:p>
        </p:txBody>
      </p:sp>
      <p:sp>
        <p:nvSpPr>
          <p:cNvPr id="10" name="Text 7"/>
          <p:cNvSpPr/>
          <p:nvPr/>
        </p:nvSpPr>
        <p:spPr>
          <a:xfrm>
            <a:off x="8202168" y="2075688"/>
            <a:ext cx="2103120" cy="365760"/>
          </a:xfrm>
          <a:prstGeom prst="rect">
            <a:avLst/>
          </a:prstGeom>
          <a:noFill/>
          <a:ln/>
        </p:spPr>
        <p:txBody>
          <a:bodyPr wrap="square" lIns="0" tIns="0" rIns="0" bIns="0" rtlCol="0" anchor="ctr"/>
          <a:lstStyle/>
          <a:p>
            <a:pPr algn="l" indent="0" marL="0">
              <a:lnSpc>
                <a:spcPct val="112000"/>
              </a:lnSpc>
              <a:buNone/>
            </a:pPr>
            <a:r>
              <a:rPr lang="zh-CN" altLang="en-US" sz="1200" dirty="0">
                <a:solidFill>
                  <a:srgbClr val="52514E"/>
                </a:solidFill>
                <a:latin typeface="Microsoft YaHei" pitchFamily="34" charset="0"/>
                <a:ea typeface="Microsoft YaHei" pitchFamily="34" charset="-122"/>
                <a:cs typeface="Microsoft YaHei" pitchFamily="34" charset="-120"/>
              </a:rPr>
              <a:t>1 token（256 B）</a:t>
            </a:r>
            <a:endParaRPr lang="zh-CN" sz="1200" dirty="0"/>
          </a:p>
        </p:txBody>
      </p:sp>
      <p:sp>
        <p:nvSpPr>
          <p:cNvPr id="11" name="Text 8"/>
          <p:cNvSpPr/>
          <p:nvPr/>
        </p:nvSpPr>
        <p:spPr>
          <a:xfrm>
            <a:off x="10058400" y="2075688"/>
            <a:ext cx="1371600" cy="365760"/>
          </a:xfrm>
          <a:prstGeom prst="rect">
            <a:avLst/>
          </a:prstGeom>
          <a:noFill/>
          <a:ln/>
        </p:spPr>
        <p:txBody>
          <a:bodyPr wrap="square" lIns="0" tIns="0" rIns="0" bIns="0" rtlCol="0" anchor="ctr"/>
          <a:lstStyle/>
          <a:p>
            <a:pPr algn="r"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27.6×</a:t>
            </a:r>
            <a:endParaRPr lang="zh-CN" sz="1600" dirty="0"/>
          </a:p>
        </p:txBody>
      </p:sp>
      <p:sp>
        <p:nvSpPr>
          <p:cNvPr id="12" name="Text 9"/>
          <p:cNvSpPr/>
          <p:nvPr/>
        </p:nvSpPr>
        <p:spPr>
          <a:xfrm>
            <a:off x="8202168" y="2496312"/>
            <a:ext cx="2103120" cy="365760"/>
          </a:xfrm>
          <a:prstGeom prst="rect">
            <a:avLst/>
          </a:prstGeom>
          <a:noFill/>
          <a:ln/>
        </p:spPr>
        <p:txBody>
          <a:bodyPr wrap="square" lIns="0" tIns="0" rIns="0" bIns="0" rtlCol="0" anchor="ctr"/>
          <a:lstStyle/>
          <a:p>
            <a:pPr algn="l" indent="0" marL="0">
              <a:lnSpc>
                <a:spcPct val="112000"/>
              </a:lnSpc>
              <a:buNone/>
            </a:pPr>
            <a:r>
              <a:rPr lang="zh-CN" altLang="en-US" sz="1200" dirty="0">
                <a:solidFill>
                  <a:srgbClr val="52514E"/>
                </a:solidFill>
                <a:latin typeface="Microsoft YaHei" pitchFamily="34" charset="0"/>
                <a:ea typeface="Microsoft YaHei" pitchFamily="34" charset="-122"/>
                <a:cs typeface="Microsoft YaHei" pitchFamily="34" charset="-120"/>
              </a:rPr>
              <a:t>16 token（4 KiB）</a:t>
            </a:r>
            <a:endParaRPr lang="zh-CN" sz="1200" dirty="0"/>
          </a:p>
        </p:txBody>
      </p:sp>
      <p:sp>
        <p:nvSpPr>
          <p:cNvPr id="13" name="Text 10"/>
          <p:cNvSpPr/>
          <p:nvPr/>
        </p:nvSpPr>
        <p:spPr>
          <a:xfrm>
            <a:off x="10058400" y="2496312"/>
            <a:ext cx="1371600" cy="365760"/>
          </a:xfrm>
          <a:prstGeom prst="rect">
            <a:avLst/>
          </a:prstGeom>
          <a:noFill/>
          <a:ln/>
        </p:spPr>
        <p:txBody>
          <a:bodyPr wrap="square" lIns="0" tIns="0" rIns="0" bIns="0" rtlCol="0" anchor="ctr"/>
          <a:lstStyle/>
          <a:p>
            <a:pPr algn="r"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27.6×</a:t>
            </a:r>
            <a:endParaRPr lang="zh-CN" sz="1600" dirty="0"/>
          </a:p>
        </p:txBody>
      </p:sp>
      <p:sp>
        <p:nvSpPr>
          <p:cNvPr id="14" name="Text 11"/>
          <p:cNvSpPr/>
          <p:nvPr/>
        </p:nvSpPr>
        <p:spPr>
          <a:xfrm>
            <a:off x="8202168" y="2916936"/>
            <a:ext cx="2103120" cy="365760"/>
          </a:xfrm>
          <a:prstGeom prst="rect">
            <a:avLst/>
          </a:prstGeom>
          <a:noFill/>
          <a:ln/>
        </p:spPr>
        <p:txBody>
          <a:bodyPr wrap="square" lIns="0" tIns="0" rIns="0" bIns="0" rtlCol="0" anchor="ctr"/>
          <a:lstStyle/>
          <a:p>
            <a:pPr algn="l" indent="0" marL="0">
              <a:lnSpc>
                <a:spcPct val="112000"/>
              </a:lnSpc>
              <a:buNone/>
            </a:pPr>
            <a:r>
              <a:rPr lang="zh-CN" altLang="en-US" sz="1200" dirty="0">
                <a:solidFill>
                  <a:srgbClr val="52514E"/>
                </a:solidFill>
                <a:latin typeface="Microsoft YaHei" pitchFamily="34" charset="0"/>
                <a:ea typeface="Microsoft YaHei" pitchFamily="34" charset="-122"/>
                <a:cs typeface="Microsoft YaHei" pitchFamily="34" charset="-120"/>
              </a:rPr>
              <a:t>SHORT（425 KB）</a:t>
            </a:r>
            <a:endParaRPr lang="zh-CN" sz="1200" dirty="0"/>
          </a:p>
        </p:txBody>
      </p:sp>
      <p:sp>
        <p:nvSpPr>
          <p:cNvPr id="15" name="Text 12"/>
          <p:cNvSpPr/>
          <p:nvPr/>
        </p:nvSpPr>
        <p:spPr>
          <a:xfrm>
            <a:off x="10058400" y="2916936"/>
            <a:ext cx="1371600" cy="365760"/>
          </a:xfrm>
          <a:prstGeom prst="rect">
            <a:avLst/>
          </a:prstGeom>
          <a:noFill/>
          <a:ln/>
        </p:spPr>
        <p:txBody>
          <a:bodyPr wrap="square" lIns="0" tIns="0" rIns="0" bIns="0" rtlCol="0" anchor="ctr"/>
          <a:lstStyle/>
          <a:p>
            <a:pPr algn="r"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6.53×</a:t>
            </a:r>
            <a:endParaRPr lang="zh-CN" sz="1600" dirty="0"/>
          </a:p>
        </p:txBody>
      </p:sp>
      <p:sp>
        <p:nvSpPr>
          <p:cNvPr id="16" name="Text 13"/>
          <p:cNvSpPr/>
          <p:nvPr/>
        </p:nvSpPr>
        <p:spPr>
          <a:xfrm>
            <a:off x="8202168" y="3337560"/>
            <a:ext cx="2103120" cy="365760"/>
          </a:xfrm>
          <a:prstGeom prst="rect">
            <a:avLst/>
          </a:prstGeom>
          <a:noFill/>
          <a:ln/>
        </p:spPr>
        <p:txBody>
          <a:bodyPr wrap="square" lIns="0" tIns="0" rIns="0" bIns="0" rtlCol="0" anchor="ctr"/>
          <a:lstStyle/>
          <a:p>
            <a:pPr algn="l" indent="0" marL="0">
              <a:lnSpc>
                <a:spcPct val="112000"/>
              </a:lnSpc>
              <a:buNone/>
            </a:pPr>
            <a:r>
              <a:rPr lang="zh-CN" altLang="en-US" sz="1200" dirty="0">
                <a:solidFill>
                  <a:srgbClr val="52514E"/>
                </a:solidFill>
                <a:latin typeface="Microsoft YaHei" pitchFamily="34" charset="0"/>
                <a:ea typeface="Microsoft YaHei" pitchFamily="34" charset="-122"/>
                <a:cs typeface="Microsoft YaHei" pitchFamily="34" charset="-120"/>
              </a:rPr>
              <a:t>MID（1.5 MB）</a:t>
            </a:r>
            <a:endParaRPr lang="zh-CN" sz="1200" dirty="0"/>
          </a:p>
        </p:txBody>
      </p:sp>
      <p:sp>
        <p:nvSpPr>
          <p:cNvPr id="17" name="Text 14"/>
          <p:cNvSpPr/>
          <p:nvPr/>
        </p:nvSpPr>
        <p:spPr>
          <a:xfrm>
            <a:off x="10058400" y="3337560"/>
            <a:ext cx="1371600" cy="365760"/>
          </a:xfrm>
          <a:prstGeom prst="rect">
            <a:avLst/>
          </a:prstGeom>
          <a:noFill/>
          <a:ln/>
        </p:spPr>
        <p:txBody>
          <a:bodyPr wrap="square" lIns="0" tIns="0" rIns="0" bIns="0" rtlCol="0" anchor="ctr"/>
          <a:lstStyle/>
          <a:p>
            <a:pPr algn="r"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2.95×</a:t>
            </a:r>
            <a:endParaRPr lang="zh-CN" sz="1600" dirty="0"/>
          </a:p>
        </p:txBody>
      </p:sp>
      <p:sp>
        <p:nvSpPr>
          <p:cNvPr id="18" name="Text 15"/>
          <p:cNvSpPr/>
          <p:nvPr/>
        </p:nvSpPr>
        <p:spPr>
          <a:xfrm>
            <a:off x="8202168" y="3758184"/>
            <a:ext cx="2103120" cy="365760"/>
          </a:xfrm>
          <a:prstGeom prst="rect">
            <a:avLst/>
          </a:prstGeom>
          <a:noFill/>
          <a:ln/>
        </p:spPr>
        <p:txBody>
          <a:bodyPr wrap="square" lIns="0" tIns="0" rIns="0" bIns="0" rtlCol="0" anchor="ctr"/>
          <a:lstStyle/>
          <a:p>
            <a:pPr algn="l" indent="0" marL="0">
              <a:lnSpc>
                <a:spcPct val="112000"/>
              </a:lnSpc>
              <a:buNone/>
            </a:pPr>
            <a:r>
              <a:rPr lang="zh-CN" altLang="en-US" sz="1200" dirty="0">
                <a:solidFill>
                  <a:srgbClr val="52514E"/>
                </a:solidFill>
                <a:latin typeface="Microsoft YaHei" pitchFamily="34" charset="0"/>
                <a:ea typeface="Microsoft YaHei" pitchFamily="34" charset="-122"/>
                <a:cs typeface="Microsoft YaHei" pitchFamily="34" charset="-120"/>
              </a:rPr>
              <a:t>LONG（26.5 MB）</a:t>
            </a:r>
            <a:endParaRPr lang="zh-CN" sz="1200" dirty="0"/>
          </a:p>
        </p:txBody>
      </p:sp>
      <p:sp>
        <p:nvSpPr>
          <p:cNvPr id="19" name="Text 16"/>
          <p:cNvSpPr/>
          <p:nvPr/>
        </p:nvSpPr>
        <p:spPr>
          <a:xfrm>
            <a:off x="10058400" y="3758184"/>
            <a:ext cx="1371600" cy="365760"/>
          </a:xfrm>
          <a:prstGeom prst="rect">
            <a:avLst/>
          </a:prstGeom>
          <a:noFill/>
          <a:ln/>
        </p:spPr>
        <p:txBody>
          <a:bodyPr wrap="square" lIns="0" tIns="0" rIns="0" bIns="0" rtlCol="0" anchor="ctr"/>
          <a:lstStyle/>
          <a:p>
            <a:pPr algn="r" indent="0" marL="0">
              <a:lnSpc>
                <a:spcPct val="112000"/>
              </a:lnSpc>
              <a:buNone/>
            </a:pPr>
            <a:r>
              <a:rPr lang="zh-CN" altLang="en-US" sz="1600" b="1" dirty="0">
                <a:solidFill>
                  <a:srgbClr val="1A1D23"/>
                </a:solidFill>
                <a:latin typeface="Microsoft YaHei" pitchFamily="34" charset="0"/>
                <a:ea typeface="Microsoft YaHei" pitchFamily="34" charset="-122"/>
                <a:cs typeface="Microsoft YaHei" pitchFamily="34" charset="-120"/>
              </a:rPr>
              <a:t>1.39×</a:t>
            </a:r>
            <a:endParaRPr lang="zh-CN" sz="1600" dirty="0"/>
          </a:p>
        </p:txBody>
      </p:sp>
      <p:sp>
        <p:nvSpPr>
          <p:cNvPr id="20" name="Shape 17"/>
          <p:cNvSpPr/>
          <p:nvPr/>
        </p:nvSpPr>
        <p:spPr>
          <a:xfrm>
            <a:off x="8001000" y="4407408"/>
            <a:ext cx="3639312" cy="1719072"/>
          </a:xfrm>
          <a:prstGeom prst="rect">
            <a:avLst/>
          </a:prstGeom>
          <a:solidFill>
            <a:srgbClr val="FCE8DF"/>
          </a:solidFill>
          <a:ln w="12700">
            <a:solidFill>
              <a:srgbClr val="FCE8DF"/>
            </a:solidFill>
            <a:prstDash val="solid"/>
          </a:ln>
        </p:spPr>
      </p:sp>
      <p:sp>
        <p:nvSpPr>
          <p:cNvPr id="21" name="Text 18"/>
          <p:cNvSpPr/>
          <p:nvPr/>
        </p:nvSpPr>
        <p:spPr>
          <a:xfrm>
            <a:off x="8202168" y="4517136"/>
            <a:ext cx="3291840" cy="301752"/>
          </a:xfrm>
          <a:prstGeom prst="rect">
            <a:avLst/>
          </a:prstGeom>
          <a:noFill/>
          <a:ln/>
        </p:spPr>
        <p:txBody>
          <a:bodyPr wrap="square" lIns="0" tIns="0" rIns="0" bIns="0" rtlCol="0" anchor="t"/>
          <a:lstStyle/>
          <a:p>
            <a:pPr algn="l" indent="0" marL="0">
              <a:lnSpc>
                <a:spcPct val="112000"/>
              </a:lnSpc>
              <a:buNone/>
            </a:pPr>
            <a:r>
              <a:rPr lang="zh-CN" altLang="en-US" sz="1350" b="1" dirty="0">
                <a:solidFill>
                  <a:srgbClr val="1A1D23"/>
                </a:solidFill>
                <a:latin typeface="Microsoft YaHei" pitchFamily="34" charset="0"/>
                <a:ea typeface="Microsoft YaHei" pitchFamily="34" charset="-122"/>
                <a:cs typeface="Microsoft YaHei" pitchFamily="34" charset="-120"/>
              </a:rPr>
              <a:t>批量也能把读“凑大”</a:t>
            </a:r>
            <a:endParaRPr lang="zh-CN" sz="1350" dirty="0"/>
          </a:p>
        </p:txBody>
      </p:sp>
      <p:sp>
        <p:nvSpPr>
          <p:cNvPr id="22" name="Text 19"/>
          <p:cNvSpPr/>
          <p:nvPr/>
        </p:nvSpPr>
        <p:spPr>
          <a:xfrm>
            <a:off x="8202168" y="4846320"/>
            <a:ext cx="3291840" cy="640080"/>
          </a:xfrm>
          <a:prstGeom prst="rect">
            <a:avLst/>
          </a:prstGeom>
          <a:noFill/>
          <a:ln/>
        </p:spPr>
        <p:txBody>
          <a:bodyPr wrap="square" lIns="0" tIns="0" rIns="0" bIns="0" rtlCol="0" anchor="t"/>
          <a:lstStyle/>
          <a:p>
            <a:pPr algn="l" indent="0" marL="0">
              <a:lnSpc>
                <a:spcPct val="125000"/>
              </a:lnSpc>
              <a:buNone/>
            </a:pPr>
            <a:r>
              <a:rPr lang="zh-CN" altLang="en-US" sz="1200" dirty="0">
                <a:solidFill>
                  <a:srgbClr val="1A1D23"/>
                </a:solidFill>
                <a:latin typeface="Microsoft YaHei" pitchFamily="34" charset="0"/>
                <a:ea typeface="Microsoft YaHei" pitchFamily="34" charset="-122"/>
                <a:cs typeface="Microsoft YaHei" pitchFamily="34" charset="-120"/>
              </a:rPr>
              <a:t>64 个 SHORT 请求同时读：HBF 7.75 TB/s，HBM 10.73 TB/s，只差 1.38×。</a:t>
            </a:r>
            <a:endParaRPr lang="zh-CN" sz="1200" dirty="0"/>
          </a:p>
        </p:txBody>
      </p:sp>
      <p:sp>
        <p:nvSpPr>
          <p:cNvPr id="23" name="Text 20"/>
          <p:cNvSpPr/>
          <p:nvPr/>
        </p:nvSpPr>
        <p:spPr>
          <a:xfrm>
            <a:off x="8202168" y="5504688"/>
            <a:ext cx="3291840" cy="548640"/>
          </a:xfrm>
          <a:prstGeom prst="rect">
            <a:avLst/>
          </a:prstGeom>
          <a:noFill/>
          <a:ln/>
        </p:spPr>
        <p:txBody>
          <a:bodyPr wrap="square" lIns="0" tIns="0" rIns="0" bIns="0" rtlCol="0" anchor="t"/>
          <a:lstStyle/>
          <a:p>
            <a:pPr algn="l" indent="0" marL="0">
              <a:lnSpc>
                <a:spcPct val="120000"/>
              </a:lnSpc>
              <a:buNone/>
            </a:pPr>
            <a:r>
              <a:rPr lang="zh-CN" altLang="en-US" sz="1200" b="1" dirty="0">
                <a:solidFill>
                  <a:srgbClr val="1A1D23"/>
                </a:solidFill>
                <a:latin typeface="Microsoft YaHei" pitchFamily="34" charset="0"/>
                <a:ea typeface="Microsoft YaHei" pitchFamily="34" charset="-122"/>
                <a:cs typeface="Microsoft YaHei" pitchFamily="34" charset="-120"/>
              </a:rPr>
              <a:t>劣势的本质是“同一时刻在途的页太少，1 µs 读页时间摊不薄”。</a:t>
            </a:r>
            <a:endParaRPr lang="zh-CN"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10 · HBF 写入</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HBF：每 token 的小写入代价最大，“写合并”作为显式策略建模</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仿真器探针（单个冷请求）：页编程 100 µs、读改写策略；主机写暂存见 docs/hbf_host_staging.md（严格 OCP HBF 预设，可选）</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11</a:t>
            </a:r>
            <a:endParaRPr lang="zh-CN" sz="900" dirty="0"/>
          </a:p>
        </p:txBody>
      </p:sp>
      <p:sp>
        <p:nvSpPr>
          <p:cNvPr id="6" name="Text 4"/>
          <p:cNvSpPr/>
          <p:nvPr/>
        </p:nvSpPr>
        <p:spPr>
          <a:xfrm>
            <a:off x="548640" y="1554480"/>
            <a:ext cx="6400800" cy="274320"/>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完成时间（线性刻度，0 ~ 110 µs）</a:t>
            </a:r>
            <a:endParaRPr lang="zh-CN" sz="1300" dirty="0"/>
          </a:p>
        </p:txBody>
      </p:sp>
      <p:sp>
        <p:nvSpPr>
          <p:cNvPr id="7" name="Text 5"/>
          <p:cNvSpPr/>
          <p:nvPr/>
        </p:nvSpPr>
        <p:spPr>
          <a:xfrm>
            <a:off x="548640" y="2011680"/>
            <a:ext cx="2743200" cy="274320"/>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HBM 写 256 B（1 个 token）</a:t>
            </a:r>
            <a:endParaRPr lang="zh-CN" sz="1250" dirty="0"/>
          </a:p>
        </p:txBody>
      </p:sp>
      <p:sp>
        <p:nvSpPr>
          <p:cNvPr id="8" name="Shape 6"/>
          <p:cNvSpPr/>
          <p:nvPr/>
        </p:nvSpPr>
        <p:spPr>
          <a:xfrm>
            <a:off x="3383280" y="2084832"/>
            <a:ext cx="18288" cy="347472"/>
          </a:xfrm>
          <a:prstGeom prst="rect">
            <a:avLst/>
          </a:prstGeom>
          <a:solidFill>
            <a:srgbClr val="2A78D6"/>
          </a:solidFill>
          <a:ln w="12700">
            <a:solidFill>
              <a:srgbClr val="2A78D6"/>
            </a:solidFill>
            <a:prstDash val="solid"/>
          </a:ln>
        </p:spPr>
      </p:sp>
      <p:sp>
        <p:nvSpPr>
          <p:cNvPr id="9" name="Text 7"/>
          <p:cNvSpPr/>
          <p:nvPr/>
        </p:nvSpPr>
        <p:spPr>
          <a:xfrm>
            <a:off x="3511296" y="2029968"/>
            <a:ext cx="1097280" cy="457200"/>
          </a:xfrm>
          <a:prstGeom prst="rect">
            <a:avLst/>
          </a:prstGeom>
          <a:noFill/>
          <a:ln/>
        </p:spPr>
        <p:txBody>
          <a:bodyPr wrap="square" lIns="0" tIns="0" rIns="0" bIns="0" rtlCol="0" anchor="ctr"/>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22.4 ns</a:t>
            </a:r>
            <a:endParaRPr lang="zh-CN" sz="1300" dirty="0"/>
          </a:p>
        </p:txBody>
      </p:sp>
      <p:sp>
        <p:nvSpPr>
          <p:cNvPr id="10" name="Text 8"/>
          <p:cNvSpPr/>
          <p:nvPr/>
        </p:nvSpPr>
        <p:spPr>
          <a:xfrm>
            <a:off x="548640" y="2724912"/>
            <a:ext cx="2743200" cy="274320"/>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HBF 写 256 B（1 个 token）</a:t>
            </a:r>
            <a:endParaRPr lang="zh-CN" sz="1250" dirty="0"/>
          </a:p>
        </p:txBody>
      </p:sp>
      <p:sp>
        <p:nvSpPr>
          <p:cNvPr id="11" name="Text 9"/>
          <p:cNvSpPr/>
          <p:nvPr/>
        </p:nvSpPr>
        <p:spPr>
          <a:xfrm>
            <a:off x="548640" y="2999232"/>
            <a:ext cx="2743200" cy="237744"/>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读旧页 1 µs + 整页编程 100 µs</a:t>
            </a:r>
            <a:endParaRPr lang="zh-CN" sz="1050" dirty="0"/>
          </a:p>
        </p:txBody>
      </p:sp>
      <p:sp>
        <p:nvSpPr>
          <p:cNvPr id="12" name="Shape 10"/>
          <p:cNvSpPr/>
          <p:nvPr/>
        </p:nvSpPr>
        <p:spPr>
          <a:xfrm>
            <a:off x="3383280" y="2798064"/>
            <a:ext cx="2856906" cy="347472"/>
          </a:xfrm>
          <a:prstGeom prst="rect">
            <a:avLst/>
          </a:prstGeom>
          <a:solidFill>
            <a:srgbClr val="EB6834"/>
          </a:solidFill>
          <a:ln w="12700">
            <a:solidFill>
              <a:srgbClr val="EB6834"/>
            </a:solidFill>
            <a:prstDash val="solid"/>
          </a:ln>
        </p:spPr>
      </p:sp>
      <p:sp>
        <p:nvSpPr>
          <p:cNvPr id="13" name="Text 11"/>
          <p:cNvSpPr/>
          <p:nvPr/>
        </p:nvSpPr>
        <p:spPr>
          <a:xfrm>
            <a:off x="6349914" y="2743200"/>
            <a:ext cx="1097280" cy="457200"/>
          </a:xfrm>
          <a:prstGeom prst="rect">
            <a:avLst/>
          </a:prstGeom>
          <a:noFill/>
          <a:ln/>
        </p:spPr>
        <p:txBody>
          <a:bodyPr wrap="square" lIns="0" tIns="0" rIns="0" bIns="0" rtlCol="0" anchor="ctr"/>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101.1 µs</a:t>
            </a:r>
            <a:endParaRPr lang="zh-CN" sz="1300" dirty="0"/>
          </a:p>
        </p:txBody>
      </p:sp>
      <p:sp>
        <p:nvSpPr>
          <p:cNvPr id="14" name="Text 12"/>
          <p:cNvSpPr/>
          <p:nvPr/>
        </p:nvSpPr>
        <p:spPr>
          <a:xfrm>
            <a:off x="548640" y="3438144"/>
            <a:ext cx="2743200" cy="274320"/>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HBF 写 4 KiB（整页）</a:t>
            </a:r>
            <a:endParaRPr lang="zh-CN" sz="1250" dirty="0"/>
          </a:p>
        </p:txBody>
      </p:sp>
      <p:sp>
        <p:nvSpPr>
          <p:cNvPr id="15" name="Text 13"/>
          <p:cNvSpPr/>
          <p:nvPr/>
        </p:nvSpPr>
        <p:spPr>
          <a:xfrm>
            <a:off x="548640" y="3712464"/>
            <a:ext cx="2743200" cy="237744"/>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直接整页编程</a:t>
            </a:r>
            <a:endParaRPr lang="zh-CN" sz="1050" dirty="0"/>
          </a:p>
        </p:txBody>
      </p:sp>
      <p:sp>
        <p:nvSpPr>
          <p:cNvPr id="16" name="Shape 14"/>
          <p:cNvSpPr/>
          <p:nvPr/>
        </p:nvSpPr>
        <p:spPr>
          <a:xfrm>
            <a:off x="3383280" y="3511296"/>
            <a:ext cx="2828519" cy="347472"/>
          </a:xfrm>
          <a:prstGeom prst="rect">
            <a:avLst/>
          </a:prstGeom>
          <a:solidFill>
            <a:srgbClr val="EB6834"/>
          </a:solidFill>
          <a:ln w="12700">
            <a:solidFill>
              <a:srgbClr val="EB6834"/>
            </a:solidFill>
            <a:prstDash val="solid"/>
          </a:ln>
        </p:spPr>
      </p:sp>
      <p:sp>
        <p:nvSpPr>
          <p:cNvPr id="17" name="Text 15"/>
          <p:cNvSpPr/>
          <p:nvPr/>
        </p:nvSpPr>
        <p:spPr>
          <a:xfrm>
            <a:off x="6321527" y="3456432"/>
            <a:ext cx="1097280" cy="457200"/>
          </a:xfrm>
          <a:prstGeom prst="rect">
            <a:avLst/>
          </a:prstGeom>
          <a:noFill/>
          <a:ln/>
        </p:spPr>
        <p:txBody>
          <a:bodyPr wrap="square" lIns="0" tIns="0" rIns="0" bIns="0" rtlCol="0" anchor="ctr"/>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100.1 µs</a:t>
            </a:r>
            <a:endParaRPr lang="zh-CN" sz="1300" dirty="0"/>
          </a:p>
        </p:txBody>
      </p:sp>
      <p:sp>
        <p:nvSpPr>
          <p:cNvPr id="18" name="Text 16"/>
          <p:cNvSpPr/>
          <p:nvPr/>
        </p:nvSpPr>
        <p:spPr>
          <a:xfrm>
            <a:off x="548640" y="4151376"/>
            <a:ext cx="2743200" cy="274320"/>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HBF 写 1 MiB（256 页）</a:t>
            </a:r>
            <a:endParaRPr lang="zh-CN" sz="1250" dirty="0"/>
          </a:p>
        </p:txBody>
      </p:sp>
      <p:sp>
        <p:nvSpPr>
          <p:cNvPr id="19" name="Text 17"/>
          <p:cNvSpPr/>
          <p:nvPr/>
        </p:nvSpPr>
        <p:spPr>
          <a:xfrm>
            <a:off x="548640" y="4425696"/>
            <a:ext cx="2743200" cy="237744"/>
          </a:xfrm>
          <a:prstGeom prst="rect">
            <a:avLst/>
          </a:prstGeom>
          <a:noFill/>
          <a:ln/>
        </p:spPr>
        <p:txBody>
          <a:bodyPr wrap="square" lIns="0" tIns="0" rIns="0" bIns="0" rtlCol="0" anchor="t"/>
          <a:lstStyle/>
          <a:p>
            <a:pPr algn="l" indent="0" marL="0">
              <a:lnSpc>
                <a:spcPct val="112000"/>
              </a:lnSpc>
              <a:buNone/>
            </a:pPr>
            <a:r>
              <a:rPr lang="zh-CN" altLang="en-US" sz="1050" dirty="0">
                <a:solidFill>
                  <a:srgbClr val="52514E"/>
                </a:solidFill>
                <a:latin typeface="Microsoft YaHei" pitchFamily="34" charset="0"/>
                <a:ea typeface="Microsoft YaHei" pitchFamily="34" charset="-122"/>
                <a:cs typeface="Microsoft YaHei" pitchFamily="34" charset="-120"/>
              </a:rPr>
              <a:t>256 页分到不同 plane 并行编程</a:t>
            </a:r>
            <a:endParaRPr lang="zh-CN" sz="1050" dirty="0"/>
          </a:p>
        </p:txBody>
      </p:sp>
      <p:sp>
        <p:nvSpPr>
          <p:cNvPr id="20" name="Shape 18"/>
          <p:cNvSpPr/>
          <p:nvPr/>
        </p:nvSpPr>
        <p:spPr>
          <a:xfrm>
            <a:off x="3383280" y="4224528"/>
            <a:ext cx="3092094" cy="347472"/>
          </a:xfrm>
          <a:prstGeom prst="rect">
            <a:avLst/>
          </a:prstGeom>
          <a:solidFill>
            <a:srgbClr val="EB6834"/>
          </a:solidFill>
          <a:ln w="12700">
            <a:solidFill>
              <a:srgbClr val="EB6834"/>
            </a:solidFill>
            <a:prstDash val="solid"/>
          </a:ln>
        </p:spPr>
      </p:sp>
      <p:sp>
        <p:nvSpPr>
          <p:cNvPr id="21" name="Text 19"/>
          <p:cNvSpPr/>
          <p:nvPr/>
        </p:nvSpPr>
        <p:spPr>
          <a:xfrm>
            <a:off x="6585102" y="4169664"/>
            <a:ext cx="1097280" cy="457200"/>
          </a:xfrm>
          <a:prstGeom prst="rect">
            <a:avLst/>
          </a:prstGeom>
          <a:noFill/>
          <a:ln/>
        </p:spPr>
        <p:txBody>
          <a:bodyPr wrap="square" lIns="0" tIns="0" rIns="0" bIns="0" rtlCol="0" anchor="ctr"/>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109.4 µs</a:t>
            </a:r>
            <a:endParaRPr lang="zh-CN" sz="1300" dirty="0"/>
          </a:p>
        </p:txBody>
      </p:sp>
      <p:sp>
        <p:nvSpPr>
          <p:cNvPr id="22" name="Shape 20"/>
          <p:cNvSpPr/>
          <p:nvPr/>
        </p:nvSpPr>
        <p:spPr>
          <a:xfrm>
            <a:off x="3383280" y="1965960"/>
            <a:ext cx="0" cy="2880360"/>
          </a:xfrm>
          <a:prstGeom prst="line">
            <a:avLst/>
          </a:prstGeom>
          <a:noFill/>
          <a:ln w="9525">
            <a:solidFill>
              <a:srgbClr val="8A8A86"/>
            </a:solidFill>
            <a:prstDash val="solid"/>
          </a:ln>
        </p:spPr>
      </p:sp>
      <p:sp>
        <p:nvSpPr>
          <p:cNvPr id="23" name="Shape 21"/>
          <p:cNvSpPr/>
          <p:nvPr/>
        </p:nvSpPr>
        <p:spPr>
          <a:xfrm>
            <a:off x="548640" y="5074920"/>
            <a:ext cx="6675120" cy="1051560"/>
          </a:xfrm>
          <a:prstGeom prst="rect">
            <a:avLst/>
          </a:prstGeom>
          <a:solidFill>
            <a:srgbClr val="FCE8DF"/>
          </a:solidFill>
          <a:ln w="12700">
            <a:solidFill>
              <a:srgbClr val="FCE8DF"/>
            </a:solidFill>
            <a:prstDash val="solid"/>
          </a:ln>
        </p:spPr>
      </p:sp>
      <p:sp>
        <p:nvSpPr>
          <p:cNvPr id="24" name="Text 22"/>
          <p:cNvSpPr/>
          <p:nvPr/>
        </p:nvSpPr>
        <p:spPr>
          <a:xfrm>
            <a:off x="749808" y="5074920"/>
            <a:ext cx="6309360" cy="1051560"/>
          </a:xfrm>
          <a:prstGeom prst="rect">
            <a:avLst/>
          </a:prstGeom>
          <a:noFill/>
          <a:ln/>
        </p:spPr>
        <p:txBody>
          <a:bodyPr wrap="square" lIns="0" tIns="0" rIns="0" bIns="0" rtlCol="0" anchor="ctr"/>
          <a:lstStyle/>
          <a:p>
            <a:pPr algn="l" indent="0" marL="0">
              <a:lnSpc>
                <a:spcPct val="130000"/>
              </a:lnSpc>
              <a:buNone/>
            </a:pPr>
            <a:r>
              <a:rPr lang="zh-CN" altLang="en-US" sz="1250" dirty="0">
                <a:solidFill>
                  <a:srgbClr val="1A1D23"/>
                </a:solidFill>
                <a:latin typeface="Microsoft YaHei" pitchFamily="34" charset="0"/>
                <a:ea typeface="Microsoft YaHei" pitchFamily="34" charset="-122"/>
                <a:cs typeface="Microsoft YaHei" pitchFamily="34" charset="-120"/>
              </a:rPr>
              <a:t>Decode 每生成 1 个 token，每层要给 K、V 各追加 256 B。如果直接写入 HBF，每次都要付一次约 100 µs 的整页编程，比 HBM 慢约 4,500 倍。</a:t>
            </a:r>
            <a:endParaRPr lang="zh-CN" sz="1250" dirty="0"/>
          </a:p>
        </p:txBody>
      </p:sp>
      <p:sp>
        <p:nvSpPr>
          <p:cNvPr id="25" name="Shape 23"/>
          <p:cNvSpPr/>
          <p:nvPr/>
        </p:nvSpPr>
        <p:spPr>
          <a:xfrm>
            <a:off x="7498080" y="1572768"/>
            <a:ext cx="4142232" cy="4553712"/>
          </a:xfrm>
          <a:prstGeom prst="rect">
            <a:avLst/>
          </a:prstGeom>
          <a:solidFill>
            <a:srgbClr val="F4F4F1"/>
          </a:solidFill>
          <a:ln w="12700">
            <a:solidFill>
              <a:srgbClr val="F4F4F1"/>
            </a:solidFill>
            <a:prstDash val="solid"/>
          </a:ln>
        </p:spPr>
      </p:sp>
      <p:sp>
        <p:nvSpPr>
          <p:cNvPr id="26" name="Text 24"/>
          <p:cNvSpPr/>
          <p:nvPr/>
        </p:nvSpPr>
        <p:spPr>
          <a:xfrm>
            <a:off x="7699248" y="1719072"/>
            <a:ext cx="374904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仿真器提供的写合并策略</a:t>
            </a:r>
            <a:endParaRPr lang="zh-CN" sz="1400" dirty="0"/>
          </a:p>
        </p:txBody>
      </p:sp>
      <p:sp>
        <p:nvSpPr>
          <p:cNvPr id="27" name="Shape 25"/>
          <p:cNvSpPr/>
          <p:nvPr/>
        </p:nvSpPr>
        <p:spPr>
          <a:xfrm>
            <a:off x="7699248" y="2194560"/>
            <a:ext cx="292608" cy="292608"/>
          </a:xfrm>
          <a:prstGeom prst="ellipse">
            <a:avLst/>
          </a:prstGeom>
          <a:solidFill>
            <a:srgbClr val="C4501F"/>
          </a:solidFill>
          <a:ln w="12700">
            <a:solidFill>
              <a:srgbClr val="C4501F"/>
            </a:solidFill>
            <a:prstDash val="solid"/>
          </a:ln>
        </p:spPr>
      </p:sp>
      <p:sp>
        <p:nvSpPr>
          <p:cNvPr id="28" name="Text 26"/>
          <p:cNvSpPr/>
          <p:nvPr/>
        </p:nvSpPr>
        <p:spPr>
          <a:xfrm>
            <a:off x="7699248" y="2194560"/>
            <a:ext cx="292608" cy="292608"/>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1</a:t>
            </a:r>
            <a:endParaRPr lang="zh-CN" sz="1200" dirty="0"/>
          </a:p>
        </p:txBody>
      </p:sp>
      <p:sp>
        <p:nvSpPr>
          <p:cNvPr id="29" name="Text 27"/>
          <p:cNvSpPr/>
          <p:nvPr/>
        </p:nvSpPr>
        <p:spPr>
          <a:xfrm>
            <a:off x="8101584" y="2176272"/>
            <a:ext cx="338328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不满一页先暂存</a:t>
            </a:r>
            <a:endParaRPr lang="zh-CN" sz="1250" dirty="0"/>
          </a:p>
        </p:txBody>
      </p:sp>
      <p:sp>
        <p:nvSpPr>
          <p:cNvPr id="30" name="Text 28"/>
          <p:cNvSpPr/>
          <p:nvPr/>
        </p:nvSpPr>
        <p:spPr>
          <a:xfrm>
            <a:off x="8101584" y="2468880"/>
            <a:ext cx="3383280" cy="594360"/>
          </a:xfrm>
          <a:prstGeom prst="rect">
            <a:avLst/>
          </a:prstGeom>
          <a:noFill/>
          <a:ln/>
        </p:spPr>
        <p:txBody>
          <a:bodyPr wrap="square" lIns="0" tIns="0" rIns="0" bIns="0" rtlCol="0" anchor="t"/>
          <a:lstStyle/>
          <a:p>
            <a:pPr algn="l" indent="0" marL="0">
              <a:lnSpc>
                <a:spcPct val="120000"/>
              </a:lnSpc>
              <a:buNone/>
            </a:pPr>
            <a:r>
              <a:rPr lang="zh-CN" altLang="en-US" sz="1100" dirty="0">
                <a:solidFill>
                  <a:srgbClr val="52514E"/>
                </a:solidFill>
                <a:latin typeface="Microsoft YaHei" pitchFamily="34" charset="0"/>
                <a:ea typeface="Microsoft YaHei" pitchFamily="34" charset="-122"/>
                <a:cs typeface="Microsoft YaHei" pitchFamily="34" charset="-120"/>
              </a:rPr>
              <a:t>KV 追加先写进主机 DRAM，经真实链路传输并占用暂存容量</a:t>
            </a:r>
            <a:endParaRPr lang="zh-CN" sz="1100" dirty="0"/>
          </a:p>
        </p:txBody>
      </p:sp>
      <p:sp>
        <p:nvSpPr>
          <p:cNvPr id="31" name="Shape 29"/>
          <p:cNvSpPr/>
          <p:nvPr/>
        </p:nvSpPr>
        <p:spPr>
          <a:xfrm>
            <a:off x="7699248" y="3136392"/>
            <a:ext cx="292608" cy="292608"/>
          </a:xfrm>
          <a:prstGeom prst="ellipse">
            <a:avLst/>
          </a:prstGeom>
          <a:solidFill>
            <a:srgbClr val="C4501F"/>
          </a:solidFill>
          <a:ln w="12700">
            <a:solidFill>
              <a:srgbClr val="C4501F"/>
            </a:solidFill>
            <a:prstDash val="solid"/>
          </a:ln>
        </p:spPr>
      </p:sp>
      <p:sp>
        <p:nvSpPr>
          <p:cNvPr id="32" name="Text 30"/>
          <p:cNvSpPr/>
          <p:nvPr/>
        </p:nvSpPr>
        <p:spPr>
          <a:xfrm>
            <a:off x="7699248" y="3136392"/>
            <a:ext cx="292608" cy="292608"/>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2</a:t>
            </a:r>
            <a:endParaRPr lang="zh-CN" sz="1200" dirty="0"/>
          </a:p>
        </p:txBody>
      </p:sp>
      <p:sp>
        <p:nvSpPr>
          <p:cNvPr id="33" name="Text 31"/>
          <p:cNvSpPr/>
          <p:nvPr/>
        </p:nvSpPr>
        <p:spPr>
          <a:xfrm>
            <a:off x="8101584" y="3118104"/>
            <a:ext cx="338328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写满再整页写入</a:t>
            </a:r>
            <a:endParaRPr lang="zh-CN" sz="1250" dirty="0"/>
          </a:p>
        </p:txBody>
      </p:sp>
      <p:sp>
        <p:nvSpPr>
          <p:cNvPr id="34" name="Text 32"/>
          <p:cNvSpPr/>
          <p:nvPr/>
        </p:nvSpPr>
        <p:spPr>
          <a:xfrm>
            <a:off x="8101584" y="3410712"/>
            <a:ext cx="3383280" cy="594360"/>
          </a:xfrm>
          <a:prstGeom prst="rect">
            <a:avLst/>
          </a:prstGeom>
          <a:noFill/>
          <a:ln/>
        </p:spPr>
        <p:txBody>
          <a:bodyPr wrap="square" lIns="0" tIns="0" rIns="0" bIns="0" rtlCol="0" anchor="t"/>
          <a:lstStyle/>
          <a:p>
            <a:pPr algn="l" indent="0" marL="0">
              <a:lnSpc>
                <a:spcPct val="120000"/>
              </a:lnSpc>
              <a:buNone/>
            </a:pPr>
            <a:r>
              <a:rPr lang="zh-CN" altLang="en-US" sz="1100" dirty="0">
                <a:solidFill>
                  <a:srgbClr val="52514E"/>
                </a:solidFill>
                <a:latin typeface="Microsoft YaHei" pitchFamily="34" charset="0"/>
                <a:ea typeface="Microsoft YaHei" pitchFamily="34" charset="-122"/>
                <a:cs typeface="Microsoft YaHei" pitchFamily="34" charset="-120"/>
              </a:rPr>
              <a:t>凑满 4 KiB 后读出暂存页，整页编程到 HBF</a:t>
            </a:r>
            <a:endParaRPr lang="zh-CN" sz="1100" dirty="0"/>
          </a:p>
        </p:txBody>
      </p:sp>
      <p:sp>
        <p:nvSpPr>
          <p:cNvPr id="35" name="Shape 33"/>
          <p:cNvSpPr/>
          <p:nvPr/>
        </p:nvSpPr>
        <p:spPr>
          <a:xfrm>
            <a:off x="7699248" y="4078224"/>
            <a:ext cx="292608" cy="292608"/>
          </a:xfrm>
          <a:prstGeom prst="ellipse">
            <a:avLst/>
          </a:prstGeom>
          <a:solidFill>
            <a:srgbClr val="C4501F"/>
          </a:solidFill>
          <a:ln w="12700">
            <a:solidFill>
              <a:srgbClr val="C4501F"/>
            </a:solidFill>
            <a:prstDash val="solid"/>
          </a:ln>
        </p:spPr>
      </p:sp>
      <p:sp>
        <p:nvSpPr>
          <p:cNvPr id="36" name="Text 34"/>
          <p:cNvSpPr/>
          <p:nvPr/>
        </p:nvSpPr>
        <p:spPr>
          <a:xfrm>
            <a:off x="7699248" y="4078224"/>
            <a:ext cx="292608" cy="292608"/>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3</a:t>
            </a:r>
            <a:endParaRPr lang="zh-CN" sz="1200" dirty="0"/>
          </a:p>
        </p:txBody>
      </p:sp>
      <p:sp>
        <p:nvSpPr>
          <p:cNvPr id="37" name="Text 35"/>
          <p:cNvSpPr/>
          <p:nvPr/>
        </p:nvSpPr>
        <p:spPr>
          <a:xfrm>
            <a:off x="8101584" y="4059936"/>
            <a:ext cx="338328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读时两处合并</a:t>
            </a:r>
            <a:endParaRPr lang="zh-CN" sz="1250" dirty="0"/>
          </a:p>
        </p:txBody>
      </p:sp>
      <p:sp>
        <p:nvSpPr>
          <p:cNvPr id="38" name="Text 36"/>
          <p:cNvSpPr/>
          <p:nvPr/>
        </p:nvSpPr>
        <p:spPr>
          <a:xfrm>
            <a:off x="8101584" y="4352544"/>
            <a:ext cx="3383280" cy="594360"/>
          </a:xfrm>
          <a:prstGeom prst="rect">
            <a:avLst/>
          </a:prstGeom>
          <a:noFill/>
          <a:ln/>
        </p:spPr>
        <p:txBody>
          <a:bodyPr wrap="square" lIns="0" tIns="0" rIns="0" bIns="0" rtlCol="0" anchor="t"/>
          <a:lstStyle/>
          <a:p>
            <a:pPr algn="l" indent="0" marL="0">
              <a:lnSpc>
                <a:spcPct val="120000"/>
              </a:lnSpc>
              <a:buNone/>
            </a:pPr>
            <a:r>
              <a:rPr lang="zh-CN" altLang="en-US" sz="1100" dirty="0">
                <a:solidFill>
                  <a:srgbClr val="52514E"/>
                </a:solidFill>
                <a:latin typeface="Microsoft YaHei" pitchFamily="34" charset="0"/>
                <a:ea typeface="Microsoft YaHei" pitchFamily="34" charset="-122"/>
                <a:cs typeface="Microsoft YaHei" pitchFamily="34" charset="-120"/>
              </a:rPr>
              <a:t>Attention 同时读 HBF 中已写入的部分和主机 DRAM 里的尾页</a:t>
            </a:r>
            <a:endParaRPr lang="zh-CN" sz="1100" dirty="0"/>
          </a:p>
        </p:txBody>
      </p:sp>
      <p:sp>
        <p:nvSpPr>
          <p:cNvPr id="39" name="Shape 37"/>
          <p:cNvSpPr/>
          <p:nvPr/>
        </p:nvSpPr>
        <p:spPr>
          <a:xfrm>
            <a:off x="7699248" y="5020056"/>
            <a:ext cx="292608" cy="292608"/>
          </a:xfrm>
          <a:prstGeom prst="ellipse">
            <a:avLst/>
          </a:prstGeom>
          <a:solidFill>
            <a:srgbClr val="C4501F"/>
          </a:solidFill>
          <a:ln w="12700">
            <a:solidFill>
              <a:srgbClr val="C4501F"/>
            </a:solidFill>
            <a:prstDash val="solid"/>
          </a:ln>
        </p:spPr>
      </p:sp>
      <p:sp>
        <p:nvSpPr>
          <p:cNvPr id="40" name="Text 38"/>
          <p:cNvSpPr/>
          <p:nvPr/>
        </p:nvSpPr>
        <p:spPr>
          <a:xfrm>
            <a:off x="7699248" y="5020056"/>
            <a:ext cx="292608" cy="292608"/>
          </a:xfrm>
          <a:prstGeom prst="rect">
            <a:avLst/>
          </a:prstGeom>
          <a:noFill/>
          <a:ln/>
        </p:spPr>
        <p:txBody>
          <a:bodyPr wrap="square" lIns="0" tIns="0" rIns="0" bIns="0" rtlCol="0" anchor="ctr"/>
          <a:lstStyle/>
          <a:p>
            <a:pPr algn="ctr" indent="0" marL="0">
              <a:lnSpc>
                <a:spcPct val="112000"/>
              </a:lnSpc>
              <a:buNone/>
            </a:pPr>
            <a:r>
              <a:rPr lang="zh-CN" altLang="en-US" sz="1200" b="1" dirty="0">
                <a:solidFill>
                  <a:srgbClr val="FFFFFF"/>
                </a:solidFill>
                <a:latin typeface="Microsoft YaHei" pitchFamily="34" charset="0"/>
                <a:ea typeface="Microsoft YaHei" pitchFamily="34" charset="-122"/>
                <a:cs typeface="Microsoft YaHei" pitchFamily="34" charset="-120"/>
              </a:rPr>
              <a:t>4</a:t>
            </a:r>
            <a:endParaRPr lang="zh-CN" sz="1200" dirty="0"/>
          </a:p>
        </p:txBody>
      </p:sp>
      <p:sp>
        <p:nvSpPr>
          <p:cNvPr id="41" name="Text 39"/>
          <p:cNvSpPr/>
          <p:nvPr/>
        </p:nvSpPr>
        <p:spPr>
          <a:xfrm>
            <a:off x="8101584" y="5001768"/>
            <a:ext cx="338328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成本全部计入</a:t>
            </a:r>
            <a:endParaRPr lang="zh-CN" sz="1250" dirty="0"/>
          </a:p>
        </p:txBody>
      </p:sp>
      <p:sp>
        <p:nvSpPr>
          <p:cNvPr id="42" name="Text 40"/>
          <p:cNvSpPr/>
          <p:nvPr/>
        </p:nvSpPr>
        <p:spPr>
          <a:xfrm>
            <a:off x="8101584" y="5294376"/>
            <a:ext cx="3383280" cy="594360"/>
          </a:xfrm>
          <a:prstGeom prst="rect">
            <a:avLst/>
          </a:prstGeom>
          <a:noFill/>
          <a:ln/>
        </p:spPr>
        <p:txBody>
          <a:bodyPr wrap="square" lIns="0" tIns="0" rIns="0" bIns="0" rtlCol="0" anchor="t"/>
          <a:lstStyle/>
          <a:p>
            <a:pPr algn="l" indent="0" marL="0">
              <a:lnSpc>
                <a:spcPct val="120000"/>
              </a:lnSpc>
              <a:buNone/>
            </a:pPr>
            <a:r>
              <a:rPr lang="zh-CN" altLang="en-US" sz="1100" dirty="0">
                <a:solidFill>
                  <a:srgbClr val="52514E"/>
                </a:solidFill>
                <a:latin typeface="Microsoft YaHei" pitchFamily="34" charset="0"/>
                <a:ea typeface="Microsoft YaHei" pitchFamily="34" charset="-122"/>
                <a:cs typeface="Microsoft YaHei" pitchFamily="34" charset="-120"/>
              </a:rPr>
              <a:t>暂存容量、链路、读改写、空间回收与擦除都按物理操作计费</a:t>
            </a:r>
            <a:endParaRPr lang="zh-CN"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11 · SRAM</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SRAM：物理上没有行和页，模型只保留真正起作用的容量与端口</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仿真器 SramCore；参数为论文 HBF+ 配置的研究参考（8 堆 × 40 MB，总 80 TB/s，1 ns 流水线，256 在途额度）；GPU 片上 L1/L2 属于算子模型，不在本页范围</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12</a:t>
            </a:r>
            <a:endParaRPr lang="zh-CN" sz="900" dirty="0"/>
          </a:p>
        </p:txBody>
      </p:sp>
      <p:sp>
        <p:nvSpPr>
          <p:cNvPr id="6" name="Shape 4"/>
          <p:cNvSpPr/>
          <p:nvPr/>
        </p:nvSpPr>
        <p:spPr>
          <a:xfrm>
            <a:off x="548640" y="1572768"/>
            <a:ext cx="5120640" cy="4553712"/>
          </a:xfrm>
          <a:prstGeom prst="rect">
            <a:avLst/>
          </a:prstGeom>
          <a:solidFill>
            <a:srgbClr val="F4F4F1"/>
          </a:solidFill>
          <a:ln w="12700">
            <a:solidFill>
              <a:srgbClr val="F4F4F1"/>
            </a:solidFill>
            <a:prstDash val="solid"/>
          </a:ln>
        </p:spPr>
      </p:sp>
      <p:sp>
        <p:nvSpPr>
          <p:cNvPr id="7" name="Text 5"/>
          <p:cNvSpPr/>
          <p:nvPr/>
        </p:nvSpPr>
        <p:spPr>
          <a:xfrm>
            <a:off x="749808" y="1719072"/>
            <a:ext cx="4754880" cy="320040"/>
          </a:xfrm>
          <a:prstGeom prst="rect">
            <a:avLst/>
          </a:prstGeom>
          <a:noFill/>
          <a:ln/>
        </p:spPr>
        <p:txBody>
          <a:bodyPr wrap="square" lIns="0" tIns="0" rIns="0" bIns="0" rtlCol="0" anchor="t"/>
          <a:lstStyle/>
          <a:p>
            <a:pPr algn="l" indent="0" marL="0">
              <a:lnSpc>
                <a:spcPct val="112000"/>
              </a:lnSpc>
              <a:buNone/>
            </a:pPr>
            <a:r>
              <a:rPr lang="zh-CN" altLang="en-US" sz="1400" b="1" dirty="0">
                <a:solidFill>
                  <a:srgbClr val="1A1D23"/>
                </a:solidFill>
                <a:latin typeface="Microsoft YaHei" pitchFamily="34" charset="0"/>
                <a:ea typeface="Microsoft YaHei" pitchFamily="34" charset="-122"/>
                <a:cs typeface="Microsoft YaHei" pitchFamily="34" charset="-120"/>
              </a:rPr>
              <a:t>模型保留的要素</a:t>
            </a:r>
            <a:endParaRPr lang="zh-CN" sz="1400" dirty="0"/>
          </a:p>
        </p:txBody>
      </p:sp>
      <p:sp>
        <p:nvSpPr>
          <p:cNvPr id="8" name="Shape 6"/>
          <p:cNvSpPr/>
          <p:nvPr/>
        </p:nvSpPr>
        <p:spPr>
          <a:xfrm>
            <a:off x="749808" y="2221992"/>
            <a:ext cx="64008" cy="566928"/>
          </a:xfrm>
          <a:prstGeom prst="rect">
            <a:avLst/>
          </a:prstGeom>
          <a:solidFill>
            <a:srgbClr val="1BAF7A"/>
          </a:solidFill>
          <a:ln w="12700">
            <a:solidFill>
              <a:srgbClr val="1BAF7A"/>
            </a:solidFill>
            <a:prstDash val="solid"/>
          </a:ln>
        </p:spPr>
      </p:sp>
      <p:sp>
        <p:nvSpPr>
          <p:cNvPr id="9" name="Text 7"/>
          <p:cNvSpPr/>
          <p:nvPr/>
        </p:nvSpPr>
        <p:spPr>
          <a:xfrm>
            <a:off x="941832" y="2176272"/>
            <a:ext cx="448056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容量</a:t>
            </a:r>
            <a:endParaRPr lang="zh-CN" sz="1250" dirty="0"/>
          </a:p>
        </p:txBody>
      </p:sp>
      <p:sp>
        <p:nvSpPr>
          <p:cNvPr id="10" name="Text 8"/>
          <p:cNvSpPr/>
          <p:nvPr/>
        </p:nvSpPr>
        <p:spPr>
          <a:xfrm>
            <a:off x="941832" y="2468880"/>
            <a:ext cx="45262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320 MB，存放中间数据（激活、工作区）；放不下就要退回别的介质</a:t>
            </a:r>
            <a:endParaRPr lang="zh-CN" sz="1100" dirty="0"/>
          </a:p>
        </p:txBody>
      </p:sp>
      <p:sp>
        <p:nvSpPr>
          <p:cNvPr id="11" name="Shape 9"/>
          <p:cNvSpPr/>
          <p:nvPr/>
        </p:nvSpPr>
        <p:spPr>
          <a:xfrm>
            <a:off x="749808" y="2990088"/>
            <a:ext cx="64008" cy="566928"/>
          </a:xfrm>
          <a:prstGeom prst="rect">
            <a:avLst/>
          </a:prstGeom>
          <a:solidFill>
            <a:srgbClr val="1BAF7A"/>
          </a:solidFill>
          <a:ln w="12700">
            <a:solidFill>
              <a:srgbClr val="1BAF7A"/>
            </a:solidFill>
            <a:prstDash val="solid"/>
          </a:ln>
        </p:spPr>
      </p:sp>
      <p:sp>
        <p:nvSpPr>
          <p:cNvPr id="12" name="Text 10"/>
          <p:cNvSpPr/>
          <p:nvPr/>
        </p:nvSpPr>
        <p:spPr>
          <a:xfrm>
            <a:off x="941832" y="2944368"/>
            <a:ext cx="448056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端口</a:t>
            </a:r>
            <a:endParaRPr lang="zh-CN" sz="1250" dirty="0"/>
          </a:p>
        </p:txBody>
      </p:sp>
      <p:sp>
        <p:nvSpPr>
          <p:cNvPr id="13" name="Text 11"/>
          <p:cNvSpPr/>
          <p:nvPr/>
        </p:nvSpPr>
        <p:spPr>
          <a:xfrm>
            <a:off x="941832" y="3236976"/>
            <a:ext cx="45262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8 个端口，地址按 64 B 轮流条带；每端口 10 TB/s，读写共用</a:t>
            </a:r>
            <a:endParaRPr lang="zh-CN" sz="1100" dirty="0"/>
          </a:p>
        </p:txBody>
      </p:sp>
      <p:sp>
        <p:nvSpPr>
          <p:cNvPr id="14" name="Shape 12"/>
          <p:cNvSpPr/>
          <p:nvPr/>
        </p:nvSpPr>
        <p:spPr>
          <a:xfrm>
            <a:off x="749808" y="3758184"/>
            <a:ext cx="64008" cy="566928"/>
          </a:xfrm>
          <a:prstGeom prst="rect">
            <a:avLst/>
          </a:prstGeom>
          <a:solidFill>
            <a:srgbClr val="1BAF7A"/>
          </a:solidFill>
          <a:ln w="12700">
            <a:solidFill>
              <a:srgbClr val="1BAF7A"/>
            </a:solidFill>
            <a:prstDash val="solid"/>
          </a:ln>
        </p:spPr>
      </p:sp>
      <p:sp>
        <p:nvSpPr>
          <p:cNvPr id="15" name="Text 13"/>
          <p:cNvSpPr/>
          <p:nvPr/>
        </p:nvSpPr>
        <p:spPr>
          <a:xfrm>
            <a:off x="941832" y="3712464"/>
            <a:ext cx="448056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流水线时延</a:t>
            </a:r>
            <a:endParaRPr lang="zh-CN" sz="1250" dirty="0"/>
          </a:p>
        </p:txBody>
      </p:sp>
      <p:sp>
        <p:nvSpPr>
          <p:cNvPr id="16" name="Text 14"/>
          <p:cNvSpPr/>
          <p:nvPr/>
        </p:nvSpPr>
        <p:spPr>
          <a:xfrm>
            <a:off x="941832" y="4005072"/>
            <a:ext cx="45262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1 ns，先于数据传输；不按字节串行累加</a:t>
            </a:r>
            <a:endParaRPr lang="zh-CN" sz="1100" dirty="0"/>
          </a:p>
        </p:txBody>
      </p:sp>
      <p:sp>
        <p:nvSpPr>
          <p:cNvPr id="17" name="Shape 15"/>
          <p:cNvSpPr/>
          <p:nvPr/>
        </p:nvSpPr>
        <p:spPr>
          <a:xfrm>
            <a:off x="749808" y="4526280"/>
            <a:ext cx="64008" cy="566928"/>
          </a:xfrm>
          <a:prstGeom prst="rect">
            <a:avLst/>
          </a:prstGeom>
          <a:solidFill>
            <a:srgbClr val="1BAF7A"/>
          </a:solidFill>
          <a:ln w="12700">
            <a:solidFill>
              <a:srgbClr val="1BAF7A"/>
            </a:solidFill>
            <a:prstDash val="solid"/>
          </a:ln>
        </p:spPr>
      </p:sp>
      <p:sp>
        <p:nvSpPr>
          <p:cNvPr id="18" name="Text 16"/>
          <p:cNvSpPr/>
          <p:nvPr/>
        </p:nvSpPr>
        <p:spPr>
          <a:xfrm>
            <a:off x="941832" y="4480560"/>
            <a:ext cx="448056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在途额度</a:t>
            </a:r>
            <a:endParaRPr lang="zh-CN" sz="1250" dirty="0"/>
          </a:p>
        </p:txBody>
      </p:sp>
      <p:sp>
        <p:nvSpPr>
          <p:cNvPr id="19" name="Text 17"/>
          <p:cNvSpPr/>
          <p:nvPr/>
        </p:nvSpPr>
        <p:spPr>
          <a:xfrm>
            <a:off x="941832" y="4773168"/>
            <a:ext cx="45262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最多 256 个请求同时在途，超出就排队</a:t>
            </a:r>
            <a:endParaRPr lang="zh-CN" sz="1100" dirty="0"/>
          </a:p>
        </p:txBody>
      </p:sp>
      <p:sp>
        <p:nvSpPr>
          <p:cNvPr id="20" name="Shape 18"/>
          <p:cNvSpPr/>
          <p:nvPr/>
        </p:nvSpPr>
        <p:spPr>
          <a:xfrm>
            <a:off x="749808" y="5294376"/>
            <a:ext cx="64008" cy="566928"/>
          </a:xfrm>
          <a:prstGeom prst="rect">
            <a:avLst/>
          </a:prstGeom>
          <a:solidFill>
            <a:srgbClr val="8A8A86"/>
          </a:solidFill>
          <a:ln w="12700">
            <a:solidFill>
              <a:srgbClr val="8A8A86"/>
            </a:solidFill>
            <a:prstDash val="solid"/>
          </a:ln>
        </p:spPr>
      </p:sp>
      <p:sp>
        <p:nvSpPr>
          <p:cNvPr id="21" name="Text 19"/>
          <p:cNvSpPr/>
          <p:nvPr/>
        </p:nvSpPr>
        <p:spPr>
          <a:xfrm>
            <a:off x="941832" y="5248656"/>
            <a:ext cx="4480560" cy="292608"/>
          </a:xfrm>
          <a:prstGeom prst="rect">
            <a:avLst/>
          </a:prstGeom>
          <a:noFill/>
          <a:ln/>
        </p:spPr>
        <p:txBody>
          <a:bodyPr wrap="square" lIns="0" tIns="0" rIns="0" bIns="0" rtlCol="0" anchor="t"/>
          <a:lstStyle/>
          <a:p>
            <a:pPr algn="l" indent="0" marL="0">
              <a:lnSpc>
                <a:spcPct val="112000"/>
              </a:lnSpc>
              <a:buNone/>
            </a:pPr>
            <a:r>
              <a:rPr lang="zh-CN" altLang="en-US" sz="1250" b="1" dirty="0">
                <a:solidFill>
                  <a:srgbClr val="1A1D23"/>
                </a:solidFill>
                <a:latin typeface="Microsoft YaHei" pitchFamily="34" charset="0"/>
                <a:ea typeface="Microsoft YaHei" pitchFamily="34" charset="-122"/>
                <a:cs typeface="Microsoft YaHei" pitchFamily="34" charset="-120"/>
              </a:rPr>
              <a:t>不建的部分</a:t>
            </a:r>
            <a:endParaRPr lang="zh-CN" sz="1250" dirty="0"/>
          </a:p>
        </p:txBody>
      </p:sp>
      <p:sp>
        <p:nvSpPr>
          <p:cNvPr id="22" name="Text 20"/>
          <p:cNvSpPr/>
          <p:nvPr/>
        </p:nvSpPr>
        <p:spPr>
          <a:xfrm>
            <a:off x="941832" y="5541264"/>
            <a:ext cx="4526280" cy="411480"/>
          </a:xfrm>
          <a:prstGeom prst="rect">
            <a:avLst/>
          </a:prstGeom>
          <a:noFill/>
          <a:ln/>
        </p:spPr>
        <p:txBody>
          <a:bodyPr wrap="square" lIns="0" tIns="0" rIns="0" bIns="0" rtlCol="0" anchor="t"/>
          <a:lstStyle/>
          <a:p>
            <a:pPr algn="l" indent="0" marL="0">
              <a:lnSpc>
                <a:spcPct val="115000"/>
              </a:lnSpc>
              <a:buNone/>
            </a:pPr>
            <a:r>
              <a:rPr lang="zh-CN" altLang="en-US" sz="1100" dirty="0">
                <a:solidFill>
                  <a:srgbClr val="52514E"/>
                </a:solidFill>
                <a:latin typeface="Microsoft YaHei" pitchFamily="34" charset="0"/>
                <a:ea typeface="Microsoft YaHei" pitchFamily="34" charset="-122"/>
                <a:cs typeface="Microsoft YaHei" pitchFamily="34" charset="-120"/>
              </a:rPr>
              <a:t>无行/页状态，不因地址位置产生额外惩罚</a:t>
            </a:r>
            <a:endParaRPr lang="zh-CN" sz="1100" dirty="0"/>
          </a:p>
        </p:txBody>
      </p:sp>
      <p:sp>
        <p:nvSpPr>
          <p:cNvPr id="23" name="Shape 21"/>
          <p:cNvSpPr/>
          <p:nvPr/>
        </p:nvSpPr>
        <p:spPr>
          <a:xfrm>
            <a:off x="5943600" y="1572768"/>
            <a:ext cx="5696712" cy="1371600"/>
          </a:xfrm>
          <a:prstGeom prst="rect">
            <a:avLst/>
          </a:prstGeom>
          <a:solidFill>
            <a:srgbClr val="DDF3EA"/>
          </a:solidFill>
          <a:ln w="12700">
            <a:solidFill>
              <a:srgbClr val="DDF3EA"/>
            </a:solidFill>
            <a:prstDash val="solid"/>
          </a:ln>
        </p:spPr>
      </p:sp>
      <p:sp>
        <p:nvSpPr>
          <p:cNvPr id="24" name="Text 22"/>
          <p:cNvSpPr/>
          <p:nvPr/>
        </p:nvSpPr>
        <p:spPr>
          <a:xfrm>
            <a:off x="6172200" y="1691640"/>
            <a:ext cx="530352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读 1 个 token（256 B）</a:t>
            </a:r>
            <a:endParaRPr lang="zh-CN" sz="1300" dirty="0"/>
          </a:p>
        </p:txBody>
      </p:sp>
      <p:sp>
        <p:nvSpPr>
          <p:cNvPr id="25" name="Text 23"/>
          <p:cNvSpPr/>
          <p:nvPr/>
        </p:nvSpPr>
        <p:spPr>
          <a:xfrm>
            <a:off x="6172200" y="2011680"/>
            <a:ext cx="2377440" cy="640080"/>
          </a:xfrm>
          <a:prstGeom prst="rect">
            <a:avLst/>
          </a:prstGeom>
          <a:noFill/>
          <a:ln/>
        </p:spPr>
        <p:txBody>
          <a:bodyPr wrap="square" lIns="0" tIns="0" rIns="0" bIns="0" rtlCol="0" anchor="ctr"/>
          <a:lstStyle/>
          <a:p>
            <a:pPr algn="l" indent="0" marL="0">
              <a:lnSpc>
                <a:spcPct val="112000"/>
              </a:lnSpc>
              <a:buNone/>
            </a:pPr>
            <a:r>
              <a:rPr lang="zh-CN" altLang="en-US" sz="2800" b="1" dirty="0">
                <a:solidFill>
                  <a:srgbClr val="1A1D23"/>
                </a:solidFill>
                <a:latin typeface="Microsoft YaHei" pitchFamily="34" charset="0"/>
                <a:ea typeface="Microsoft YaHei" pitchFamily="34" charset="-122"/>
                <a:cs typeface="Microsoft YaHei" pitchFamily="34" charset="-120"/>
              </a:rPr>
              <a:t>1.0 ns</a:t>
            </a:r>
            <a:endParaRPr lang="zh-CN" sz="2800" dirty="0"/>
          </a:p>
        </p:txBody>
      </p:sp>
      <p:sp>
        <p:nvSpPr>
          <p:cNvPr id="26" name="Text 24"/>
          <p:cNvSpPr/>
          <p:nvPr/>
        </p:nvSpPr>
        <p:spPr>
          <a:xfrm>
            <a:off x="8549640" y="2029968"/>
            <a:ext cx="2926080" cy="685800"/>
          </a:xfrm>
          <a:prstGeom prst="rect">
            <a:avLst/>
          </a:prstGeom>
          <a:noFill/>
          <a:ln/>
        </p:spPr>
        <p:txBody>
          <a:bodyPr wrap="square" lIns="0" tIns="0" rIns="0" bIns="0" rtlCol="0" anchor="ctr"/>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基本只有 1 ns 流水线时延</a:t>
            </a:r>
            <a:endParaRPr lang="zh-CN" sz="1150" dirty="0"/>
          </a:p>
        </p:txBody>
      </p:sp>
      <p:sp>
        <p:nvSpPr>
          <p:cNvPr id="27" name="Shape 25"/>
          <p:cNvSpPr/>
          <p:nvPr/>
        </p:nvSpPr>
        <p:spPr>
          <a:xfrm>
            <a:off x="5943600" y="3127248"/>
            <a:ext cx="5696712" cy="1371600"/>
          </a:xfrm>
          <a:prstGeom prst="rect">
            <a:avLst/>
          </a:prstGeom>
          <a:solidFill>
            <a:srgbClr val="DDF3EA"/>
          </a:solidFill>
          <a:ln w="12700">
            <a:solidFill>
              <a:srgbClr val="DDF3EA"/>
            </a:solidFill>
            <a:prstDash val="solid"/>
          </a:ln>
        </p:spPr>
      </p:sp>
      <p:sp>
        <p:nvSpPr>
          <p:cNvPr id="28" name="Text 26"/>
          <p:cNvSpPr/>
          <p:nvPr/>
        </p:nvSpPr>
        <p:spPr>
          <a:xfrm>
            <a:off x="6172200" y="3246120"/>
            <a:ext cx="530352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读 26.5 MB（LONG 上下文的 K）</a:t>
            </a:r>
            <a:endParaRPr lang="zh-CN" sz="1300" dirty="0"/>
          </a:p>
        </p:txBody>
      </p:sp>
      <p:sp>
        <p:nvSpPr>
          <p:cNvPr id="29" name="Text 27"/>
          <p:cNvSpPr/>
          <p:nvPr/>
        </p:nvSpPr>
        <p:spPr>
          <a:xfrm>
            <a:off x="6172200" y="3566160"/>
            <a:ext cx="2377440" cy="640080"/>
          </a:xfrm>
          <a:prstGeom prst="rect">
            <a:avLst/>
          </a:prstGeom>
          <a:noFill/>
          <a:ln/>
        </p:spPr>
        <p:txBody>
          <a:bodyPr wrap="square" lIns="0" tIns="0" rIns="0" bIns="0" rtlCol="0" anchor="ctr"/>
          <a:lstStyle/>
          <a:p>
            <a:pPr algn="l" indent="0" marL="0">
              <a:lnSpc>
                <a:spcPct val="112000"/>
              </a:lnSpc>
              <a:buNone/>
            </a:pPr>
            <a:r>
              <a:rPr lang="zh-CN" altLang="en-US" sz="2800" b="1" dirty="0">
                <a:solidFill>
                  <a:srgbClr val="1A1D23"/>
                </a:solidFill>
                <a:latin typeface="Microsoft YaHei" pitchFamily="34" charset="0"/>
                <a:ea typeface="Microsoft YaHei" pitchFamily="34" charset="-122"/>
                <a:cs typeface="Microsoft YaHei" pitchFamily="34" charset="-120"/>
              </a:rPr>
              <a:t>79.8 TB/s</a:t>
            </a:r>
            <a:endParaRPr lang="zh-CN" sz="2800" dirty="0"/>
          </a:p>
        </p:txBody>
      </p:sp>
      <p:sp>
        <p:nvSpPr>
          <p:cNvPr id="30" name="Text 28"/>
          <p:cNvSpPr/>
          <p:nvPr/>
        </p:nvSpPr>
        <p:spPr>
          <a:xfrm>
            <a:off x="8549640" y="3584448"/>
            <a:ext cx="2926080" cy="685800"/>
          </a:xfrm>
          <a:prstGeom prst="rect">
            <a:avLst/>
          </a:prstGeom>
          <a:noFill/>
          <a:ln/>
        </p:spPr>
        <p:txBody>
          <a:bodyPr wrap="square" lIns="0" tIns="0" rIns="0" bIns="0" rtlCol="0" anchor="ctr"/>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已接近 80 TB/s 峰值，大读不受位置影响</a:t>
            </a:r>
            <a:endParaRPr lang="zh-CN" sz="1150" dirty="0"/>
          </a:p>
        </p:txBody>
      </p:sp>
      <p:sp>
        <p:nvSpPr>
          <p:cNvPr id="31" name="Shape 29"/>
          <p:cNvSpPr/>
          <p:nvPr/>
        </p:nvSpPr>
        <p:spPr>
          <a:xfrm>
            <a:off x="5943600" y="4681728"/>
            <a:ext cx="5696712" cy="1371600"/>
          </a:xfrm>
          <a:prstGeom prst="rect">
            <a:avLst/>
          </a:prstGeom>
          <a:solidFill>
            <a:srgbClr val="DDF3EA"/>
          </a:solidFill>
          <a:ln w="12700">
            <a:solidFill>
              <a:srgbClr val="DDF3EA"/>
            </a:solidFill>
            <a:prstDash val="solid"/>
          </a:ln>
        </p:spPr>
      </p:sp>
      <p:sp>
        <p:nvSpPr>
          <p:cNvPr id="32" name="Text 30"/>
          <p:cNvSpPr/>
          <p:nvPr/>
        </p:nvSpPr>
        <p:spPr>
          <a:xfrm>
            <a:off x="6172200" y="4800600"/>
            <a:ext cx="5303520" cy="292608"/>
          </a:xfrm>
          <a:prstGeom prst="rect">
            <a:avLst/>
          </a:prstGeom>
          <a:noFill/>
          <a:ln/>
        </p:spPr>
        <p:txBody>
          <a:bodyPr wrap="square" lIns="0" tIns="0" rIns="0" bIns="0" rtlCol="0" anchor="t"/>
          <a:lstStyle/>
          <a:p>
            <a:pPr algn="l" indent="0" marL="0">
              <a:lnSpc>
                <a:spcPct val="112000"/>
              </a:lnSpc>
              <a:buNone/>
            </a:pPr>
            <a:r>
              <a:rPr lang="zh-CN" altLang="en-US" sz="1300" b="1" dirty="0">
                <a:solidFill>
                  <a:srgbClr val="1A1D23"/>
                </a:solidFill>
                <a:latin typeface="Microsoft YaHei" pitchFamily="34" charset="0"/>
                <a:ea typeface="Microsoft YaHei" pitchFamily="34" charset="-122"/>
                <a:cs typeface="Microsoft YaHei" pitchFamily="34" charset="-120"/>
              </a:rPr>
              <a:t>32,768 次分散的 32 B 读</a:t>
            </a:r>
            <a:endParaRPr lang="zh-CN" sz="1300" dirty="0"/>
          </a:p>
        </p:txBody>
      </p:sp>
      <p:sp>
        <p:nvSpPr>
          <p:cNvPr id="33" name="Text 31"/>
          <p:cNvSpPr/>
          <p:nvPr/>
        </p:nvSpPr>
        <p:spPr>
          <a:xfrm>
            <a:off x="6172200" y="5120640"/>
            <a:ext cx="2377440" cy="640080"/>
          </a:xfrm>
          <a:prstGeom prst="rect">
            <a:avLst/>
          </a:prstGeom>
          <a:noFill/>
          <a:ln/>
        </p:spPr>
        <p:txBody>
          <a:bodyPr wrap="square" lIns="0" tIns="0" rIns="0" bIns="0" rtlCol="0" anchor="ctr"/>
          <a:lstStyle/>
          <a:p>
            <a:pPr algn="l" indent="0" marL="0">
              <a:lnSpc>
                <a:spcPct val="112000"/>
              </a:lnSpc>
              <a:buNone/>
            </a:pPr>
            <a:r>
              <a:rPr lang="zh-CN" altLang="en-US" sz="2800" b="1" dirty="0">
                <a:solidFill>
                  <a:srgbClr val="1A1D23"/>
                </a:solidFill>
                <a:latin typeface="Microsoft YaHei" pitchFamily="34" charset="0"/>
                <a:ea typeface="Microsoft YaHei" pitchFamily="34" charset="-122"/>
                <a:cs typeface="Microsoft YaHei" pitchFamily="34" charset="-120"/>
              </a:rPr>
              <a:t>搬运 2×</a:t>
            </a:r>
            <a:endParaRPr lang="zh-CN" sz="2800" dirty="0"/>
          </a:p>
        </p:txBody>
      </p:sp>
      <p:sp>
        <p:nvSpPr>
          <p:cNvPr id="34" name="Text 32"/>
          <p:cNvSpPr/>
          <p:nvPr/>
        </p:nvSpPr>
        <p:spPr>
          <a:xfrm>
            <a:off x="8549640" y="5138928"/>
            <a:ext cx="2926080" cy="685800"/>
          </a:xfrm>
          <a:prstGeom prst="rect">
            <a:avLst/>
          </a:prstGeom>
          <a:noFill/>
          <a:ln/>
        </p:spPr>
        <p:txBody>
          <a:bodyPr wrap="square" lIns="0" tIns="0" rIns="0" bIns="0" rtlCol="0" anchor="ctr"/>
          <a:lstStyle/>
          <a:p>
            <a:pPr algn="l" indent="0" marL="0">
              <a:lnSpc>
                <a:spcPct val="120000"/>
              </a:lnSpc>
              <a:buNone/>
            </a:pPr>
            <a:r>
              <a:rPr lang="zh-CN" altLang="en-US" sz="1150" dirty="0">
                <a:solidFill>
                  <a:srgbClr val="52514E"/>
                </a:solidFill>
                <a:latin typeface="Microsoft YaHei" pitchFamily="34" charset="0"/>
                <a:ea typeface="Microsoft YaHei" pitchFamily="34" charset="-122"/>
                <a:cs typeface="Microsoft YaHei" pitchFamily="34" charset="-120"/>
              </a:rPr>
              <a:t>每次至少搬一个 64 B burst；小请求还受 256 在途额度限制</a:t>
            </a:r>
            <a:endParaRPr lang="zh-CN"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12 · 为什么必须精细建模</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按峰值带宽折算，小读写与分散访问会被低估 10 倍到数万倍</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“按峰值折算” = 字节数 ÷ 标称峰值（HBM 12.8 TB/s；HBF 读 11.2 TB/s、写 112 GB/s；SRAM 80 TB/s）；“仿真器” = 同一场景的探针实测</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13</a:t>
            </a:r>
            <a:endParaRPr lang="zh-CN"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4480560"/>
                <a:gridCol w="2194560"/>
                <a:gridCol w="2194560"/>
                <a:gridCol w="2221992"/>
              </a:tblGrid>
              <a:tr h="429768">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场景</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按峰值折算</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仿真器结果</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相差</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r>
              <a:tr h="429768">
                <a:tc>
                  <a:txBody>
                    <a:bodyPr/>
                    <a:lstStyle/>
                    <a:p>
                      <a:pPr indent="0" marL="0">
                        <a:buNone/>
                      </a:pPr>
                      <a:r>
                        <a:rPr lang="en-US" sz="1300" dirty="0">
                          <a:solidFill>
                            <a:srgbClr val="1A1D23"/>
                          </a:solidFill>
                          <a:latin typeface="Microsoft YaHei" pitchFamily="34" charset="0"/>
                          <a:ea typeface="Microsoft YaHei" pitchFamily="34" charset="-122"/>
                          <a:cs typeface="Microsoft YaHei" pitchFamily="34" charset="-120"/>
                        </a:rPr>
                        <a:t>SRAM 读 26.5 MB</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331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332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400" b="1" dirty="0">
                          <a:solidFill>
                            <a:srgbClr val="1A1D23"/>
                          </a:solidFill>
                          <a:latin typeface="Microsoft YaHei" pitchFamily="34" charset="0"/>
                          <a:ea typeface="Microsoft YaHei" pitchFamily="34" charset="-122"/>
                          <a:cs typeface="Microsoft YaHei" pitchFamily="34" charset="-120"/>
                        </a:rPr>
                        <a:t>1.0×</a:t>
                      </a:r>
                      <a:endParaRPr lang="en-US" sz="14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429768">
                <a:tc>
                  <a:txBody>
                    <a:bodyPr/>
                    <a:lstStyle/>
                    <a:p>
                      <a:pPr indent="0" marL="0">
                        <a:buNone/>
                      </a:pPr>
                      <a:r>
                        <a:rPr lang="en-US" sz="1300" dirty="0">
                          <a:solidFill>
                            <a:srgbClr val="1A1D23"/>
                          </a:solidFill>
                          <a:latin typeface="Microsoft YaHei" pitchFamily="34" charset="0"/>
                          <a:ea typeface="Microsoft YaHei" pitchFamily="34" charset="-122"/>
                          <a:cs typeface="Microsoft YaHei" pitchFamily="34" charset="-120"/>
                        </a:rPr>
                        <a:t>HBM 连续读 26.5 MB</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2,070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2,473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400" b="1" dirty="0">
                          <a:solidFill>
                            <a:srgbClr val="1A1D23"/>
                          </a:solidFill>
                          <a:latin typeface="Microsoft YaHei" pitchFamily="34" charset="0"/>
                          <a:ea typeface="Microsoft YaHei" pitchFamily="34" charset="-122"/>
                          <a:cs typeface="Microsoft YaHei" pitchFamily="34" charset="-120"/>
                        </a:rPr>
                        <a:t>1.2×</a:t>
                      </a:r>
                      <a:endParaRPr lang="en-US" sz="14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429768">
                <a:tc>
                  <a:txBody>
                    <a:bodyPr/>
                    <a:lstStyle/>
                    <a:p>
                      <a:pPr indent="0" marL="0">
                        <a:buNone/>
                      </a:pPr>
                      <a:r>
                        <a:rPr lang="en-US" sz="1300" dirty="0">
                          <a:solidFill>
                            <a:srgbClr val="1A1D23"/>
                          </a:solidFill>
                          <a:latin typeface="Microsoft YaHei" pitchFamily="34" charset="0"/>
                          <a:ea typeface="Microsoft YaHei" pitchFamily="34" charset="-122"/>
                          <a:cs typeface="Microsoft YaHei" pitchFamily="34" charset="-120"/>
                        </a:rPr>
                        <a:t>HBF 连续读 26.5 MB</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2,366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3,441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algn="r" indent="0" marL="0">
                        <a:buNone/>
                      </a:pPr>
                      <a:r>
                        <a:rPr lang="en-US" sz="1400" b="1" dirty="0">
                          <a:solidFill>
                            <a:srgbClr val="1A1D23"/>
                          </a:solidFill>
                          <a:latin typeface="Microsoft YaHei" pitchFamily="34" charset="0"/>
                          <a:ea typeface="Microsoft YaHei" pitchFamily="34" charset="-122"/>
                          <a:cs typeface="Microsoft YaHei" pitchFamily="34" charset="-120"/>
                        </a:rPr>
                        <a:t>1.5×</a:t>
                      </a:r>
                      <a:endParaRPr lang="en-US" sz="14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429768">
                <a:tc>
                  <a:txBody>
                    <a:bodyPr/>
                    <a:lstStyle/>
                    <a:p>
                      <a:pPr indent="0" marL="0">
                        <a:buNone/>
                      </a:pPr>
                      <a:r>
                        <a:rPr lang="en-US" sz="1300" dirty="0">
                          <a:solidFill>
                            <a:srgbClr val="1A1D23"/>
                          </a:solidFill>
                          <a:latin typeface="Microsoft YaHei" pitchFamily="34" charset="0"/>
                          <a:ea typeface="Microsoft YaHei" pitchFamily="34" charset="-122"/>
                          <a:cs typeface="Microsoft YaHei" pitchFamily="34" charset="-120"/>
                        </a:rPr>
                        <a:t>HBM 读 1 MiB（256 × 4 KiB 分散）</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82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893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400" b="1" dirty="0">
                          <a:solidFill>
                            <a:srgbClr val="B3261E"/>
                          </a:solidFill>
                          <a:latin typeface="Microsoft YaHei" pitchFamily="34" charset="0"/>
                          <a:ea typeface="Microsoft YaHei" pitchFamily="34" charset="-122"/>
                          <a:cs typeface="Microsoft YaHei" pitchFamily="34" charset="-120"/>
                        </a:rPr>
                        <a:t>10.9×</a:t>
                      </a:r>
                      <a:endParaRPr lang="en-US" sz="14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r>
              <a:tr h="429768">
                <a:tc>
                  <a:txBody>
                    <a:bodyPr/>
                    <a:lstStyle/>
                    <a:p>
                      <a:pPr indent="0" marL="0">
                        <a:buNone/>
                      </a:pPr>
                      <a:r>
                        <a:rPr lang="en-US" sz="1300" dirty="0">
                          <a:solidFill>
                            <a:srgbClr val="1A1D23"/>
                          </a:solidFill>
                          <a:latin typeface="Microsoft YaHei" pitchFamily="34" charset="0"/>
                          <a:ea typeface="Microsoft YaHei" pitchFamily="34" charset="-122"/>
                          <a:cs typeface="Microsoft YaHei" pitchFamily="34" charset="-120"/>
                        </a:rPr>
                        <a:t>HBF 读 1 个 token（256 B）</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0.02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1,041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400" b="1" dirty="0">
                          <a:solidFill>
                            <a:srgbClr val="B3261E"/>
                          </a:solidFill>
                          <a:latin typeface="Microsoft YaHei" pitchFamily="34" charset="0"/>
                          <a:ea typeface="Microsoft YaHei" pitchFamily="34" charset="-122"/>
                          <a:cs typeface="Microsoft YaHei" pitchFamily="34" charset="-120"/>
                        </a:rPr>
                        <a:t>约 4.6 万×</a:t>
                      </a:r>
                      <a:endParaRPr lang="en-US" sz="14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r>
              <a:tr h="429768">
                <a:tc>
                  <a:txBody>
                    <a:bodyPr/>
                    <a:lstStyle/>
                    <a:p>
                      <a:pPr indent="0" marL="0">
                        <a:buNone/>
                      </a:pPr>
                      <a:r>
                        <a:rPr lang="en-US" sz="1300" dirty="0">
                          <a:solidFill>
                            <a:srgbClr val="1A1D23"/>
                          </a:solidFill>
                          <a:latin typeface="Microsoft YaHei" pitchFamily="34" charset="0"/>
                          <a:ea typeface="Microsoft YaHei" pitchFamily="34" charset="-122"/>
                          <a:cs typeface="Microsoft YaHei" pitchFamily="34" charset="-120"/>
                        </a:rPr>
                        <a:t>HBF 写 1 个 token（256 B）</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2 ns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300" dirty="0">
                          <a:solidFill>
                            <a:srgbClr val="1A1D23"/>
                          </a:solidFill>
                          <a:latin typeface="Microsoft YaHei" pitchFamily="34" charset="0"/>
                          <a:ea typeface="Microsoft YaHei" pitchFamily="34" charset="-122"/>
                          <a:cs typeface="Microsoft YaHei" pitchFamily="34" charset="-120"/>
                        </a:rPr>
                        <a:t>101.1 µs</a:t>
                      </a:r>
                      <a:endParaRPr lang="en-US" sz="13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c>
                  <a:txBody>
                    <a:bodyPr/>
                    <a:lstStyle/>
                    <a:p>
                      <a:pPr algn="r" indent="0" marL="0">
                        <a:buNone/>
                      </a:pPr>
                      <a:r>
                        <a:rPr lang="en-US" sz="1400" b="1" dirty="0">
                          <a:solidFill>
                            <a:srgbClr val="B3261E"/>
                          </a:solidFill>
                          <a:latin typeface="Microsoft YaHei" pitchFamily="34" charset="0"/>
                          <a:ea typeface="Microsoft YaHei" pitchFamily="34" charset="-122"/>
                          <a:cs typeface="Microsoft YaHei" pitchFamily="34" charset="-120"/>
                        </a:rPr>
                        <a:t>约 4.4 万×</a:t>
                      </a:r>
                      <a:endParaRPr lang="en-US" sz="1400" dirty="0">
                        <a:latin typeface="Microsoft YaHei" charset="0"/>
                        <a:ea typeface="Microsoft YaHei" charset="0"/>
                        <a:cs typeface="Microsoft YaHei" charset="0"/>
                      </a:endParaRPr>
                    </a:p>
                  </a:txBody>
                  <a:tcPr marL="164592" marR="164592"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FCE8DF"/>
                    </a:solidFill>
                  </a:tcPr>
                </a:tc>
              </a:tr>
            </a:tbl>
          </a:graphicData>
        </a:graphic>
      </p:graphicFrame>
      <p:sp>
        <p:nvSpPr>
          <p:cNvPr id="7" name="Shape 4"/>
          <p:cNvSpPr/>
          <p:nvPr/>
        </p:nvSpPr>
        <p:spPr>
          <a:xfrm>
            <a:off x="548640" y="4846320"/>
            <a:ext cx="11091672" cy="1280160"/>
          </a:xfrm>
          <a:prstGeom prst="rect">
            <a:avLst/>
          </a:prstGeom>
          <a:solidFill>
            <a:srgbClr val="E4EEFA"/>
          </a:solidFill>
          <a:ln w="12700">
            <a:solidFill>
              <a:srgbClr val="E4EEFA"/>
            </a:solidFill>
            <a:prstDash val="solid"/>
          </a:ln>
        </p:spPr>
      </p:sp>
      <p:sp>
        <p:nvSpPr>
          <p:cNvPr id="8" name="Shape 5"/>
          <p:cNvSpPr/>
          <p:nvPr/>
        </p:nvSpPr>
        <p:spPr>
          <a:xfrm>
            <a:off x="548640" y="4846320"/>
            <a:ext cx="73152" cy="1280160"/>
          </a:xfrm>
          <a:prstGeom prst="rect">
            <a:avLst/>
          </a:prstGeom>
          <a:solidFill>
            <a:srgbClr val="2A78D6"/>
          </a:solidFill>
          <a:ln w="12700">
            <a:solidFill>
              <a:srgbClr val="2A78D6"/>
            </a:solidFill>
            <a:prstDash val="solid"/>
          </a:ln>
        </p:spPr>
      </p:sp>
      <p:sp>
        <p:nvSpPr>
          <p:cNvPr id="9" name="Text 6"/>
          <p:cNvSpPr/>
          <p:nvPr/>
        </p:nvSpPr>
        <p:spPr>
          <a:xfrm>
            <a:off x="822960" y="4956048"/>
            <a:ext cx="10607040" cy="320040"/>
          </a:xfrm>
          <a:prstGeom prst="rect">
            <a:avLst/>
          </a:prstGeom>
          <a:noFill/>
          <a:ln/>
        </p:spPr>
        <p:txBody>
          <a:bodyPr wrap="square" lIns="0" tIns="0" rIns="0" bIns="0" rtlCol="0" anchor="t"/>
          <a:lstStyle/>
          <a:p>
            <a:pPr algn="l" indent="0" marL="0">
              <a:lnSpc>
                <a:spcPct val="112000"/>
              </a:lnSpc>
              <a:buNone/>
            </a:pPr>
            <a:r>
              <a:rPr lang="zh-CN" altLang="en-US" sz="1450" b="1" dirty="0">
                <a:solidFill>
                  <a:srgbClr val="1A1D23"/>
                </a:solidFill>
                <a:latin typeface="Microsoft YaHei" pitchFamily="34" charset="0"/>
                <a:ea typeface="Microsoft YaHei" pitchFamily="34" charset="-122"/>
                <a:cs typeface="Microsoft YaHei" pitchFamily="34" charset="-120"/>
              </a:rPr>
              <a:t>细节会改变端到端结论</a:t>
            </a:r>
            <a:endParaRPr lang="zh-CN" sz="1450" dirty="0"/>
          </a:p>
        </p:txBody>
      </p:sp>
      <p:sp>
        <p:nvSpPr>
          <p:cNvPr id="10" name="Text 7"/>
          <p:cNvSpPr/>
          <p:nvPr/>
        </p:nvSpPr>
        <p:spPr>
          <a:xfrm>
            <a:off x="822960" y="5303520"/>
            <a:ext cx="10607040" cy="777240"/>
          </a:xfrm>
          <a:prstGeom prst="rect">
            <a:avLst/>
          </a:prstGeom>
          <a:noFill/>
          <a:ln/>
        </p:spPr>
        <p:txBody>
          <a:bodyPr wrap="square" lIns="0" tIns="0" rIns="0" bIns="0" rtlCol="0" anchor="t"/>
          <a:lstStyle/>
          <a:p>
            <a:pPr algn="l" indent="0" marL="0">
              <a:lnSpc>
                <a:spcPct val="130000"/>
              </a:lnSpc>
              <a:buNone/>
            </a:pPr>
            <a:r>
              <a:rPr lang="zh-CN" altLang="en-US" sz="1250" dirty="0">
                <a:solidFill>
                  <a:srgbClr val="52514E"/>
                </a:solidFill>
                <a:latin typeface="Microsoft YaHei" pitchFamily="34" charset="0"/>
                <a:ea typeface="Microsoft YaHei" pitchFamily="34" charset="-122"/>
                <a:cs typeface="Microsoft YaHei" pitchFamily="34" charset="-120"/>
              </a:rPr>
              <a:t>405B、HBM4、SHORT、B=512 的 Decode：仅修正 HBM 地址映射（连续 burst 轮换 bank group）和行命令调度（提前关行），每层由 1.275 ms 降到 0.437 ms，TPOT 约 160 ms → 55 ms。同一份负载，层级细节建错，结论可以差 3 倍。</a:t>
            </a:r>
            <a:endParaRPr lang="zh-CN"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37744"/>
          </a:xfrm>
          <a:prstGeom prst="rect">
            <a:avLst/>
          </a:prstGeom>
          <a:noFill/>
          <a:ln/>
        </p:spPr>
        <p:txBody>
          <a:bodyPr wrap="square" lIns="0" tIns="0" rIns="0" bIns="0" rtlCol="0" anchor="t"/>
          <a:lstStyle/>
          <a:p>
            <a:pPr algn="l" indent="0" marL="0">
              <a:lnSpc>
                <a:spcPct val="112000"/>
              </a:lnSpc>
              <a:buNone/>
            </a:pPr>
            <a:r>
              <a:rPr lang="zh-CN" altLang="en-US" sz="1100" b="1" dirty="0">
                <a:solidFill>
                  <a:srgbClr val="8A8A86"/>
                </a:solidFill>
                <a:latin typeface="Microsoft YaHei" pitchFamily="34" charset="0"/>
                <a:ea typeface="Microsoft YaHei" pitchFamily="34" charset="-122"/>
                <a:cs typeface="Microsoft YaHei" pitchFamily="34" charset="-120"/>
              </a:rPr>
              <a:t>13 · 建模深度与边界</a:t>
            </a:r>
            <a:endParaRPr lang="zh-CN" sz="1100" dirty="0"/>
          </a:p>
        </p:txBody>
      </p:sp>
      <p:sp>
        <p:nvSpPr>
          <p:cNvPr id="3" name="Text 1"/>
          <p:cNvSpPr/>
          <p:nvPr/>
        </p:nvSpPr>
        <p:spPr>
          <a:xfrm>
            <a:off x="548640" y="548640"/>
            <a:ext cx="11091672" cy="822960"/>
          </a:xfrm>
          <a:prstGeom prst="rect">
            <a:avLst/>
          </a:prstGeom>
          <a:noFill/>
          <a:ln/>
        </p:spPr>
        <p:txBody>
          <a:bodyPr wrap="square" lIns="0" tIns="0" rIns="0" bIns="0" rtlCol="0" anchor="t"/>
          <a:lstStyle/>
          <a:p>
            <a:pPr algn="l" indent="0" marL="0">
              <a:lnSpc>
                <a:spcPct val="105000"/>
              </a:lnSpc>
              <a:buNone/>
            </a:pPr>
            <a:r>
              <a:rPr lang="zh-CN" altLang="en-US" sz="2500" b="1" dirty="0">
                <a:solidFill>
                  <a:srgbClr val="1A1D23"/>
                </a:solidFill>
                <a:latin typeface="Microsoft YaHei" pitchFamily="34" charset="0"/>
                <a:ea typeface="Microsoft YaHei" pitchFamily="34" charset="-122"/>
                <a:cs typeface="Microsoft YaHei" pitchFamily="34" charset="-120"/>
              </a:rPr>
              <a:t>当前建模深度与边界：机制已经实现，参数尚未经器件标定</a:t>
            </a:r>
            <a:endParaRPr lang="zh-CN" sz="2500" dirty="0"/>
          </a:p>
        </p:txBody>
      </p:sp>
      <p:sp>
        <p:nvSpPr>
          <p:cNvPr id="4" name="Text 2"/>
          <p:cNvSpPr/>
          <p:nvPr/>
        </p:nvSpPr>
        <p:spPr>
          <a:xfrm>
            <a:off x="548640" y="6419088"/>
            <a:ext cx="10332720" cy="274320"/>
          </a:xfrm>
          <a:prstGeom prst="rect">
            <a:avLst/>
          </a:prstGeom>
          <a:noFill/>
          <a:ln/>
        </p:spPr>
        <p:txBody>
          <a:bodyPr wrap="square" lIns="0" tIns="0" rIns="0" bIns="0" rtlCol="0" anchor="b"/>
          <a:lstStyle/>
          <a:p>
            <a:pPr algn="l"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依据：hbm_geometry.py / docs/hbm_geometry.md · nand_core.py 类说明 · sram_core.py · scripts/exploring_hbf_paper_config.py；所有配置 vendor_calibrated = False</a:t>
            </a:r>
            <a:endParaRPr lang="zh-CN" sz="900" dirty="0"/>
          </a:p>
        </p:txBody>
      </p:sp>
      <p:sp>
        <p:nvSpPr>
          <p:cNvPr id="5" name="Text 3"/>
          <p:cNvSpPr/>
          <p:nvPr/>
        </p:nvSpPr>
        <p:spPr>
          <a:xfrm>
            <a:off x="11091672" y="6419088"/>
            <a:ext cx="548640" cy="274320"/>
          </a:xfrm>
          <a:prstGeom prst="rect">
            <a:avLst/>
          </a:prstGeom>
          <a:noFill/>
          <a:ln/>
        </p:spPr>
        <p:txBody>
          <a:bodyPr wrap="square" lIns="0" tIns="0" rIns="0" bIns="0" rtlCol="0" anchor="b"/>
          <a:lstStyle/>
          <a:p>
            <a:pPr algn="r" indent="0" marL="0">
              <a:lnSpc>
                <a:spcPct val="112000"/>
              </a:lnSpc>
              <a:buNone/>
            </a:pPr>
            <a:r>
              <a:rPr lang="zh-CN" altLang="en-US" sz="900" dirty="0">
                <a:solidFill>
                  <a:srgbClr val="8A8A86"/>
                </a:solidFill>
                <a:latin typeface="Microsoft YaHei" pitchFamily="34" charset="0"/>
                <a:ea typeface="Microsoft YaHei" pitchFamily="34" charset="-122"/>
                <a:cs typeface="Microsoft YaHei" pitchFamily="34" charset="-120"/>
              </a:rPr>
              <a:t>14</a:t>
            </a:r>
            <a:endParaRPr lang="zh-CN"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143000"/>
                <a:gridCol w="4206240"/>
                <a:gridCol w="2743200"/>
                <a:gridCol w="2999232"/>
              </a:tblGrid>
              <a:tr h="411480">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介质</a:t>
                      </a:r>
                      <a:endParaRPr lang="en-US" sz="13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已经建模</a:t>
                      </a:r>
                      <a:endParaRPr lang="en-US" sz="13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参数来源</a:t>
                      </a:r>
                      <a:endParaRPr lang="en-US" sz="13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c>
                  <a:txBody>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未建模 / 使用时注意</a:t>
                      </a:r>
                      <a:endParaRPr lang="en-US" sz="13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213A"/>
                    </a:solidFill>
                  </a:tcPr>
                </a:tc>
              </a:tr>
              <a:tr h="1051560">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HBM</a:t>
                      </a:r>
                      <a:endParaRPr lang="en-US" sz="15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F5FAE"/>
                    </a:solidFill>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地址映射到堆 / 通道 / PC / bank / 行 / 列；ACT、PRE、RD、WR、全 bank 刷新命令；每 bank 行状态；共享命令总线与数据线；tRRD / tFAW / tCCD / 换向</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组织来自 JEDEC HBM4 协议；时序为参考工程值与研究假设</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厂商地址映射与速度档、PHY 训练、按 bank 刷新；调度按请求而非逐命令重排</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1051560">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HBF</a:t>
                      </a:r>
                      <a:endParaRPr lang="en-US" sz="15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C4501F"/>
                    </a:solidFill>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页级读 / 编程 / 擦除；plane 并行、die 内部通道、主机链路；每 plane 2 页缓冲；不满页读改写；在途额度；可选主机写暂存</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堆 / die / plane 数与读写时延来自论文 Table I；块几何、擦除、内部带宽为研究假设</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论文配置（generic NAND）无 FTL / 垃圾回收；ECC、数据保持未建；磨损为可选简化模型</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685800">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SRAM</a:t>
                      </a:r>
                      <a:endParaRPr lang="en-US" sz="150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3845C"/>
                    </a:solidFill>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容量、8 端口条带、64 B burst、1 ns 流水线、在途额度</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容量来自论文；端口数、时延为研究假设</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1A1D23"/>
                          </a:solidFill>
                          <a:latin typeface="Microsoft YaHei" pitchFamily="34" charset="0"/>
                          <a:ea typeface="Microsoft YaHei" pitchFamily="34" charset="-122"/>
                          <a:cs typeface="Microsoft YaHei" pitchFamily="34" charset="-120"/>
                        </a:rPr>
                        <a:t>按池化处理，未区分各堆私有空间与路由</a:t>
                      </a:r>
                      <a:endParaRPr lang="en-US" sz="1150" dirty="0">
                        <a:latin typeface="Microsoft YaHei" charset="0"/>
                        <a:ea typeface="Microsoft YaHei" charset="0"/>
                        <a:cs typeface="Microsoft YaHei" charset="0"/>
                      </a:endParaRPr>
                    </a:p>
                  </a:txBody>
                  <a:tcPr marL="128016" marR="128016" marT="73152" marB="73152"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7" name="Shape 4"/>
          <p:cNvSpPr/>
          <p:nvPr/>
        </p:nvSpPr>
        <p:spPr>
          <a:xfrm>
            <a:off x="548640" y="5074920"/>
            <a:ext cx="11091672" cy="1051560"/>
          </a:xfrm>
          <a:prstGeom prst="rect">
            <a:avLst/>
          </a:prstGeom>
          <a:solidFill>
            <a:srgbClr val="F4F4F1"/>
          </a:solidFill>
          <a:ln w="12700">
            <a:solidFill>
              <a:srgbClr val="F4F4F1"/>
            </a:solidFill>
            <a:prstDash val="solid"/>
          </a:ln>
        </p:spPr>
      </p:sp>
      <p:sp>
        <p:nvSpPr>
          <p:cNvPr id="8" name="Text 5"/>
          <p:cNvSpPr/>
          <p:nvPr/>
        </p:nvSpPr>
        <p:spPr>
          <a:xfrm>
            <a:off x="777240" y="5074920"/>
            <a:ext cx="10698480" cy="1051560"/>
          </a:xfrm>
          <a:prstGeom prst="rect">
            <a:avLst/>
          </a:prstGeom>
          <a:noFill/>
          <a:ln/>
        </p:spPr>
        <p:txBody>
          <a:bodyPr wrap="square" lIns="0" tIns="0" rIns="0" bIns="0" rtlCol="0" anchor="ctr"/>
          <a:lstStyle/>
          <a:p>
            <a:pPr algn="l" indent="0" marL="0">
              <a:lnSpc>
                <a:spcPct val="130000"/>
              </a:lnSpc>
              <a:buNone/>
            </a:pPr>
            <a:r>
              <a:rPr lang="zh-CN" altLang="en-US" sz="1300" b="1" dirty="0">
                <a:solidFill>
                  <a:srgbClr val="1A1D23"/>
                </a:solidFill>
                <a:latin typeface="Microsoft YaHei" pitchFamily="34" charset="0"/>
                <a:ea typeface="Microsoft YaHei" pitchFamily="34" charset="-122"/>
                <a:cs typeface="Microsoft YaHei" pitchFamily="34" charset="-120"/>
              </a:rPr>
              <a:t>结果应这样读：</a:t>
            </a:r>
            <a:endParaRPr lang="zh-CN" sz="1300" dirty="0"/>
          </a:p>
          <a:p>
            <a:pPr algn="l" indent="0" marL="0">
              <a:lnSpc>
                <a:spcPct val="130000"/>
              </a:lnSpc>
              <a:buNone/>
            </a:pPr>
            <a:r>
              <a:rPr lang="zh-CN" altLang="en-US" sz="1300" dirty="0">
                <a:solidFill>
                  <a:srgbClr val="52514E"/>
                </a:solidFill>
                <a:latin typeface="Microsoft YaHei" pitchFamily="34" charset="0"/>
                <a:ea typeface="Microsoft YaHei" pitchFamily="34" charset="-122"/>
                <a:cs typeface="Microsoft YaHei" pitchFamily="34" charset="-120"/>
              </a:rPr>
              <a:t>同一套物理机制下比较不同介质与部署是可靠的；绝对数值取决于未标定参数。拿到目标器件的时序表后，替换参数即可，不需要改模型结构。</a:t>
            </a:r>
            <a:endParaRPr lang="zh-CN"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大模型推理访存与 HBM / HBF / SRAM 建模层级</dc:title>
  <dc:subject>PptxGenJS Presentation</dc:subject>
  <dc:creator>HeteroLLM-Sim</dc:creator>
  <cp:lastModifiedBy>HeteroLLM-Sim</cp:lastModifiedBy>
  <cp:revision>1</cp:revision>
  <dcterms:created xsi:type="dcterms:W3CDTF">2026-10-27T07:15:38Z</dcterms:created>
  <dcterms:modified xsi:type="dcterms:W3CDTF">2026-10-27T07:15:38Z</dcterms:modified>
</cp:coreProperties>
</file>