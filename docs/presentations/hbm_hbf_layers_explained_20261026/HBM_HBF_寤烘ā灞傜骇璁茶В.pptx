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演示解释当前工作区已实现的抽象层级，不是芯片规格介绍，也不宣称完整标准或电路级仿真。HBM用抽屉比喻开行与行命中；HBF用整箱拆零比喻整页阵列读取和主机访问粒度。所有比喻只是帮助理解，技术行为以当前代码为准。内容依次覆盖组织、地址、介质状态、资源竞争、系统指标和精度边界。主要来源：src/heterollm_sim/memory_types.py、memory_mapping.py、dram_core.py、_hbm_control.py、nand_core.py、data_motion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的五层是观察视角，不是一次读操作依次经过的五个时段。配置和组织决定地址可表达范围；allocation和owner把任务数据绑定到实际内存端点；Core维护介质状态并在共享日历上预定资源；完成时间回写事件内核，再由serving形成token指标。来源：src/heterollm_sim/physical_contract.py:154-200；planner.py:5074-5084；data_motion.py:1209-1235,1376-1485；event_kernel.py:685-705；serving.py:16736-16754,17035-17039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组织坐标回答位置，状态回答历史，执行资源回答共享和并行。比如HBF Block、Page都有物理坐标和计费意义，但不会各自增加独立阵列总线；HBM PC的数据通路独立，但同一物理Channel的两个PC共享行命令与列命令总线。资源数量不能仅从地址层级的节点数量推断。来源：src/heterollm_sim/memory_mapping.py:49-98,124-161；dram_core.py:98-102；nand_core.py:537-567。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Planner生成memory_accesses并保持稳定buffer/tensor身份；allocator在运行内分配对齐且不搬移的地址，以buffer identity加generation区分生命周期。派发时重新解析allocation、offset和显式地址，检查范围与设备容量。之后构造AccessRequest(operation,address,byte_count,arrival)，调用DramCore或NandCore。纯读读不凭空增加依赖，重叠读写依赖会保留。不能把所有planner路径都声称为实测硬件trace，部分aggregate缓存路径另有显式抽象标记。来源：planner.py:4930-4974,5074-5084；memory_allocator.py:25-47,91-100；data_motion.py:1209-1235,1261-1282,1376-1406；_token_program.py:338-359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HBM标准构造器对HBM4选择32物理Channel、每Channel两个PC。16H组织为每PC 8个Bank Group×每组8 Bank，共64 Bank。32Gb密度时每Bank 16384个有效1KiB Row，得到64GiB/Stack。bank_geometry_scope=per_stack，因此addressable_die_count=1，物理16 Die是描述字段，不可再次乘容量。通用DramConfig虽有die/subchannel/rank坐标，但标准构造器subchannel=1且rank=1。SID不是单独资源树节点，而由每16 Bank的编号派生。全局lane展平Stack、Channel与PC，lane是权威数据资源ID。HBM3/4有效寻址Row为1KiB，而开行激活页为2KiB，active_row会屏蔽相关高位；图中Row是有效寻址概念。来源：hbm_geometry.py:132-151,244-285；memory_types.py:593-599；memory_mapping.py:77-98；_hbm_dependencies.py:60-66；tests/test_hbm_stack_geometry.py:275-290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资源归属是本页重点。同一物理Channel的两个PC共同使用Row CA和Column CA，两条CA本身是独立的命令资源，都可服务两个PC；DQ按PC分开，命令窗口不会直接等同DQ传输。Bank状态控制开行、预充电和下次操作的合法时间；PC/Channel还维护方向与组间约束。不要把PC独立DQ误画成CA也独立。来源：src/heterollm_sim/dram_core.py:98-102；_hbm_control.py:37-77,95-130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这是动作顺序图，不能根据形状宽度推断实际时延。jedec_hbm维护ACT/PREpb/PREab/RD/WR/REFab正常操作子集。命令占用与阵列时序约束分开，read latency与DQ占用也分开。行命中按active_row判断，HBM3/4的两个1KiB有效半页可能对应同一2KiB激活页。写恢复时间限制下次PRE，不额外添加到本次写的DQ完成尾部。周期all-bank refresh由配置启用，analytical模式不包含这一组完整约束。来源：_hbm_control.py:1-13,486-488,569-584；hbm_geometry.py:249-253,285-297,379-391。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测试明确规定tCK=2.56ns、read latency=81.92ns、same-group column spacing=10.24ns。ACT在CK0，阵列时序锚点在CK1；tRCD=14ns，合法首个RD对齐到CK7。之后RD为CK11、CK15。RL固定32CK，burst占2CK，故DQ分别为39-41、43-45、47-49CK；完成为41×2.56=104.96ns、45×2.56=115.20ns、49×2.56=125.44ns。三次请求均为32B，同地址，到达时间默认0。横轴为CK，ACT形状显示1.5CK占用但文字不声称完整波形。参考配置另覆盖512GiB，仅用于测试时钟计算。来源：tests/test_hbm_clock_arithmetic.py:16-38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本页主图采用论文原生builder的HBF示例，不是全部HBF模式统一的组织。每个实际Die映射一个Core Channel，连续16个Channel构成一个Stack分组；NandConfig没有独立stack字段。targets_per_channel、dies_per_target、luns_per_die均为1，planes_per_lun=25且planes_independent=True。不得把实际Die再乘到Core die字段。每Plane拥有独立阵列日历，同一实际Die的Plane共享内部数据通道，最后汇聚到聚合Host接口。通用坐标无独立名为package的字段；target不擅自改称package。planes_independent=False时同LUN的Plane共享服务单元；parallel_units可折叠有效执行资源但不改变地址坐标。来源：memory_types.py:659-712；memory_mapping.py:124-161；nand_core.py:537-567；scripts/exploring_hbf_paper_config.py:272-342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冷读先受准入限制，再PAGE_READ、INTERNAL_TRANSFER、HOST_TRANSFER，各阶段由不同资源日历计时，不能简单压成数据量除总带宽。跨页请求逐页拆分。阵列和内部搬运以完整媒体页计费；Host按host_granularity_bytes取整。读缓存命中跳过PAGE_READ与INTERNAL_TRANSFER，但要等ready与Host资源；reader_end约束缓存替换与重新填充时机，不是命中读取的额外前置条件。每bank两槽与LRU在所讲配置中启用，不代表所有通用NAND配置默认如此。来源：nand_core.py:641-676,1800-1955；memory_mapping.py:240-257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NandCore页缓存是标签、ready、reader_end和LRU元数据，以及真实资源预订的抽象。它不是完整SRAM bank/port时序模型。论文HBF每Stack有16Die×25Plane×2槽×4096B=3,276,800B=3.125MiB原生读缓存；论文3.13MB标签在本地builder明确按约MiB解释，不能写成3,130,000B。中间SRAM是另建的SramCore与普通allocator工作区，本页不把两者容量相加或重复收费。来源：nand_core.py:641-676,1898-1922；scripts/exploring_hbf_paper_config.py:272-291,326-340；sram_core.py；scripts/exploring_hbf_native_config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NandCore本体不含FTL/GC；但项目上层HbfStagingController已实现有限HOST DRAM暂存、小型日志式FTL和live-page GC，不能笼统说项目无FTL/GC。通用模式write_buffer_bytes&gt;0是核心有限host-side budget，有页合并和host-ack/drain语义；strict ocp_hbf_0_7禁止该核心write_buffer，要求完整对齐4KiB普通写，顺序Program，page-0自动擦除，完成点为媒体完成。独立HOST DRAM staging接小KV片段，绑定真实HOST DRAM与fabric，不能拿HBM冒充。测试16次256B写在凑足4KiB后才Program。FTL异地更新旧页失效，GC搬存活页后复用块；不是原地单页擦除。来源：nand_core.py:353-362,784-899,1840-1884,1958-1996；memory_mapping.py:199-208；hbf_staging.py:476-526,834-986；hbf_staging_runtime.py:1-38；tests/test_hbf_staging.py:303-319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日历为每个owner记录真实资源占用；单lane预订开始时间=max(earliest,ready+方向切换代价)，多lane选最早可用lane。图的上半部分是搬运要计入的端点与链路示意，不声称所有路径均完整串行相加；具体直接、staged或分块流水关系需查看实际任务。下半部分对应data_motion中的native kernel envelope：原backing memory估算由实际Core span替换，避免重复加一遍；kernel duration=max(other resource span,memory span)+dependency。模型是Core memory加已有compute resource model，非实测whole-kernel replay。来源：memory_transfer.py:263-328；data_motion.py:1444-1485,1730-1769；event_kernel.py:685-705；kv_transfer.py、memory_transfer.py、data_motion.py相关搬运实现。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本页假设地址64B对齐且不跨HBF页，HBM burst为32B，strict OCP HBF Host粒度为64B。HBM逻辑64B触发2个burst，总DQ字节64B，但ACT/PRE/CA等时序不能因字节放大为1而忽略。HBF冷读的阵列和内部搬运是4096B，Host仍为64B；媒体页容量相对有效载荷4096/64=64倍。命中且页ready时跳过阵列和内部传输。不同资源的字节不能相加成一个含糊的总流量，再拿它去除某一带宽。论文generic配置常把Host粒度设为4KiB，因此同一小请求在那一配置也可能有Host放大；不能把本页OCP数值套过去。来源：memory_mapping.py:173-188,240-257；nand_core.py:1898-1955；physical_presets.py:130-163；tests/test_hbf_protocol_contract.py:28-59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service_ns累加per-task/per-owner完成跨度，这些跨度可重叠，不等于elapsed wall time，也不等于DQ busy time。实际每资源busy和bytes在resource_totals中。transaction achieved bandwidth通常logical bytes/latency；物理页和burst放大、Host/internal字节另看。Token提交时间取terminal item完成；TPOT=(last-first)/(committed_tokens-1)，不足两个可见Token时未定义。系统性能须由任务依赖和资源竞争推导，不能拿一次HBF冷页读取延迟代替TPOT。来源：memory_service.py:26-84；memory_types.py:890-916；memory_transfer.py:478-510；serving.py:16736-16754,16801-16809,17035-17039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M标准构造器control_mode=jedec_hbm，但DramCore也支持显式analytical，后者有简化Bank开行、PRE/ACT与传输，不是纯bytes/BW，却没有jedec_hbm完整正常操作约束。capture_details=False不自动改变控制模式。编译NAND仍逐页更新缓存；max-plus acceleration仅在可证明max分支和日历转移后跳步，不能说跳过了物理模型。采样则不同：native_layer_sampling在独立副本执行完整选中层，遗漏前驱作为boundary inputs，不提交live可见Token；native_fast_window不推进live请求/物理日历，forecast_has_physical_trace=False；stationary假设同类未采样层地址跨row差异可忽略，尚未严格界定。来源：dram_core.py:90-105,527-556；_compiled_nand.py:11-25；_nand_acceleration.py:1-8；native_layer_sampling.py:1-7；native_fast_window.py:1-7,29-35；native_stationary.py:34-40,70-74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这张表是实现范围，不是所有模式同时启用。HBM刷新all_bank需要参数启用，analytical不具备相同约束；jedec_hbm仅正常命令子集，缺训练、parity/ECC传输、auto-precharge和per-bank refresh。NandCore不含FTL/GC，但上层strict OCP staging有小型日志式FTL和GC。HBF可选wear model计擦除P/E并按用户比例增长Program时延，不等同寿命物理预测或wear-level remapping。参考预设有明确假设来源；论文HBM4借用HBM3E的tRRD/tFAW不能包装成目标厂商已校准。strict OCP参考4us读/75us写/2ms擦也是探索假设，不是OCP规范强制值。来源：hbm_geometry.py:379-391；nand_core.py:353-362,724-768；physical_presets.py:137-163；scripts/exploring_hbf_paper_config.py:231-258；hbf_staging.py:476-526,834-986。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回到用户可操作的理解：地址不只是一串数字，几何决定映射；HBM的状态与命令决定何时能占DQ；HBF的页/缓存/Program决定何时能走共享通道；任务图把这些完成点连成关键路径。不要仅根据峰值带宽判断性能，也不要仅根据地址层级推导独立资源数。最后读实验结果必须同时检查配置、protocol/control mode和采样预测标记。所有解释基于2026-10-26当前工作区而非单一提交快照，现有未提交改动亦在分析范围中。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完整源码阅读顺序：1 src/heterollm_sim/memory_types.py:243-304,659-773，hbm_geometry.py:266-297，_hbm_dependencies.py:60-66。2 memory_mapping.py:49-98,124-188,199-257，memory_allocator.py:25-47,91-100。3 dram_core.py:90-105,411-420,527-556，_hbm_control.py:1-13,37-130,486-584，nand_core.py:353-362,537-690,1800-1996，hbf_staging.py:476-526,834-986。4 data_motion.py:1209-1235,1376-1485,1730-1769，event_kernel.py:685-705，memory_service.py:26-84，serving.py:17035-17039。数值例：tests/test_hbm_clock_arithmetic.py:16-38；tests/test_hbm_stack_geometry.py:275-290；tests/test_hbf_staging.py:303-319。论文映射：scripts/exploring_hbf_paper_config.py:231-342。本PPT未使用外部图片；示意图均为可编辑PowerPoint原生形状，图中比喻并非硬件结构实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8E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4.0.0 · 当前工作区实现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与 HBF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仿真器究竟模拟到哪一层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D2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3504" y="23317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5E7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从地址、介质动作与共享资源，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5E7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解释一次访问如何影响 Token 时间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3675888"/>
            <a:ext cx="2304288" cy="320040"/>
          </a:xfrm>
          <a:prstGeom prst="roundRect">
            <a:avLst>
              <a:gd name="adj" fmla="val 34286"/>
            </a:avLst>
          </a:prstGeom>
          <a:solidFill>
            <a:srgbClr val="203A39"/>
          </a:solidFill>
          <a:ln w="10160">
            <a:solidFill>
              <a:srgbClr val="203A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36987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8E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代码驱动的机制讲解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4279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DD2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技术细节 × 日常比喻 × 可编辑示意图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5660136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FC8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2026-10-26 工作区代码；参数示例不代表实测芯片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9944" y="2194560"/>
            <a:ext cx="1938528" cy="2148840"/>
          </a:xfrm>
          <a:prstGeom prst="roundRect">
            <a:avLst>
              <a:gd name="adj" fmla="val 5660"/>
            </a:avLst>
          </a:prstGeom>
          <a:solidFill>
            <a:srgbClr val="F1F5F4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2304288"/>
            <a:ext cx="1700784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14616" y="2395728"/>
            <a:ext cx="329184" cy="0"/>
          </a:xfrm>
          <a:prstGeom prst="line">
            <a:avLst/>
          </a:prstGeom>
          <a:noFill/>
          <a:ln w="25400">
            <a:solidFill>
              <a:srgbClr val="5E70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8816" y="2947416"/>
            <a:ext cx="1700784" cy="585216"/>
          </a:xfrm>
          <a:prstGeom prst="roundRect">
            <a:avLst>
              <a:gd name="adj" fmla="val 18750"/>
            </a:avLst>
          </a:prstGeom>
          <a:solidFill>
            <a:srgbClr val="DDF2E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14616" y="3038856"/>
            <a:ext cx="329184" cy="0"/>
          </a:xfrm>
          <a:prstGeom prst="line">
            <a:avLst/>
          </a:prstGeom>
          <a:noFill/>
          <a:ln w="25400">
            <a:solidFill>
              <a:srgbClr val="087F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3590544"/>
            <a:ext cx="1700784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4616" y="3681984"/>
            <a:ext cx="329184" cy="0"/>
          </a:xfrm>
          <a:prstGeom prst="line">
            <a:avLst/>
          </a:prstGeom>
          <a:noFill/>
          <a:ln w="25400">
            <a:solidFill>
              <a:srgbClr val="5E70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4663440"/>
            <a:ext cx="1554480" cy="621792"/>
          </a:xfrm>
          <a:prstGeom prst="roundRect">
            <a:avLst>
              <a:gd name="adj" fmla="val 17647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81888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481888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922520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4922520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5026152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5026152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5129784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5129784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4791456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345168" y="2331720"/>
            <a:ext cx="1673352" cy="1051560"/>
          </a:xfrm>
          <a:prstGeom prst="rect">
            <a:avLst>
              <a:gd name="adj" fmla="val 10435"/>
            </a:avLst>
          </a:prstGeom>
          <a:solidFill>
            <a:srgbClr val="FBEBDC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2331720"/>
            <a:ext cx="836676" cy="155448"/>
          </a:xfrm>
          <a:prstGeom prst="line">
            <a:avLst/>
          </a:prstGeom>
          <a:noFill/>
          <a:ln w="12700">
            <a:solidFill>
              <a:srgbClr val="B15D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0181844" y="2331720"/>
            <a:ext cx="836676" cy="155448"/>
          </a:xfrm>
          <a:prstGeom prst="line">
            <a:avLst/>
          </a:prstGeom>
          <a:noFill/>
          <a:ln w="12700">
            <a:solidFill>
              <a:srgbClr val="B15D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81844" y="2487168"/>
            <a:ext cx="0" cy="422910"/>
          </a:xfrm>
          <a:prstGeom prst="line">
            <a:avLst/>
          </a:prstGeom>
          <a:noFill/>
          <a:ln w="12700">
            <a:solidFill>
              <a:srgbClr val="B15D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45168" y="3602736"/>
            <a:ext cx="1673352" cy="1051560"/>
          </a:xfrm>
          <a:prstGeom prst="rect">
            <a:avLst>
              <a:gd name="adj" fmla="val 10435"/>
            </a:avLst>
          </a:prstGeom>
          <a:solidFill>
            <a:srgbClr val="FBEBDC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45168" y="3602736"/>
            <a:ext cx="836676" cy="155448"/>
          </a:xfrm>
          <a:prstGeom prst="line">
            <a:avLst/>
          </a:prstGeom>
          <a:noFill/>
          <a:ln w="12700">
            <a:solidFill>
              <a:srgbClr val="B15D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0181844" y="3602736"/>
            <a:ext cx="836676" cy="155448"/>
          </a:xfrm>
          <a:prstGeom prst="line">
            <a:avLst/>
          </a:prstGeom>
          <a:noFill/>
          <a:ln w="12700">
            <a:solidFill>
              <a:srgbClr val="B15D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1844" y="3758184"/>
            <a:ext cx="0" cy="422910"/>
          </a:xfrm>
          <a:prstGeom prst="line">
            <a:avLst/>
          </a:prstGeom>
          <a:noFill/>
          <a:ln w="12700">
            <a:solidFill>
              <a:srgbClr val="B15D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72600" y="4956048"/>
            <a:ext cx="1618488" cy="621792"/>
          </a:xfrm>
          <a:prstGeom prst="roundRect">
            <a:avLst>
              <a:gd name="adj" fmla="val 17647"/>
            </a:avLst>
          </a:prstGeom>
          <a:solidFill>
            <a:srgbClr val="B15D22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62872" y="5111496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91088" y="5111496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62872" y="5215128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1088" y="5215128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62872" y="5318760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91088" y="5318760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62872" y="5422392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91088" y="5422392"/>
            <a:ext cx="109728" cy="0"/>
          </a:xfrm>
          <a:prstGeom prst="line">
            <a:avLst/>
          </a:prstGeom>
          <a:noFill/>
          <a:ln w="31750">
            <a:solidFill>
              <a:srgbClr val="B15D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82328" y="5084064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172200" y="17647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8E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打开抽屉，连续取物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814816" y="176479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B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整箱取回，再按需拆零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22792" y="1993392"/>
            <a:ext cx="0" cy="3557016"/>
          </a:xfrm>
          <a:prstGeom prst="line">
            <a:avLst/>
          </a:prstGeom>
          <a:noFill/>
          <a:ln w="12700">
            <a:solidFill>
              <a:srgbClr val="49615A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五个观察层级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沿层级向下看细节，再沿执行结果向上解释性能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7178040" cy="557784"/>
          </a:xfrm>
          <a:prstGeom prst="rect">
            <a:avLst>
              <a:gd name="adj" fmla="val 19672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107692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211226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组织与参数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12140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有哪些单元？容量、几何、带宽与时序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" y="2715768"/>
            <a:ext cx="7178040" cy="557784"/>
          </a:xfrm>
          <a:prstGeom prst="rect">
            <a:avLst>
              <a:gd name="adj" fmla="val 19672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2802636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02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2807208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数据与地址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816352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数据放在哪里？owner、allocation、offset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" y="3410712"/>
            <a:ext cx="7178040" cy="557784"/>
          </a:xfrm>
          <a:prstGeom prst="rect">
            <a:avLst>
              <a:gd name="adj" fmla="val 19672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3497580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4975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3502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介质状态与动作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11880" y="3511296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要做什么？开行、读页、编程、缓存替换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" y="4105656"/>
            <a:ext cx="7178040" cy="557784"/>
          </a:xfrm>
          <a:prstGeom prst="rect">
            <a:avLst>
              <a:gd name="adj" fmla="val 19672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192524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1925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3312" y="419709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共享资源与事件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11880" y="4206240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何时能做？准入、排队、依赖与资源日历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" y="4800600"/>
            <a:ext cx="7178040" cy="557784"/>
          </a:xfrm>
          <a:prstGeom prst="rect">
            <a:avLst>
              <a:gd name="adj" fmla="val 19672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" y="4887468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8874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53312" y="489204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推理性能输出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11880" y="4901184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造成什么影响？算子、Token、TTFT / TPOT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842248" y="2240280"/>
            <a:ext cx="1627632" cy="1005840"/>
          </a:xfrm>
          <a:prstGeom prst="roundRect">
            <a:avLst>
              <a:gd name="adj" fmla="val 10909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239572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69880" y="239572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2627376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69880" y="2627376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2520" y="2859024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69880" y="2859024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32520" y="3090672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69880" y="3090672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2368296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9656064" y="3483864"/>
            <a:ext cx="0" cy="438912"/>
          </a:xfrm>
          <a:prstGeom prst="line">
            <a:avLst/>
          </a:prstGeom>
          <a:noFill/>
          <a:ln w="2540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604504" y="4050792"/>
            <a:ext cx="2093976" cy="649224"/>
          </a:xfrm>
          <a:prstGeom prst="roundRect">
            <a:avLst>
              <a:gd name="adj" fmla="val 16901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23376" y="4114800"/>
            <a:ext cx="18562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资源日历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656064" y="4846320"/>
            <a:ext cx="0" cy="420624"/>
          </a:xfrm>
          <a:prstGeom prst="line">
            <a:avLst/>
          </a:prstGeom>
          <a:noFill/>
          <a:ln w="2540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174736" y="543153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 → Token 时间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代码：physical_contract.py · data_motion.py · event_kernel.py · reporting.py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组织坐标、状态、执行资源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可被寻址的一层，不一定拥有独立总线或独立队列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2075688"/>
            <a:ext cx="384048" cy="384048"/>
          </a:xfrm>
          <a:prstGeom prst="ellipse">
            <a:avLst/>
          </a:prstGeom>
          <a:solidFill>
            <a:srgbClr val="192A2B"/>
          </a:solidFill>
          <a:ln w="12700">
            <a:solidFill>
              <a:srgbClr val="192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207568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组织坐标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2734056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它在哪里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3337560"/>
            <a:ext cx="3218688" cy="1399032"/>
          </a:xfrm>
          <a:prstGeom prst="roundRect">
            <a:avLst>
              <a:gd name="adj" fmla="val 7843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575304"/>
            <a:ext cx="28529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/ Row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Plane / Block / Page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" y="51480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像楼栋、房间与抽屉编号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89704" y="2075688"/>
            <a:ext cx="384048" cy="384048"/>
          </a:xfrm>
          <a:prstGeom prst="ellipse">
            <a:avLst/>
          </a:prstGeom>
          <a:solidFill>
            <a:srgbClr val="192A2B"/>
          </a:solidFill>
          <a:ln w="12700">
            <a:solidFill>
              <a:srgbClr val="192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07568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介质状态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9704" y="2734056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它现在怎样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489704" y="3337560"/>
            <a:ext cx="3218688" cy="1399032"/>
          </a:xfrm>
          <a:prstGeom prst="roundRect">
            <a:avLst>
              <a:gd name="adj" fmla="val 7843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3575304"/>
            <a:ext cx="28529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打开哪一行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缓存哪一页、何时就绪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9704" y="51480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像抽屉是否打开、箱子是否取回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57616" y="2075688"/>
            <a:ext cx="384048" cy="384048"/>
          </a:xfrm>
          <a:prstGeom prst="ellipse">
            <a:avLst/>
          </a:prstGeom>
          <a:solidFill>
            <a:srgbClr val="192A2B"/>
          </a:solidFill>
          <a:ln w="12700">
            <a:solidFill>
              <a:srgbClr val="192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7112" y="207568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执行资源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57616" y="2734056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谁能同时工作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57616" y="3337560"/>
            <a:ext cx="3218688" cy="1399032"/>
          </a:xfrm>
          <a:prstGeom prst="roundRect">
            <a:avLst>
              <a:gd name="adj" fmla="val 7843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3575304"/>
            <a:ext cx="28529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命令总线 / DQ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阵列 / 内部通道 / Host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57616" y="51480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像共用柜台、走廊与出口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代码：memory_mapping.py · _hbm_control.py · nand_core.py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共同入口：张量怎样变成一次访问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数据身份先绑定分配区间，真正派发任务时再提交给内存 Core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2350008"/>
            <a:ext cx="1956816" cy="722376"/>
          </a:xfrm>
          <a:prstGeom prst="roundRect">
            <a:avLst>
              <a:gd name="adj" fmla="val 1519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41401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 / Buffer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333756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权重、KV、激活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5184" y="2706624"/>
            <a:ext cx="210312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2350008"/>
            <a:ext cx="1956816" cy="722376"/>
          </a:xfrm>
          <a:prstGeom prst="roundRect">
            <a:avLst>
              <a:gd name="adj" fmla="val 1519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241401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Allocation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2072" y="333756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 与 generation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55464" y="2706624"/>
            <a:ext cx="210312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02352" y="2350008"/>
            <a:ext cx="1956816" cy="722376"/>
          </a:xfrm>
          <a:prstGeom prst="roundRect">
            <a:avLst>
              <a:gd name="adj" fmla="val 1519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41401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物理字节范围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02352" y="333756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+ offset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95744" y="2706624"/>
            <a:ext cx="210312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42632" y="2350008"/>
            <a:ext cx="1956816" cy="722376"/>
          </a:xfrm>
          <a:prstGeom prst="roundRect">
            <a:avLst>
              <a:gd name="adj" fmla="val 1519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241401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AccessRequest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42632" y="333756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操作、地址、字节、到达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36024" y="2706624"/>
            <a:ext cx="210312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82912" y="2350008"/>
            <a:ext cx="1956816" cy="722376"/>
          </a:xfrm>
          <a:prstGeom prst="roundRect">
            <a:avLst>
              <a:gd name="adj" fmla="val 1519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01784" y="241401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介质拆分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82912" y="333756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burst / HBF page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389120"/>
            <a:ext cx="6711696" cy="1335024"/>
          </a:xfrm>
          <a:prstGeom prst="roundRect">
            <a:avLst>
              <a:gd name="adj" fmla="val 8219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590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仓位比喻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" y="50749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货物编号 → 仓位起点 → 第几格 → 本次取多少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63256" y="4453128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访问范围与地址校验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763256" y="4965192"/>
            <a:ext cx="3648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访问不能越出 allocation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显式地址须与分配绑定一致，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并落在设备容量内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代码：planner.py · memory_allocator.py · data_motion.py · memory_mapping.py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HBM：从 Stack 寻址到 Burst Column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示例：16H、32 Gb Die 的 HBM4 标准参考组织；不是已知厂商器件配置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2148840"/>
            <a:ext cx="1929384" cy="685800"/>
          </a:xfrm>
          <a:prstGeom prst="roundRect">
            <a:avLst>
              <a:gd name="adj" fmla="val 16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212848"/>
            <a:ext cx="1691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9718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87752" y="2487168"/>
            <a:ext cx="237744" cy="0"/>
          </a:xfrm>
          <a:prstGeom prst="line">
            <a:avLst/>
          </a:prstGeom>
          <a:noFill/>
          <a:ln w="2286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148840"/>
            <a:ext cx="1929384" cy="685800"/>
          </a:xfrm>
          <a:prstGeom prst="roundRect">
            <a:avLst>
              <a:gd name="adj" fmla="val 16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212848"/>
            <a:ext cx="1691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29718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Stack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487168"/>
            <a:ext cx="237744" cy="0"/>
          </a:xfrm>
          <a:prstGeom prst="line">
            <a:avLst/>
          </a:prstGeom>
          <a:noFill/>
          <a:ln w="2286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38928" y="2148840"/>
            <a:ext cx="1929384" cy="685800"/>
          </a:xfrm>
          <a:prstGeom prst="roundRect">
            <a:avLst>
              <a:gd name="adj" fmla="val 16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212848"/>
            <a:ext cx="1691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8928" y="29718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Channel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04888" y="2487168"/>
            <a:ext cx="237744" cy="0"/>
          </a:xfrm>
          <a:prstGeom prst="line">
            <a:avLst/>
          </a:prstGeom>
          <a:noFill/>
          <a:ln w="2286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97496" y="2148840"/>
            <a:ext cx="1929384" cy="685800"/>
          </a:xfrm>
          <a:prstGeom prst="roundRect">
            <a:avLst>
              <a:gd name="adj" fmla="val 1600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2212848"/>
            <a:ext cx="1691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Group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97496" y="29718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PC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63456" y="2487168"/>
            <a:ext cx="237744" cy="0"/>
          </a:xfrm>
          <a:prstGeom prst="line">
            <a:avLst/>
          </a:prstGeom>
          <a:noFill/>
          <a:ln w="2286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56064" y="2148840"/>
            <a:ext cx="1929384" cy="685800"/>
          </a:xfrm>
          <a:prstGeom prst="roundRect">
            <a:avLst>
              <a:gd name="adj" fmla="val 1600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4936" y="2212848"/>
            <a:ext cx="1691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56064" y="29718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Group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" y="3767328"/>
            <a:ext cx="6784848" cy="1938528"/>
          </a:xfrm>
          <a:prstGeom prst="roundRect">
            <a:avLst>
              <a:gd name="adj" fmla="val 566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968496"/>
            <a:ext cx="6345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内部继续寻址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05256" y="4553712"/>
            <a:ext cx="2926080" cy="146304"/>
          </a:xfrm>
          <a:prstGeom prst="rect">
            <a:avLst>
              <a:gd name="adj" fmla="val 75000"/>
            </a:avLst>
          </a:prstGeom>
          <a:solidFill>
            <a:srgbClr val="CDDBD7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101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3677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253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6829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3405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9981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6557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31336" y="4553712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" y="4764024"/>
            <a:ext cx="2926080" cy="146304"/>
          </a:xfrm>
          <a:prstGeom prst="rect">
            <a:avLst>
              <a:gd name="adj" fmla="val 75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7101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3677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0253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6829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3405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9981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6557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31336" y="4764024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56" y="4974336"/>
            <a:ext cx="2926080" cy="146304"/>
          </a:xfrm>
          <a:prstGeom prst="rect">
            <a:avLst>
              <a:gd name="adj" fmla="val 75000"/>
            </a:avLst>
          </a:prstGeom>
          <a:solidFill>
            <a:srgbClr val="CDDBD7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7101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3677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0253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6829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3405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9981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6557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31336" y="4974336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5256" y="5184648"/>
            <a:ext cx="2926080" cy="146304"/>
          </a:xfrm>
          <a:prstGeom prst="rect">
            <a:avLst>
              <a:gd name="adj" fmla="val 75000"/>
            </a:avLst>
          </a:prstGeom>
          <a:solidFill>
            <a:srgbClr val="CDDBD7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7101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3677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0253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6829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3405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9981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6557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31336" y="5184648"/>
            <a:ext cx="0" cy="146304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69664" y="4700016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→ 32 B Burst Column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891272" y="3849624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容量不能重复乘 Die</a:t>
            </a:r>
            <a:endParaRPr lang="en-US" sz="2300" dirty="0"/>
          </a:p>
        </p:txBody>
      </p:sp>
      <p:sp>
        <p:nvSpPr>
          <p:cNvPr id="65" name="Text 63"/>
          <p:cNvSpPr/>
          <p:nvPr/>
        </p:nvSpPr>
        <p:spPr>
          <a:xfrm>
            <a:off x="7891272" y="4471416"/>
            <a:ext cx="3648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PC × 64 Bank × 16,384 Row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1,024 B = 64 GiB / Stack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7891272" y="5468112"/>
            <a:ext cx="3648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per_stack 几何已经包含 16H；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 是从 Bank 序号派生的标签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代码：hbm_geometry.py · memory_mapping.py · 测试 test_hbm_stack_geometry.py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HBM：两个 PC，共享命令、各走数据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以下按 jedec_hbm 模式说明；命令能否发出与数据通路是否空闲是两件事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6775704" cy="3822192"/>
          </a:xfrm>
          <a:prstGeom prst="roundRect">
            <a:avLst>
              <a:gd name="adj" fmla="val 2871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03704"/>
            <a:ext cx="6254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一个物理 Channel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50976" y="2852928"/>
            <a:ext cx="2761488" cy="932688"/>
          </a:xfrm>
          <a:prstGeom prst="roundRect">
            <a:avLst>
              <a:gd name="adj" fmla="val 11765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916936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Row CA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/ PRE / REF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33088" y="2852928"/>
            <a:ext cx="2761488" cy="932688"/>
          </a:xfrm>
          <a:prstGeom prst="roundRect">
            <a:avLst>
              <a:gd name="adj" fmla="val 11765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916936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Column CA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/ WR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4005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两类命令窗口都服务 PC0 与 PC1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0976" y="4535424"/>
            <a:ext cx="2761488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65429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PC0 · 各 Bank 状态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5056632"/>
            <a:ext cx="2468880" cy="393192"/>
          </a:xfrm>
          <a:prstGeom prst="roundRect">
            <a:avLst>
              <a:gd name="adj" fmla="val 27907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5120640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DQ 数据通路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33088" y="4535424"/>
            <a:ext cx="2761488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465429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PC1 · 各 Bank 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79392" y="5056632"/>
            <a:ext cx="2468880" cy="393192"/>
          </a:xfrm>
          <a:prstGeom prst="roundRect">
            <a:avLst>
              <a:gd name="adj" fmla="val 27907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5120640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DQ 数据通路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50976" y="56601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开行与时序状态、命令和 DQ 分开维护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18704" y="2185416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两个柜台窗口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18704" y="2816352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同一类命令共用窗口；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不能因为 PC 不同就同时发出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18704" y="3977640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两条传送带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918704" y="4608576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PC0 与 PC1 各有 DQ；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数据传输可以独立排期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代码：dram_core.py:98–102 · _hbm_control.py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HBM：同样是读，行状态会改变动作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比喻：已开的抽屉直接取；关着的先开；开错的先关再开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21854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行命中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目标激活页已打开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788920" y="2313432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2377440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813048" y="2624328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41648" y="2313432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377440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65776" y="2624328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94376" y="2313432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377440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792" y="3429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" y="38770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先打开目标激活页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2788920" y="3557016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3621024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813048" y="3867912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41648" y="3557016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621024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tRCD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65776" y="3867912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94376" y="3557016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3621024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18504" y="3867912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47104" y="3557016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3621024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571232" y="3867912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99832" y="3557016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18704" y="3621024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21792" y="4672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行冲突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1792" y="5120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先关闭旧页再打开新页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2788920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B15D22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3813048" y="5111496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41648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tRP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065776" y="5111496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294376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3248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318504" y="5111496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547104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5976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tRCD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7571232" y="5111496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799832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18704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823960" y="5111496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052560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71432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10076688" y="5111496"/>
            <a:ext cx="20116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305288" y="4800600"/>
            <a:ext cx="1005840" cy="612648"/>
          </a:xfrm>
          <a:prstGeom prst="roundRect">
            <a:avLst>
              <a:gd name="adj" fmla="val 1791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24160" y="4864608"/>
            <a:ext cx="768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示意不按时间比例；还受 tRAS / tRC、组间间隔、方向切换与可选刷新等约束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HBM：三次同地址读的时钟例子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代码测试：HBM3E 参考、512 GiB 可见容量、1,600 GB/s 接口预算；非实测时延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20824"/>
            <a:ext cx="2057400" cy="320040"/>
          </a:xfrm>
          <a:prstGeom prst="roundRect">
            <a:avLst>
              <a:gd name="adj" fmla="val 34286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36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tCK = 2.56 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80944" y="2020824"/>
            <a:ext cx="2057400" cy="320040"/>
          </a:xfrm>
          <a:prstGeom prst="roundRect">
            <a:avLst>
              <a:gd name="adj" fmla="val 34286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54096" y="20436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= 32 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21808" y="2020824"/>
            <a:ext cx="2057400" cy="320040"/>
          </a:xfrm>
          <a:prstGeom prst="roundRect">
            <a:avLst>
              <a:gd name="adj" fmla="val 34286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0436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tCCD = 4 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62672" y="2020824"/>
            <a:ext cx="2057400" cy="320040"/>
          </a:xfrm>
          <a:prstGeom prst="roundRect">
            <a:avLst>
              <a:gd name="adj" fmla="val 34286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35824" y="20436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Burst = 2 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57984" y="2834640"/>
            <a:ext cx="0" cy="2267712"/>
          </a:xfrm>
          <a:prstGeom prst="line">
            <a:avLst/>
          </a:prstGeom>
          <a:noFill/>
          <a:ln w="10160">
            <a:solidFill>
              <a:srgbClr val="CDDBD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002536" y="25511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68496" y="2834640"/>
            <a:ext cx="0" cy="2267712"/>
          </a:xfrm>
          <a:prstGeom prst="line">
            <a:avLst/>
          </a:prstGeom>
          <a:noFill/>
          <a:ln w="10160">
            <a:solidFill>
              <a:srgbClr val="CDDBD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813048" y="25511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2834640"/>
            <a:ext cx="0" cy="2267712"/>
          </a:xfrm>
          <a:prstGeom prst="line">
            <a:avLst/>
          </a:prstGeom>
          <a:noFill/>
          <a:ln w="10160">
            <a:solidFill>
              <a:srgbClr val="CDDBD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623560" y="25511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834640"/>
            <a:ext cx="0" cy="2267712"/>
          </a:xfrm>
          <a:prstGeom prst="line">
            <a:avLst/>
          </a:prstGeom>
          <a:noFill/>
          <a:ln w="10160">
            <a:solidFill>
              <a:srgbClr val="CDDBD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434072" y="25511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00032" y="2834640"/>
            <a:ext cx="0" cy="2267712"/>
          </a:xfrm>
          <a:prstGeom prst="line">
            <a:avLst/>
          </a:prstGeom>
          <a:noFill/>
          <a:ln w="10160">
            <a:solidFill>
              <a:srgbClr val="CDDBD7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244584" y="25511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210544" y="2834640"/>
            <a:ext cx="0" cy="2267712"/>
          </a:xfrm>
          <a:prstGeom prst="line">
            <a:avLst/>
          </a:prstGeom>
          <a:noFill/>
          <a:ln w="10160">
            <a:solidFill>
              <a:srgbClr val="CDDBD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1055096" y="25511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29416" y="25511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" y="302666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CA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57984" y="3374136"/>
            <a:ext cx="9052560" cy="0"/>
          </a:xfrm>
          <a:prstGeom prst="line">
            <a:avLst/>
          </a:prstGeom>
          <a:noFill/>
          <a:ln w="12700">
            <a:solidFill>
              <a:srgbClr val="CDDB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77647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CA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57984" y="4123944"/>
            <a:ext cx="9052560" cy="0"/>
          </a:xfrm>
          <a:prstGeom prst="line">
            <a:avLst/>
          </a:prstGeom>
          <a:noFill/>
          <a:ln w="12700">
            <a:solidFill>
              <a:srgbClr val="CDDB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52628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157984" y="4873752"/>
            <a:ext cx="9052560" cy="0"/>
          </a:xfrm>
          <a:prstGeom prst="line">
            <a:avLst/>
          </a:prstGeom>
          <a:noFill/>
          <a:ln w="12700">
            <a:solidFill>
              <a:srgbClr val="CDDB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57984" y="3063240"/>
            <a:ext cx="274320" cy="274320"/>
          </a:xfrm>
          <a:prstGeom prst="rect">
            <a:avLst>
              <a:gd name="adj" fmla="val 4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343814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@ 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425342" y="3794760"/>
            <a:ext cx="182880" cy="310896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7326" y="4206240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218981" y="4553712"/>
            <a:ext cx="362102" cy="310896"/>
          </a:xfrm>
          <a:prstGeom prst="rect">
            <a:avLst>
              <a:gd name="adj" fmla="val 35294"/>
            </a:avLst>
          </a:prstGeom>
          <a:solidFill>
            <a:srgbClr val="B15D22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18981" y="4590288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49547" y="3794760"/>
            <a:ext cx="182880" cy="310896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1531" y="4206240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RD2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943186" y="4553712"/>
            <a:ext cx="362102" cy="310896"/>
          </a:xfrm>
          <a:prstGeom prst="rect">
            <a:avLst>
              <a:gd name="adj" fmla="val 35294"/>
            </a:avLst>
          </a:prstGeom>
          <a:solidFill>
            <a:srgbClr val="B15D22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43186" y="4590288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73752" y="3794760"/>
            <a:ext cx="182880" cy="310896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45736" y="4206240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RD3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0667390" y="4553712"/>
            <a:ext cx="362102" cy="310896"/>
          </a:xfrm>
          <a:prstGeom prst="rect">
            <a:avLst>
              <a:gd name="adj" fmla="val 35294"/>
            </a:avLst>
          </a:prstGeom>
          <a:solidFill>
            <a:srgbClr val="B15D22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67390" y="4590288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8368" y="544068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RD：CK 7 / 11 / 15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325112" y="54406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DQ：39–41 / 43–45 / 47–49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58368" y="5852160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完成：104.96 / 115.20 / 125.44 ns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来源：tests/test_hbm_clock_arithmetic.py:16–38；ACT 后阵列时序锚点为 CK1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HBF：地址到页，资源分到阵列与通道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NAND 坐标完整保留；论文原生配置把实际 Die 映成 Core Channel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通用坐标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267712" y="2039112"/>
            <a:ext cx="9180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 → Target → Die → LUN → Plane → Block → Page → offset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2459736" cy="676656"/>
          </a:xfrm>
          <a:prstGeom prst="roundRect">
            <a:avLst>
              <a:gd name="adj" fmla="val 16216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175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分组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867912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个实际 Die / Stack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54680" y="3291840"/>
            <a:ext cx="274320" cy="0"/>
          </a:xfrm>
          <a:prstGeom prst="line">
            <a:avLst/>
          </a:prstGeom>
          <a:noFill/>
          <a:ln w="22860">
            <a:solidFill>
              <a:srgbClr val="B15D2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02152" y="2953512"/>
            <a:ext cx="2459736" cy="676656"/>
          </a:xfrm>
          <a:prstGeom prst="roundRect">
            <a:avLst>
              <a:gd name="adj" fmla="val 16216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30175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 Die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02152" y="3867912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Core Channel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16752" y="3291840"/>
            <a:ext cx="274320" cy="0"/>
          </a:xfrm>
          <a:prstGeom prst="line">
            <a:avLst/>
          </a:prstGeom>
          <a:noFill/>
          <a:ln w="22860">
            <a:solidFill>
              <a:srgbClr val="B15D2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64224" y="2953512"/>
            <a:ext cx="2459736" cy="676656"/>
          </a:xfrm>
          <a:prstGeom prst="roundRect">
            <a:avLst>
              <a:gd name="adj" fmla="val 16216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30175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3867912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个独立阵列 / Die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78824" y="3291840"/>
            <a:ext cx="274320" cy="0"/>
          </a:xfrm>
          <a:prstGeom prst="line">
            <a:avLst/>
          </a:prstGeom>
          <a:noFill/>
          <a:ln w="22860">
            <a:solidFill>
              <a:srgbClr val="B15D2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26296" y="2953512"/>
            <a:ext cx="2459736" cy="676656"/>
          </a:xfrm>
          <a:prstGeom prst="roundRect">
            <a:avLst>
              <a:gd name="adj" fmla="val 16216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30175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 → Page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26296" y="3867912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擦除单位 → 4 KiB 页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837176"/>
            <a:ext cx="6446520" cy="1078992"/>
          </a:xfrm>
          <a:prstGeom prst="roundRect">
            <a:avLst>
              <a:gd name="adj" fmla="val 10169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010912"/>
            <a:ext cx="6007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同一实际 Die 的 Plane 共享内部传输通道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59536" y="5486400"/>
            <a:ext cx="6007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Plane 阵列独立 ≠ 内部通道与 Host 出口独立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52944" y="48828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HBF 示例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552944" y="5431536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每堆 16 × 25 = 400 个阵列单元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/ Core Die / LUN 各取 1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代码：memory_mapping.py:124–161 · scripts/exploring_hbf_paper_config.py:272–342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HBF：冷读与命中走不同的路径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整箱拆零：冷读先取回一整页，命中后可复用已取回的页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冷读 / Miss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148840"/>
            <a:ext cx="1883664" cy="685800"/>
          </a:xfrm>
          <a:prstGeom prst="roundRect">
            <a:avLst>
              <a:gd name="adj" fmla="val 16000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2212848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0" y="3054096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 outstanding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487168"/>
            <a:ext cx="246888" cy="0"/>
          </a:xfrm>
          <a:prstGeom prst="line">
            <a:avLst/>
          </a:prstGeom>
          <a:noFill/>
          <a:ln w="22860">
            <a:solidFill>
              <a:srgbClr val="B15D2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83480" y="2148840"/>
            <a:ext cx="1883664" cy="685800"/>
          </a:xfrm>
          <a:prstGeom prst="roundRect">
            <a:avLst>
              <a:gd name="adj" fmla="val 16000"/>
            </a:avLst>
          </a:prstGeom>
          <a:solidFill>
            <a:srgbClr val="B15D22"/>
          </a:solidFill>
          <a:ln w="10160">
            <a:solidFill>
              <a:srgbClr val="B15D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2212848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PAGE_READ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83480" y="3054096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Plane 阵列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2487168"/>
            <a:ext cx="246888" cy="0"/>
          </a:xfrm>
          <a:prstGeom prst="line">
            <a:avLst/>
          </a:prstGeom>
          <a:noFill/>
          <a:ln w="22860">
            <a:solidFill>
              <a:srgbClr val="B15D2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2148840"/>
            <a:ext cx="1883664" cy="685800"/>
          </a:xfrm>
          <a:prstGeom prst="roundRect">
            <a:avLst>
              <a:gd name="adj" fmla="val 16000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2212848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23760" y="3054096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共享内部通道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2487168"/>
            <a:ext cx="246888" cy="0"/>
          </a:xfrm>
          <a:prstGeom prst="line">
            <a:avLst/>
          </a:prstGeom>
          <a:noFill/>
          <a:ln w="22860">
            <a:solidFill>
              <a:srgbClr val="B15D2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2148840"/>
            <a:ext cx="1883664" cy="685800"/>
          </a:xfrm>
          <a:prstGeom prst="roundRect">
            <a:avLst>
              <a:gd name="adj" fmla="val 16000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2912" y="2212848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64040" y="3054096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主机传输日历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14216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 / Hit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743200" y="4096512"/>
            <a:ext cx="4123944" cy="685800"/>
          </a:xfrm>
          <a:prstGeom prst="roundRect">
            <a:avLst>
              <a:gd name="adj" fmla="val 16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4160520"/>
            <a:ext cx="3886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缓存页已就绪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022592" y="4443984"/>
            <a:ext cx="384048" cy="0"/>
          </a:xfrm>
          <a:prstGeom prst="line">
            <a:avLst/>
          </a:prstGeom>
          <a:noFill/>
          <a:ln w="2286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07808" y="4096512"/>
            <a:ext cx="1883664" cy="685800"/>
          </a:xfrm>
          <a:prstGeom prst="roundRect">
            <a:avLst>
              <a:gd name="adj" fmla="val 16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4160520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43200" y="5120640"/>
            <a:ext cx="8814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命中仍需等待缓存页就绪与 Host 资源；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缓存替换另受未完成读者约束，避免过早覆盖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代码：nand_core.py:1800–1955 · memory_mapping.py:240–257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HBF：双页缓存与中间 SRAM 是两种模型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一个管理媒体页的复用与覆盖时机；另一个承接显式工作区访问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66544"/>
            <a:ext cx="5751576" cy="3858768"/>
          </a:xfrm>
          <a:prstGeom prst="roundRect">
            <a:avLst>
              <a:gd name="adj" fmla="val 2844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95144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每阵列的两个读缓存槽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41832" y="3035808"/>
            <a:ext cx="237744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3099816"/>
            <a:ext cx="21396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" y="39593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tag · ready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reader_end · LRU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84448" y="3035808"/>
            <a:ext cx="237744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3099816"/>
            <a:ext cx="21396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84448" y="39593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tag · ready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reader_end · LRU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1832" y="5148072"/>
            <a:ext cx="5047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覆盖前必须保护仍在读的页；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两槽支持流水，但不会消除共享通道瓶颈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60320"/>
            <a:ext cx="2377440" cy="1042416"/>
          </a:xfrm>
          <a:prstGeom prst="roundRect">
            <a:avLst>
              <a:gd name="adj" fmla="val 10526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8976" y="271576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96144" y="271576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8976" y="295960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6144" y="295960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8976" y="320344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96144" y="320344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8976" y="344728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6144" y="3447288"/>
            <a:ext cx="109728" cy="0"/>
          </a:xfrm>
          <a:prstGeom prst="line">
            <a:avLst/>
          </a:prstGeom>
          <a:noFill/>
          <a:ln w="31750">
            <a:solidFill>
              <a:srgbClr val="087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68833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SramCore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68312" y="3959352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独立中间 SRAM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68312" y="4663440"/>
            <a:ext cx="4105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显式容量、端口与带宽访问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allocator 管理工作区生命周期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代码：nand_core.py:641–676 · sram_core.py · scripts/exploring_hbf_paper_config.py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HBF：媒体写入与可选管理层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写完成的含义，取决于协议模式和是否启用 HOST 暂存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NAND 核心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9944" y="20848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OCP + HOST 暂存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1490472" cy="612648"/>
          </a:xfrm>
          <a:prstGeom prst="roundRect">
            <a:avLst>
              <a:gd name="adj" fmla="val 17910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834640"/>
            <a:ext cx="1252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小写入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31136" y="3081528"/>
            <a:ext cx="292608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33472" y="2770632"/>
            <a:ext cx="2103120" cy="612648"/>
          </a:xfrm>
          <a:prstGeom prst="roundRect">
            <a:avLst>
              <a:gd name="adj" fmla="val 17910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2834640"/>
            <a:ext cx="1865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RMW 或拒绝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3776472"/>
            <a:ext cx="5221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write_buffer：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部分页写按配置补读旧页再 Program，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或直接拒绝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12978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write_buffer：有限容量、页合并；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到达可先确认，媒体随后 drain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9944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57416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4888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9832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7304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4776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42248" y="2825496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888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99832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47304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94776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42248" y="3081528"/>
            <a:ext cx="274320" cy="182880"/>
          </a:xfrm>
          <a:prstGeom prst="rect">
            <a:avLst>
              <a:gd name="adj" fmla="val 60000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0616" y="285292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× 256 B = 4 KiB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9944" y="379476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3858768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页合并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95360" y="4123944"/>
            <a:ext cx="283464" cy="0"/>
          </a:xfrm>
          <a:prstGeom prst="line">
            <a:avLst/>
          </a:prstGeom>
          <a:noFill/>
          <a:ln w="22860">
            <a:solidFill>
              <a:srgbClr val="087F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25128" y="3794760"/>
            <a:ext cx="2496312" cy="658368"/>
          </a:xfrm>
          <a:prstGeom prst="roundRect">
            <a:avLst>
              <a:gd name="adj" fmla="val 16667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3858768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 Program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9944" y="4828032"/>
            <a:ext cx="5120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上层小型日志式 FTL：异地更新、映射、GC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核心普通写必须整页，完成到媒体；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不能借用 generic 的提前确认语义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代码：nand_core.py · hbf_staging.py · hbf_staging_runtime.py · 测试 test_hbf_staging.py:303–319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跨设备搬运与算子完成时间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媒体服务结果回到任务图，计算、链路与内存的重叠由模型和依赖决定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130552" cy="676656"/>
          </a:xfrm>
          <a:prstGeom prst="roundRect">
            <a:avLst>
              <a:gd name="adj" fmla="val 16216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12848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源端访问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35224" y="2487168"/>
            <a:ext cx="539496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66744" y="2148840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221284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 / Fabric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1344" y="2487168"/>
            <a:ext cx="539496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12864" y="2148840"/>
            <a:ext cx="2340864" cy="676656"/>
          </a:xfrm>
          <a:prstGeom prst="roundRect">
            <a:avLst>
              <a:gd name="adj" fmla="val 16216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1736" y="2212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目的端访问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10945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具体任务路径决定串行、分块或流水关系；每个 owner 保留自己的日历与计费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4471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kernel 的服务包络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其他资源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86584" y="4608576"/>
            <a:ext cx="3758184" cy="283464"/>
          </a:xfrm>
          <a:prstGeom prst="rect">
            <a:avLst>
              <a:gd name="adj" fmla="val 38710"/>
            </a:avLst>
          </a:prstGeom>
          <a:solidFill>
            <a:srgbClr val="CDDBD7"/>
          </a:solidFill>
          <a:ln w="10160">
            <a:solidFill>
              <a:srgbClr val="CDD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1208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Core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86584" y="5202936"/>
            <a:ext cx="4928616" cy="283464"/>
          </a:xfrm>
          <a:prstGeom prst="rect">
            <a:avLst>
              <a:gd name="adj" fmla="val 38710"/>
            </a:avLst>
          </a:prstGeom>
          <a:solidFill>
            <a:srgbClr val="087F6B"/>
          </a:solidFill>
          <a:ln w="10160">
            <a:solidFill>
              <a:srgbClr val="087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4553712"/>
            <a:ext cx="0" cy="1051560"/>
          </a:xfrm>
          <a:prstGeom prst="line">
            <a:avLst/>
          </a:prstGeom>
          <a:noFill/>
          <a:ln w="17780">
            <a:solidFill>
              <a:srgbClr val="087F6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580376" y="4846320"/>
            <a:ext cx="2112264" cy="512064"/>
          </a:xfrm>
          <a:prstGeom prst="roundRect">
            <a:avLst>
              <a:gd name="adj" fmla="val 21429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49103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dependency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902952" y="5102352"/>
            <a:ext cx="411480" cy="0"/>
          </a:xfrm>
          <a:prstGeom prst="line">
            <a:avLst/>
          </a:prstGeom>
          <a:noFill/>
          <a:ln w="22860">
            <a:solidFill>
              <a:srgbClr val="5E707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479024" y="491947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0080" y="5797296"/>
            <a:ext cx="1092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Tkernel = max（其他资源跨度，内存 Core 跨度）+ dependency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公式适用于代码中的 native kernel envelope；不是所有搬运阶段的通用公式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B 读请求，为什么可能触发 4 KiB 页读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固定示例：HBM 为 32 B burst；HBF 为 strict OCP 4 KiB 页、64 B Host 粒度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5528" y="20756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访问条件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92424" y="207568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 / 内部动作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9792" y="20756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接口有效传输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908792" cy="758952"/>
          </a:xfrm>
          <a:prstGeom prst="roundRect">
            <a:avLst>
              <a:gd name="adj" fmla="val 14458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788920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· 对齐 64 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01568" y="2788920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32 B DQ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07224" y="2788920"/>
            <a:ext cx="1591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639312"/>
            <a:ext cx="10908792" cy="758952"/>
          </a:xfrm>
          <a:prstGeom prst="roundRect">
            <a:avLst>
              <a:gd name="adj" fmla="val 14458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776472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 · 冷缓存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01568" y="3776472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KiB 阵列页 + 内部搬运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07224" y="3776472"/>
            <a:ext cx="1591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B Host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908792" cy="758952"/>
          </a:xfrm>
          <a:prstGeom prst="roundRect">
            <a:avLst>
              <a:gd name="adj" fmla="val 14458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764024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 · 已就绪命中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01568" y="4764024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跳过阵列读与内部搬运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07224" y="4764024"/>
            <a:ext cx="1591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B Host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" y="548640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64×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432304" y="5632704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只比较冷读的媒体页容量与有效载荷；不是延迟倍数，也不是 Host 传输倍数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代码：memory_mapping.py:173–188,240–257 · nand_core.py:1898–1955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怎样把访存影响读成系统性能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transaction 的延迟先影响关键路径，再影响 Token；它不直接等于 TPOT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384048" cy="384048"/>
          </a:xfrm>
          <a:prstGeom prst="ellipse">
            <a:avLst/>
          </a:prstGeom>
          <a:solidFill>
            <a:srgbClr val="192A2B"/>
          </a:solidFill>
          <a:ln w="12700">
            <a:solidFill>
              <a:srgbClr val="192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1226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字节账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916936"/>
            <a:ext cx="3236976" cy="2240280"/>
          </a:xfrm>
          <a:prstGeom prst="roundRect">
            <a:avLst>
              <a:gd name="adj" fmla="val 4898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82112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要多少 / 搬多少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Logical bytes：应用有效载荷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59943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Physical：按 burst / page 计费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121408"/>
            <a:ext cx="384048" cy="384048"/>
          </a:xfrm>
          <a:prstGeom prst="ellipse">
            <a:avLst/>
          </a:prstGeom>
          <a:solidFill>
            <a:srgbClr val="192A2B"/>
          </a:solidFill>
          <a:ln w="12700">
            <a:solidFill>
              <a:srgbClr val="192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11226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时间账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480560" y="2916936"/>
            <a:ext cx="3236976" cy="2240280"/>
          </a:xfrm>
          <a:prstGeom prst="roundRect">
            <a:avLst>
              <a:gd name="adj" fmla="val 4898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182112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跨度 / 忙时 / 总耗时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4023360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service_ns：任务 / owner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完成跨度之和（可重叠）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459943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busy：资源实际占用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makespan：总跨度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21040" y="2121408"/>
            <a:ext cx="384048" cy="384048"/>
          </a:xfrm>
          <a:prstGeom prst="ellipse">
            <a:avLst/>
          </a:prstGeom>
          <a:solidFill>
            <a:srgbClr val="192A2B"/>
          </a:solidFill>
          <a:ln w="12700">
            <a:solidFill>
              <a:srgbClr val="192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0" y="211226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账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321040" y="2916936"/>
            <a:ext cx="3236976" cy="2240280"/>
          </a:xfrm>
          <a:prstGeom prst="roundRect">
            <a:avLst>
              <a:gd name="adj" fmla="val 4898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182112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 / TPOT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03920" y="4023360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 Token 时间与后续提交时刻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459943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TPOT 由可见 Token 间隔计算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" y="559612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TPOT =（末个 Token 时间 − 首个 Token 时间）/（可见 Token 数 − 1）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代码：memory_service.py:26–84 · memory_types.py:890–916 · serving.py:17035–17039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模型精度、执行加速、采样预测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这三种开关改变的东西不同，解读结果时必须分开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2037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75888" y="2112264"/>
            <a:ext cx="3758184" cy="950976"/>
          </a:xfrm>
          <a:prstGeom prst="roundRect">
            <a:avLst>
              <a:gd name="adj" fmla="val 11538"/>
            </a:avLst>
          </a:prstGeom>
          <a:solidFill>
            <a:srgbClr val="F1F5F4"/>
          </a:solidFill>
          <a:ln w="10160">
            <a:solidFill>
              <a:srgbClr val="F1F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2249424"/>
            <a:ext cx="33924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analytical / jedec_hbm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 generic / strict OCP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9560" y="2249424"/>
            <a:ext cx="3602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改变状态、命令、约束与完成点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38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同模型执行加速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75888" y="3346704"/>
            <a:ext cx="3758184" cy="950976"/>
          </a:xfrm>
          <a:prstGeom prst="roundRect">
            <a:avLst>
              <a:gd name="adj" fmla="val 11538"/>
            </a:avLst>
          </a:prstGeom>
          <a:solidFill>
            <a:srgbClr val="DDF2EB"/>
          </a:solidFill>
          <a:ln w="10160">
            <a:solidFill>
              <a:srgbClr val="DDF2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3483864"/>
            <a:ext cx="33924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少记明细、数值 / 编译路径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可证明分支的 max-plus 跳步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09560" y="3483864"/>
            <a:ext cx="3602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保留该模型的资源竞争与状态转移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B15D22"/>
          </a:solidFill>
          <a:ln w="12700">
            <a:solidFill>
              <a:srgbClr val="B15D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67258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采样与预测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675888" y="4581144"/>
            <a:ext cx="3758184" cy="950976"/>
          </a:xfrm>
          <a:prstGeom prst="roundRect">
            <a:avLst>
              <a:gd name="adj" fmla="val 11538"/>
            </a:avLst>
          </a:prstGeom>
          <a:solidFill>
            <a:srgbClr val="FBEBDC"/>
          </a:solidFill>
          <a:ln w="10160">
            <a:solidFill>
              <a:srgbClr val="FBEB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4718304"/>
            <a:ext cx="33924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选中层独立副本执行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window / stationary 预测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4718304"/>
            <a:ext cx="3602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预测窗口不推进全部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物理日历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代码：dram_core.py · _compiled_nand.py · _nand_acceleration.py · native_*sampling / fast_window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已实现的建模深度与边界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准确名称：有状态、物理地址驱动的事务 / 命令与资源时序仿真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75688"/>
          <a:ext cx="10908792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4599432"/>
                <a:gridCol w="479145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地址与组织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Stack / Channel / PC / Bank / Row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Channel / LUN / Plane / Block / Page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状态与时序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正常操作命令子集、开行、方向与刷新约束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页读 / Program / Erase；可配置读缓存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可选管理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简化 analytical 或 jedec_hbm；有限请求调度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92A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generic write buffer；strict OCP HOST FTL / GC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E707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未覆盖 / 不宣称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E707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 JEDEC、厂商映射、训练与电路行为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E707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 AXI、ECC / retention 与 cell 内容行为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8368" y="58521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15D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机制已经实现 ≠ 参数已对目标芯片校准；研究假设、标准参考与实测证据应分别说明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代码：hbm_geometry.py:379–391 · nand_core.py:353–362 · hbf_staging.py:476–526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8E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理解这个仿真器的三个抓手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DD2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先找到数据位置，再看介质动作，最后看谁在等待谁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D2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475488" cy="475488"/>
          </a:xfrm>
          <a:prstGeom prst="ellipse">
            <a:avLst/>
          </a:prstGeom>
          <a:solidFill>
            <a:srgbClr val="88E0BF"/>
          </a:solidFill>
          <a:ln w="12700">
            <a:solidFill>
              <a:srgbClr val="88E0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090672"/>
            <a:ext cx="3191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3191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E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地址层级告诉你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CE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数据落在哪个物理单元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986784" y="2221992"/>
            <a:ext cx="0" cy="2898648"/>
          </a:xfrm>
          <a:prstGeom prst="line">
            <a:avLst/>
          </a:prstGeom>
          <a:noFill/>
          <a:ln w="12700">
            <a:solidFill>
              <a:srgbClr val="49615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498848" y="2240280"/>
            <a:ext cx="475488" cy="475488"/>
          </a:xfrm>
          <a:prstGeom prst="ellipse">
            <a:avLst/>
          </a:prstGeom>
          <a:solidFill>
            <a:srgbClr val="F7BE80"/>
          </a:solidFill>
          <a:ln w="12700">
            <a:solidFill>
              <a:srgbClr val="F7B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3090672"/>
            <a:ext cx="3191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98848" y="3977640"/>
            <a:ext cx="3191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E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看开行与命令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CE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 看页、缓存与编程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27264" y="2221992"/>
            <a:ext cx="0" cy="2898648"/>
          </a:xfrm>
          <a:prstGeom prst="line">
            <a:avLst/>
          </a:prstGeom>
          <a:noFill/>
          <a:ln w="12700">
            <a:solidFill>
              <a:srgbClr val="49615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339328" y="2240280"/>
            <a:ext cx="475488" cy="475488"/>
          </a:xfrm>
          <a:prstGeom prst="ellipse">
            <a:avLst/>
          </a:prstGeom>
          <a:solidFill>
            <a:srgbClr val="88E0BF"/>
          </a:solidFill>
          <a:ln w="12700">
            <a:solidFill>
              <a:srgbClr val="88E0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3090672"/>
            <a:ext cx="31912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39328" y="3977640"/>
            <a:ext cx="3191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E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共享总线与任务依赖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CE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共同决定完成时间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58368" y="5468112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像按抽屉取物；HBF 像整箱拆零。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仿真器真正计算的是：这些动作如何占用资源，并推迟后续任务。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FC8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阅读每次实验结果时，同时确认：物理配置、协议模式、是否采用采样预测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· 建模层级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附录：按问题阅读代码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3560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每页讲稿备注还包含对应文件和行号，可用于继续核对细节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1088" y="62179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2112264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定义哪些层级？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69664" y="2103120"/>
            <a:ext cx="4919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memory_types.py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hbm_geometry.py / _hbm_dependencies.py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45168" y="2185416"/>
            <a:ext cx="2176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配置与标准组织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3099816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306324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地址怎样落到资源？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69664" y="3054096"/>
            <a:ext cx="4919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memory_mapping.py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memory_allocator.py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45168" y="3136392"/>
            <a:ext cx="2176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映射、拆分与分配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4050792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4014216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访问怎样完成？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69664" y="4005072"/>
            <a:ext cx="4919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dram_core.py / _hbm_control.py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nand_core.py / hbf_staging.py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45168" y="4087368"/>
            <a:ext cx="2176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状态、时序与管理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01768"/>
            <a:ext cx="384048" cy="384048"/>
          </a:xfrm>
          <a:prstGeom prst="ellipse">
            <a:avLst/>
          </a:prstGeom>
          <a:solidFill>
            <a:srgbClr val="087F6B"/>
          </a:solidFill>
          <a:ln w="12700">
            <a:solidFill>
              <a:srgbClr val="087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25296" y="4965192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怎样影响 Token？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69664" y="4956048"/>
            <a:ext cx="4919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data_motion.py / event_kernel.py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87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memory_service.py / serving.py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45168" y="5038344"/>
            <a:ext cx="2176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回写、依赖与指标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5879592"/>
            <a:ext cx="10899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数值例来源：test_hbm_clock_arithmetic.py · test_hbm_stack_geometry.py · test_hbf_staging.py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566928" y="62179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E7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以上文件位于 src/heterollm_sim；测试位于 tests；论文配置入口位于 scripts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HeteroLLM-Sim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HBM 与 HBF：仿真器究竟模拟到哪一层</dc:title>
  <dc:subject>当前工作区 HBM / HBF 建模层级、资源与精度边界</dc:subject>
  <dc:creator>HeteroLLM-Sim</dc:creator>
  <cp:lastModifiedBy>HeteroLLM-Sim</cp:lastModifiedBy>
  <cp:revision>1</cp:revision>
  <dcterms:created xsi:type="dcterms:W3CDTF">2026-10-26T15:32:29Z</dcterms:created>
  <dcterms:modified xsi:type="dcterms:W3CDTF">2026-10-26T15:32:29Z</dcterms:modified>
</cp:coreProperties>
</file>