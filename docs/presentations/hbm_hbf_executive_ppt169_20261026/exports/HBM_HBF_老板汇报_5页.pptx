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可以先把两种存储理解为两种取货方式。HBM 的一个 bank 像柜子，row 像抽屉；柜子同时保持一行打开，读请求在该行中按小块传数据。HBF 的一页像整箱物品，读取先付整页的介质服务，再通过内部通道搬到临时读缓冲，最后送到出口。每个 plane 有两个读缓冲槽，类似两个临时装卸位。这里的柜子和货架只是帮助理解，图中大小和数量不表示实际容量或速度。</a:t>
            </a:r>
          </a:p>
          <a:p>
            <a:pPr/>
            <a:endParaRPr lang="zh-CN" dirty="0"/>
          </a:p>
          <a:p>
            <a:pPr/>
            <a:r>
              <a:rPr lang="zh-CN" dirty="0"/>
              <a:t>仿真过程先由模型、批量、上下文、精度和并行配置确定权重、KV 与激活的访问需求，再结合放置和分配器得到 owner、字节数和地址。物理 Core 在任务实际到达时计算服务与资源等待，完成事件推进后继任务，最终影响 Token 吞吐与延迟。因此，地址决定去哪个资源，状态和竞争决定何时完成。源码入口为 src/heterollm_sim/planner.py:8975、16306、19067，data_motion.py:1151、1330–1496，memory_mapping.py:172、212。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HBM 的关键不是只知道传了多少字节，还要知道目标行是否已经打开。本项目的 jedec_hbm 路径把请求拆成三十二字节 burst，再按地址映射到 channel、pseudo-channel，也就是 PC，以及 bank 和 row。行命中时直接发 RD，经过读流水延迟 RL，再进行 DQ 数据传输。bank 关闭时，要先 ACT 开行，等待 tRCD，再读。行冲突时，先 PRE 关闭旧行，等 tRP，再 ACT 打开新行，因此多付开关行和等待成本。图只表示顺序，不按时间比例，也省略 ACT 在具体时钟边沿上的精细锚点。</a:t>
            </a:r>
          </a:p>
          <a:p>
            <a:pPr/>
            <a:endParaRPr lang="zh-CN" dirty="0"/>
          </a:p>
          <a:p>
            <a:pPr/>
            <a:r>
              <a:rPr lang="zh-CN" dirty="0"/>
              <a:t>这些命令还需要满足 tCCD 列间隔、tRRD 与四激活窗口 tFAW、读写方向切换和刷新约束，写对应 WR 与 WL。请求完成取所有 burst 数据结束时间最大值，完整延迟含到达之后的等待。analytical 是另一种简化模式，不应把本页当成所有模式共同的精度承诺。源码是 src/heterollm_sim/memory_mapping.py:18、47、172，_hbm_control.py:121、145、183、206、279、490、547、584，以及 dram_core.py:90、483。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论文原生 HBF 例子每堆十六个 die，每 die 二十五个 plane，四 KiB 页。连续页先条带到 die 内部通道，再轮到不同 plane，几何决定可并行的阵列资源。把未命中读分成三步看：先从页阵列读一整页，数据留在该 plane 的介质暂存；再占用 die 内部通道，将页搬到选中的读缓存槽；最后通过 host 出口送给请求方。介质暂存和两个读缓存槽是不同层次，不能合并。图中棕橙主线表示新页 B 的路径，灰色虚线表示已有页 A 命中时从缓存槽出发的旁路；这是路径示意，不是同一瞬间的硬件快照。</a:t>
            </a:r>
          </a:p>
          <a:p>
            <a:pPr/>
            <a:endParaRPr lang="zh-CN" dirty="0"/>
          </a:p>
          <a:p>
            <a:pPr/>
            <a:r>
              <a:rPr lang="zh-CN" dirty="0"/>
              <a:t>每槽记录页标识、ready 和 reader_end。填充完成前不能读取，旧读者结束前不能覆盖。缓存命中绕过阵列读取和内部填充，但仍需等 ready 和出口资源，不代表立即返回。写操作单独走 host、内部传输、program，program 结束才算完成；部分页写按配置拒绝或另付读改写成本。本例读一微秒、program 一百微秒是配置输入，本次没有新增性能测量。当前基线为 generic_nand，直接地址页服务，无默认 FTL、垃圾回收或自动擦除，也没有自主预测预取控制器。源码为 scripts/exploring_hbf_paper_config.py:153、272–342，src/heterollm_sim/memory_mapping.py:124、212，nand_core.py:647、666、1861、1900–1982。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时间线的前提是 generic_nand 读服务：A 和 B 是映射到同一 plane 的两个不同未命中页，请求已准入，没有写暂存覆盖，两个读槽初始为空。灰色代表 A，棕橙代表 B。每页先阵列读取，再内部填槽，最后 host 输出，这是实线连接的同页依赖。虚线强调另一条约束：A 的内部搬运结束、介质暂存释放后，才允许同 plane 的 B 开始阵列读。因此，读 B 不能与填 A 重叠，但可以与输出 A 重叠。B 用另一个槽，所以填 B 也可与输出 A 重叠。</a:t>
            </a:r>
          </a:p>
          <a:p>
            <a:pPr/>
            <a:endParaRPr lang="zh-CN" dirty="0"/>
          </a:p>
          <a:p>
            <a:pPr/>
            <a:r>
              <a:rPr lang="zh-CN" dirty="0"/>
              <a:t>同一内部通道和同一 host 读出口都不能同时服务两次传输，输出 B 必须等自身填充结束并等 host 空闲。图中的下方括线表示出口 A/B 不能重叠。若下一页需要覆盖槽 A，新的内部填槽还必须等槽 A 的最晚旧读者结束；阵列读本身可以先结束，数据在介质暂存中等候，这段等待也会阻止同 plane 再读下一页。host 输出结束不会自动清空缓存页，只解除覆盖约束，所以该页以后仍可能命中。图的长短没有数值比例，也不保证理想流水。源码为 src/heterollm_sim/nand_core.py:1817–1819、1901–1956、647–665，以及 memory_transfer.py:263–335。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模型除了给 Token 指标，还保留能解释性能的物理观测。HBM 有行命中、冲突和 ACT、PRE、RD、WR、REF 命令；HBF 有缓存命中、实际读页和 program。两者输出完成时间、逻辑和物理字节、队列等待和各资源 busy。任务依赖再把这些结果连接到 Token 吞吐、首 Token 延迟 TTFT 和平均输出间隔 TPOT。TPOT 等于首末可见 Token 之间的时间除以输出数量减一，属于平均值。比较配置要固定负载并保持统计边界一致，不能把访问模式变化误认为介质本身性能变化。</a:t>
            </a:r>
          </a:p>
          <a:p>
            <a:pPr/>
            <a:endParaRPr lang="zh-CN" dirty="0"/>
          </a:p>
          <a:p>
            <a:pPr/>
            <a:r>
              <a:rPr lang="zh-CN" dirty="0"/>
              <a:t>三个时间口径必须分开：service_ns 累加任务和 owner 的服务跨度，跨度可能重叠；resource_totals 描述资源忙碌；makespan 是整体完成窗口。它们不能互相替代。配置还区分标准参考、论文输入和本地研究假设。例如论文原生 HBM4 的 tRRD 与 tFAW 借用 HBM3E 参考；NAND 的块几何、erase、内部带宽等含显式本地选择。因此结果可用于机制分析和配置比较，尚未经目标芯片实测校准。源码是 src/heterollm_sim/memory_types.py:899、911，memory_service.py:26–84，reporting.py:632、2113、2174–2246，以及 scripts/exploring_hbf_paper_config.py:207–258。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bm_hbf_executiv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bm_hbf_executiv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f8716adc895bce8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8474347" cy="1421511"/>
            <a:chOff x="515874" y="311468"/>
            <a:chExt cx="8474347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2830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01 总流程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847434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像管理两种仓库一样，建模 HBM / HBF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76335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把 LLM 访问落实到字节与地址，再按介质规则计算服务与排队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71750" y="1762125"/>
            <a:ext cx="7048500" cy="3524250"/>
            <a:chOff x="2571750" y="1762125"/>
            <a:chExt cx="7048500" cy="352425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71750" y="1762125"/>
              <a:ext cx="7048500" cy="35242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20446" y="2372678"/>
            <a:ext cx="1437132" cy="2296287"/>
            <a:chOff x="520446" y="2372678"/>
            <a:chExt cx="1437132" cy="2296287"/>
          </a:xfrm>
        </p:grpSpPr>
        <p:sp>
          <p:nvSpPr>
            <p:cNvPr id="8" name="TextBox 8"/>
            <p:cNvSpPr txBox="1"/>
            <p:nvPr/>
          </p:nvSpPr>
          <p:spPr>
            <a:xfrm>
              <a:off x="520446" y="2372678"/>
              <a:ext cx="7304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HBM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2732" y="28784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按行打开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2732" y="33070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按小块传输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5018" y="3974782"/>
              <a:ext cx="12384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bank 像柜子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5018" y="4346258"/>
              <a:ext cx="11606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row 像抽屉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97796" y="2372678"/>
            <a:ext cx="1576197" cy="2296287"/>
            <a:chOff x="9797796" y="2372678"/>
            <a:chExt cx="1576197" cy="2296287"/>
          </a:xfrm>
        </p:grpSpPr>
        <p:sp>
          <p:nvSpPr>
            <p:cNvPr id="14" name="TextBox 14"/>
            <p:cNvSpPr txBox="1"/>
            <p:nvPr/>
          </p:nvSpPr>
          <p:spPr>
            <a:xfrm>
              <a:off x="9797796" y="2372678"/>
              <a:ext cx="6543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HBF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00082" y="28784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整页读取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00082" y="33070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两槽暂存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02368" y="3974782"/>
              <a:ext cx="12384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page 像整箱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02368" y="434625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读缓冲像装卸位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5387340"/>
            <a:ext cx="11125200" cy="1013460"/>
            <a:chOff x="533400" y="5387340"/>
            <a:chExt cx="11125200" cy="1013460"/>
          </a:xfrm>
        </p:grpSpPr>
        <p:sp>
          <p:nvSpPr>
            <p:cNvPr id="20" name="TextBox 20"/>
            <p:cNvSpPr txBox="1"/>
            <p:nvPr/>
          </p:nvSpPr>
          <p:spPr>
            <a:xfrm>
              <a:off x="2936748" y="538734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共同原则：地址决定去哪里，状态与资源竞争决定何时完成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838825"/>
              <a:ext cx="11125200" cy="5619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32665" y="5983605"/>
              <a:ext cx="81266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负载与配置　→　字节 / 地址　→　介质 + 排队　→　Token 指标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527304" y="6566535"/>
              <a:ext cx="48046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概念比喻，非芯片实物结构　｜　HBF 为每个 plane 两个读缓冲槽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8349211" cy="1421511"/>
            <a:chOff x="515874" y="311468"/>
            <a:chExt cx="8349211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3647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02 HBM 命令与状态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834921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HBM：抽屉是否已打开，决定命令成本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81050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每个 bank 同时保持一行打开；行命中、关闭与冲突，需要不同命令链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981200"/>
            <a:ext cx="11125200" cy="514350"/>
            <a:chOff x="533400" y="1981200"/>
            <a:chExt cx="11125200" cy="514350"/>
          </a:xfrm>
        </p:grpSpPr>
        <p:sp>
          <p:nvSpPr>
            <p:cNvPr id="6" name="Rectangle 6"/>
            <p:cNvSpPr/>
            <p:nvPr/>
          </p:nvSpPr>
          <p:spPr>
            <a:xfrm>
              <a:off x="533400" y="1981200"/>
              <a:ext cx="11125200" cy="51435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276787" y="2113598"/>
              <a:ext cx="76384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字节请求 → 32 B burst → 地址映射到 channel / PC / bank / row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2732" y="2771775"/>
            <a:ext cx="11135868" cy="2611564"/>
            <a:chOff x="522732" y="2771775"/>
            <a:chExt cx="11135868" cy="2611564"/>
          </a:xfrm>
        </p:grpSpPr>
        <p:sp>
          <p:nvSpPr>
            <p:cNvPr id="9" name="TextBox 9"/>
            <p:cNvSpPr txBox="1"/>
            <p:nvPr/>
          </p:nvSpPr>
          <p:spPr>
            <a:xfrm>
              <a:off x="522732" y="283083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行命中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5018" y="32127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目标抽屉已开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533650" y="2771775"/>
              <a:ext cx="104775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95067" y="2913698"/>
              <a:ext cx="324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62756" y="2929890"/>
              <a:ext cx="735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RL 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200650" y="2771775"/>
              <a:ext cx="2057400" cy="53340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03316" y="2929890"/>
              <a:ext cx="1452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DQ 数据传输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33400" y="35909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2732" y="3754755"/>
              <a:ext cx="13288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bank 关闭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5018" y="41367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先打开目标抽屉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533650" y="3695700"/>
              <a:ext cx="104775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18790" y="3837622"/>
              <a:ext cx="4774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34181" y="3853815"/>
              <a:ext cx="10034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tRCD →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81625" y="3695700"/>
              <a:ext cx="104775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43042" y="3837622"/>
              <a:ext cx="324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91681" y="3853815"/>
              <a:ext cx="735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RL 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29575" y="3695700"/>
              <a:ext cx="2057400" cy="53340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32241" y="3853815"/>
              <a:ext cx="1452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DQ 数据传输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33400" y="45148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2732" y="467868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行冲突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5018" y="5060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关旧抽屉，再开新的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533650" y="4619625"/>
              <a:ext cx="876300" cy="533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751430" y="477774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25393" y="4793932"/>
              <a:ext cx="7889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tRP →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762500" y="4619625"/>
              <a:ext cx="8763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80280" y="477774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44718" y="4793932"/>
              <a:ext cx="9198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tRCD →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200900" y="4619625"/>
              <a:ext cx="8382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70038" y="477774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64068" y="4793932"/>
              <a:ext cx="6739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RL →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391650" y="4619625"/>
              <a:ext cx="2266950" cy="53340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799091" y="4777740"/>
              <a:ext cx="1452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DQ 数据传输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4256" y="5482590"/>
            <a:ext cx="11134344" cy="918210"/>
            <a:chOff x="524256" y="5482590"/>
            <a:chExt cx="11134344" cy="918210"/>
          </a:xfrm>
        </p:grpSpPr>
        <p:sp>
          <p:nvSpPr>
            <p:cNvPr id="42" name="TextBox 42"/>
            <p:cNvSpPr txBox="1"/>
            <p:nvPr/>
          </p:nvSpPr>
          <p:spPr>
            <a:xfrm>
              <a:off x="524256" y="5482590"/>
              <a:ext cx="7699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还计算命令间隔、ACT 速率、读写切换和刷新；写请求对应 WR / WL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876925"/>
              <a:ext cx="11125200" cy="523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329750" y="6009322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同样的字节数，行状态和排队也会改变访问延迟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46" name="TextBox 46"/>
            <p:cNvSpPr txBox="1"/>
            <p:nvPr/>
          </p:nvSpPr>
          <p:spPr>
            <a:xfrm>
              <a:off x="527304" y="6566535"/>
              <a:ext cx="6748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本页为 jedec_hbm 路径　｜　概念顺序，非按时长比例；ACT=开行，PRE=关行，RL=读延迟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9626489" cy="1421511"/>
            <a:chOff x="515874" y="311468"/>
            <a:chExt cx="9626489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3991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03 HBF 页服务与读缓冲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873688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HBF：整页取货，用双缓冲衔接三段服务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96188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示例：16 die × 25 plane / 堆，4 KiB 页；连续页先分散到 die 通道，再轮换 plane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1975" y="1971675"/>
            <a:ext cx="10206228" cy="441198"/>
            <a:chOff x="561975" y="1971675"/>
            <a:chExt cx="10206228" cy="441198"/>
          </a:xfrm>
        </p:grpSpPr>
        <p:sp>
          <p:nvSpPr>
            <p:cNvPr id="6" name="Ellipse 6"/>
            <p:cNvSpPr/>
            <p:nvPr/>
          </p:nvSpPr>
          <p:spPr>
            <a:xfrm>
              <a:off x="561975" y="197167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0905" y="2041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7082" y="200215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从阵列取一页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4429125" y="197167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28055" y="2041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94707" y="20021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搬入读缓存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867775" y="197167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66705" y="2041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33357" y="20021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经出口送出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33425" y="2657475"/>
            <a:ext cx="3209925" cy="1611440"/>
            <a:chOff x="733425" y="2657475"/>
            <a:chExt cx="3209925" cy="1611440"/>
          </a:xfrm>
        </p:grpSpPr>
        <p:sp>
          <p:nvSpPr>
            <p:cNvPr id="16" name="Rectangle 16"/>
            <p:cNvSpPr/>
            <p:nvPr/>
          </p:nvSpPr>
          <p:spPr>
            <a:xfrm>
              <a:off x="733425" y="2657475"/>
              <a:ext cx="1162050" cy="838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38200" y="2781300"/>
              <a:ext cx="1162050" cy="838200"/>
            </a:xfrm>
            <a:prstGeom prst="rect">
              <a:avLst/>
            </a:prstGeom>
            <a:solidFill>
              <a:srgbClr val="FBECDD"/>
            </a:solidFill>
            <a:ln w="9525">
              <a:solidFill>
                <a:schemeClr val="accent2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52500" y="2914650"/>
              <a:ext cx="1162050" cy="83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54095" y="3072765"/>
              <a:ext cx="7588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新页 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65825" y="3422332"/>
              <a:ext cx="5354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KiB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1461" y="3946208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plane 页阵列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190750" y="3238500"/>
              <a:ext cx="31432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28900" y="2924175"/>
              <a:ext cx="1276350" cy="619125"/>
            </a:xfrm>
            <a:prstGeom prst="rect">
              <a:avLst/>
            </a:prstGeom>
            <a:solidFill>
              <a:srgbClr val="FBECDD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994710" y="3113722"/>
              <a:ext cx="5447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页 B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2590800" y="3562350"/>
              <a:ext cx="1352550" cy="95250"/>
            </a:xfrm>
            <a:custGeom>
              <a:avLst/>
              <a:gdLst/>
              <a:ahLst/>
              <a:cxnLst/>
              <a:rect l="l" t="t" r="r" b="b"/>
              <a:pathLst>
                <a:path w="1352550" h="95250">
                  <a:moveTo>
                    <a:pt x="0" y="0"/>
                  </a:moveTo>
                  <a:lnTo>
                    <a:pt x="0" y="95250"/>
                  </a:lnTo>
                  <a:lnTo>
                    <a:pt x="1352550" y="95250"/>
                  </a:lnTo>
                  <a:lnTo>
                    <a:pt x="13525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14447" y="38128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介质暂存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133850" y="2397442"/>
            <a:ext cx="3990975" cy="1930909"/>
            <a:chOff x="4133850" y="2397442"/>
            <a:chExt cx="3990975" cy="1930909"/>
          </a:xfrm>
        </p:grpSpPr>
        <p:sp>
          <p:nvSpPr>
            <p:cNvPr id="28" name="TextBox 28"/>
            <p:cNvSpPr txBox="1"/>
            <p:nvPr/>
          </p:nvSpPr>
          <p:spPr>
            <a:xfrm>
              <a:off x="4233672" y="2774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内部传输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4133850" y="3238500"/>
              <a:ext cx="1038225" cy="352425"/>
            </a:xfrm>
            <a:custGeom>
              <a:avLst/>
              <a:gdLst/>
              <a:ahLst/>
              <a:cxnLst/>
              <a:rect l="l" t="t" r="r" b="b"/>
              <a:pathLst>
                <a:path w="1038225" h="352425">
                  <a:moveTo>
                    <a:pt x="0" y="0"/>
                  </a:moveTo>
                  <a:lnTo>
                    <a:pt x="1038225" y="0"/>
                  </a:lnTo>
                  <a:lnTo>
                    <a:pt x="1038225" y="352425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5172075" y="3590925"/>
              <a:ext cx="18097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07444" y="2397442"/>
              <a:ext cx="2158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每个 plane：两个读缓存槽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48275" y="2609850"/>
              <a:ext cx="2876550" cy="1352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10200" y="2714625"/>
              <a:ext cx="2562225" cy="4667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524500" y="2809875"/>
              <a:ext cx="238125" cy="2762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24931" y="2834640"/>
              <a:ext cx="17337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槽 A　已有页 A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410200" y="3352800"/>
              <a:ext cx="2562225" cy="466725"/>
            </a:xfrm>
            <a:prstGeom prst="rect">
              <a:avLst/>
            </a:prstGeom>
            <a:solidFill>
              <a:srgbClr val="FBECDD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524500" y="3448050"/>
              <a:ext cx="238125" cy="2762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24931" y="3472815"/>
              <a:ext cx="14994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槽 B　新页 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84727" y="4064318"/>
              <a:ext cx="2203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内部搬完后，该槽才 ready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991475" y="2559368"/>
            <a:ext cx="3667125" cy="1547621"/>
            <a:chOff x="7991475" y="2559368"/>
            <a:chExt cx="3667125" cy="1547621"/>
          </a:xfrm>
        </p:grpSpPr>
        <p:sp>
          <p:nvSpPr>
            <p:cNvPr id="41" name="TextBox 41"/>
            <p:cNvSpPr txBox="1"/>
            <p:nvPr/>
          </p:nvSpPr>
          <p:spPr>
            <a:xfrm>
              <a:off x="8293684" y="2559368"/>
              <a:ext cx="2538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已有页命中：从槽 A 直接送出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7991475" y="2943225"/>
              <a:ext cx="828675" cy="314325"/>
            </a:xfrm>
            <a:custGeom>
              <a:avLst/>
              <a:gdLst/>
              <a:ahLst/>
              <a:cxnLst/>
              <a:rect l="l" t="t" r="r" b="b"/>
              <a:pathLst>
                <a:path w="828675" h="314325">
                  <a:moveTo>
                    <a:pt x="0" y="0"/>
                  </a:moveTo>
                  <a:lnTo>
                    <a:pt x="828675" y="0"/>
                  </a:lnTo>
                  <a:lnTo>
                    <a:pt x="828675" y="314325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prstDash val="dash"/>
            </a:ln>
          </p:spPr>
        </p:sp>
        <p:sp>
          <p:nvSpPr>
            <p:cNvPr id="43" name="Freeform 43"/>
            <p:cNvSpPr/>
            <p:nvPr/>
          </p:nvSpPr>
          <p:spPr>
            <a:xfrm>
              <a:off x="7991475" y="3257550"/>
              <a:ext cx="2219325" cy="333375"/>
            </a:xfrm>
            <a:custGeom>
              <a:avLst/>
              <a:gdLst/>
              <a:ahLst/>
              <a:cxnLst/>
              <a:rect l="l" t="t" r="r" b="b"/>
              <a:pathLst>
                <a:path w="2219325" h="333375">
                  <a:moveTo>
                    <a:pt x="0" y="333375"/>
                  </a:moveTo>
                  <a:lnTo>
                    <a:pt x="523875" y="333375"/>
                  </a:lnTo>
                  <a:lnTo>
                    <a:pt x="523875" y="0"/>
                  </a:lnTo>
                  <a:lnTo>
                    <a:pt x="22193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325100" y="2809875"/>
              <a:ext cx="1333500" cy="80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557129" y="307848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请求方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42343" y="3784282"/>
              <a:ext cx="14605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host 出口传输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24256" y="4352925"/>
            <a:ext cx="11134344" cy="995934"/>
            <a:chOff x="524256" y="4352925"/>
            <a:chExt cx="11134344" cy="995934"/>
          </a:xfrm>
        </p:grpSpPr>
        <p:sp>
          <p:nvSpPr>
            <p:cNvPr id="48" name="Rectangle 48"/>
            <p:cNvSpPr/>
            <p:nvPr/>
          </p:nvSpPr>
          <p:spPr>
            <a:xfrm>
              <a:off x="533400" y="4352925"/>
              <a:ext cx="111252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4944" y="4447222"/>
              <a:ext cx="79344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命中：跳过阵列与内部填充；仍要等缓存槽 ready 和 host 出口空闲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4256" y="4996815"/>
              <a:ext cx="80752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槽的两道门：填完才能读（ready）；旧读者结束才能覆盖（reader_end）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3494" y="5390198"/>
            <a:ext cx="7625835" cy="381381"/>
            <a:chOff x="523494" y="5390198"/>
            <a:chExt cx="7625835" cy="381381"/>
          </a:xfrm>
        </p:grpSpPr>
        <p:sp>
          <p:nvSpPr>
            <p:cNvPr id="52" name="TextBox 52"/>
            <p:cNvSpPr txBox="1"/>
            <p:nvPr/>
          </p:nvSpPr>
          <p:spPr>
            <a:xfrm>
              <a:off x="523494" y="5390198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写入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705356" y="5406390"/>
              <a:ext cx="6443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host → 内部传输 → program 结束；部分页写可能另付 RMW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33400" y="5876925"/>
            <a:ext cx="11125200" cy="523875"/>
            <a:chOff x="533400" y="5876925"/>
            <a:chExt cx="11125200" cy="523875"/>
          </a:xfrm>
        </p:grpSpPr>
        <p:sp>
          <p:nvSpPr>
            <p:cNvPr id="55" name="Rectangle 55"/>
            <p:cNvSpPr/>
            <p:nvPr/>
          </p:nvSpPr>
          <p:spPr>
            <a:xfrm>
              <a:off x="533400" y="5876925"/>
              <a:ext cx="11125200" cy="523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592258" y="6009322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阵列读完还不算完成，必须等出口传输结束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58" name="TextBox 58"/>
            <p:cNvSpPr txBox="1"/>
            <p:nvPr/>
          </p:nvSpPr>
          <p:spPr>
            <a:xfrm>
              <a:off x="527304" y="6566535"/>
              <a:ext cx="7113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generic_nand 基线：无默认 FTL / GC　｜　示例输入：读页 1 μs，program 100 μs，非本次测量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9349586" cy="1421511"/>
            <a:chOff x="515874" y="311468"/>
            <a:chExt cx="9349586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3214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04 资源时间线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700163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同一条路要排队，不同资源可重叠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93419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同一 plane；A / B 均未命中，各用一个初始空槽；共享内部通道和 host 读出口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1990725"/>
            <a:ext cx="10102200" cy="357759"/>
            <a:chOff x="533400" y="1990725"/>
            <a:chExt cx="10102200" cy="357759"/>
          </a:xfrm>
        </p:grpSpPr>
        <p:sp>
          <p:nvSpPr>
            <p:cNvPr id="6" name="Rectangle 6"/>
            <p:cNvSpPr/>
            <p:nvPr/>
          </p:nvSpPr>
          <p:spPr>
            <a:xfrm>
              <a:off x="533400" y="1990725"/>
              <a:ext cx="219075" cy="2190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8868" y="2012632"/>
              <a:ext cx="4509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页 A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790700" y="1990725"/>
              <a:ext cx="219075" cy="2190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106168" y="2012632"/>
              <a:ext cx="4509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页 B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72968" y="20126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实线：同页依赖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0656" y="1996440"/>
              <a:ext cx="46249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① 填 A 结束，介质暂存释放后，才可读 B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3494" y="2381250"/>
            <a:ext cx="11135106" cy="2181225"/>
            <a:chOff x="523494" y="2381250"/>
            <a:chExt cx="11135106" cy="2181225"/>
          </a:xfrm>
        </p:grpSpPr>
        <p:sp>
          <p:nvSpPr>
            <p:cNvPr id="13" name="Rectangle 13"/>
            <p:cNvSpPr/>
            <p:nvPr/>
          </p:nvSpPr>
          <p:spPr>
            <a:xfrm>
              <a:off x="2409825" y="2543175"/>
              <a:ext cx="9248775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409825" y="3276600"/>
              <a:ext cx="9248775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409825" y="4010025"/>
              <a:ext cx="9248775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3494" y="26469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阵列读取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3494" y="3380422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内部传输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3494" y="4113848"/>
              <a:ext cx="14964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host 读出口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2409825" y="3000375"/>
              <a:ext cx="9248775" cy="9525"/>
            </a:xfrm>
            <a:custGeom>
              <a:avLst/>
              <a:gdLst/>
              <a:ahLst/>
              <a:cxnLst/>
              <a:rect l="l" t="t" r="r" b="b"/>
              <a:pathLst>
                <a:path w="9248775" h="9525">
                  <a:moveTo>
                    <a:pt x="0" y="0"/>
                  </a:moveTo>
                  <a:lnTo>
                    <a:pt x="92487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2409825" y="3733800"/>
              <a:ext cx="9248775" cy="9525"/>
            </a:xfrm>
            <a:custGeom>
              <a:avLst/>
              <a:gdLst/>
              <a:ahLst/>
              <a:cxnLst/>
              <a:rect l="l" t="t" r="r" b="b"/>
              <a:pathLst>
                <a:path w="9248775" h="9525">
                  <a:moveTo>
                    <a:pt x="0" y="0"/>
                  </a:moveTo>
                  <a:lnTo>
                    <a:pt x="92487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2409825" y="4467225"/>
              <a:ext cx="9248775" cy="9525"/>
            </a:xfrm>
            <a:custGeom>
              <a:avLst/>
              <a:gdLst/>
              <a:ahLst/>
              <a:cxnLst/>
              <a:rect l="l" t="t" r="r" b="b"/>
              <a:pathLst>
                <a:path w="9248775" h="9525">
                  <a:moveTo>
                    <a:pt x="0" y="0"/>
                  </a:moveTo>
                  <a:lnTo>
                    <a:pt x="92487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647950" y="2571750"/>
              <a:ext cx="140970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106826" y="2653665"/>
              <a:ext cx="491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 A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381500" y="3305175"/>
              <a:ext cx="131445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64735" y="3387090"/>
              <a:ext cx="747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填槽 A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00750" y="4038600"/>
              <a:ext cx="226695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67374" y="4120515"/>
              <a:ext cx="17337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 A（槽 A）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4057650" y="2771775"/>
              <a:ext cx="1781175" cy="1466850"/>
            </a:xfrm>
            <a:custGeom>
              <a:avLst/>
              <a:gdLst/>
              <a:ahLst/>
              <a:cxnLst/>
              <a:rect l="l" t="t" r="r" b="b"/>
              <a:pathLst>
                <a:path w="1781175" h="1466850">
                  <a:moveTo>
                    <a:pt x="0" y="0"/>
                  </a:moveTo>
                  <a:lnTo>
                    <a:pt x="152400" y="0"/>
                  </a:lnTo>
                  <a:lnTo>
                    <a:pt x="152400" y="733425"/>
                  </a:lnTo>
                  <a:moveTo>
                    <a:pt x="1638300" y="733425"/>
                  </a:moveTo>
                  <a:lnTo>
                    <a:pt x="1781175" y="733425"/>
                  </a:lnTo>
                  <a:lnTo>
                    <a:pt x="1781175" y="146685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4210050" y="3505200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0" name="Line 30"/>
            <p:cNvSpPr/>
            <p:nvPr/>
          </p:nvSpPr>
          <p:spPr>
            <a:xfrm>
              <a:off x="5838825" y="4238625"/>
              <a:ext cx="104775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00750" y="2571750"/>
              <a:ext cx="140970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59626" y="2653665"/>
              <a:ext cx="491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 B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715250" y="3305175"/>
              <a:ext cx="131445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98485" y="3387090"/>
              <a:ext cx="747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填槽 B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277350" y="4038600"/>
              <a:ext cx="222885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524924" y="4120515"/>
              <a:ext cx="17337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 B（槽 B）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7410450" y="2771775"/>
              <a:ext cx="1724025" cy="1466850"/>
            </a:xfrm>
            <a:custGeom>
              <a:avLst/>
              <a:gdLst/>
              <a:ahLst/>
              <a:cxnLst/>
              <a:rect l="l" t="t" r="r" b="b"/>
              <a:pathLst>
                <a:path w="1724025" h="1466850">
                  <a:moveTo>
                    <a:pt x="0" y="0"/>
                  </a:moveTo>
                  <a:lnTo>
                    <a:pt x="152400" y="0"/>
                  </a:lnTo>
                  <a:lnTo>
                    <a:pt x="152400" y="733425"/>
                  </a:lnTo>
                  <a:moveTo>
                    <a:pt x="1619250" y="733425"/>
                  </a:moveTo>
                  <a:lnTo>
                    <a:pt x="1724025" y="733425"/>
                  </a:lnTo>
                  <a:lnTo>
                    <a:pt x="1724025" y="14668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7562850" y="3505200"/>
              <a:ext cx="952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9" name="Line 39"/>
            <p:cNvSpPr/>
            <p:nvPr/>
          </p:nvSpPr>
          <p:spPr>
            <a:xfrm>
              <a:off x="9134475" y="4238625"/>
              <a:ext cx="8572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0" name="Freeform 40"/>
            <p:cNvSpPr/>
            <p:nvPr/>
          </p:nvSpPr>
          <p:spPr>
            <a:xfrm>
              <a:off x="5695950" y="2381250"/>
              <a:ext cx="304800" cy="923925"/>
            </a:xfrm>
            <a:custGeom>
              <a:avLst/>
              <a:gdLst/>
              <a:ahLst/>
              <a:cxnLst/>
              <a:rect l="l" t="t" r="r" b="b"/>
              <a:pathLst>
                <a:path w="304800" h="923925">
                  <a:moveTo>
                    <a:pt x="0" y="923925"/>
                  </a:moveTo>
                  <a:lnTo>
                    <a:pt x="0" y="0"/>
                  </a:ln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prstDash val="dash"/>
            </a:ln>
          </p:spPr>
        </p:sp>
        <p:sp>
          <p:nvSpPr>
            <p:cNvPr id="41" name="Line 41"/>
            <p:cNvSpPr/>
            <p:nvPr/>
          </p:nvSpPr>
          <p:spPr>
            <a:xfrm>
              <a:off x="6000750" y="2381250"/>
              <a:ext cx="1" cy="1333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2" name="Freeform 42"/>
            <p:cNvSpPr/>
            <p:nvPr/>
          </p:nvSpPr>
          <p:spPr>
            <a:xfrm>
              <a:off x="8267700" y="4438650"/>
              <a:ext cx="1009650" cy="123825"/>
            </a:xfrm>
            <a:custGeom>
              <a:avLst/>
              <a:gdLst/>
              <a:ahLst/>
              <a:cxnLst/>
              <a:rect l="l" t="t" r="r" b="b"/>
              <a:pathLst>
                <a:path w="1009650" h="123825">
                  <a:moveTo>
                    <a:pt x="0" y="0"/>
                  </a:moveTo>
                  <a:lnTo>
                    <a:pt x="0" y="123825"/>
                  </a:lnTo>
                  <a:lnTo>
                    <a:pt x="1009650" y="123825"/>
                  </a:lnTo>
                  <a:lnTo>
                    <a:pt x="10096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prstDash val="dash"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523494" y="4818698"/>
            <a:ext cx="9036329" cy="838581"/>
            <a:chOff x="523494" y="4818698"/>
            <a:chExt cx="9036329" cy="838581"/>
          </a:xfrm>
        </p:grpSpPr>
        <p:sp>
          <p:nvSpPr>
            <p:cNvPr id="44" name="TextBox 44"/>
            <p:cNvSpPr txBox="1"/>
            <p:nvPr/>
          </p:nvSpPr>
          <p:spPr>
            <a:xfrm>
              <a:off x="523494" y="4818698"/>
              <a:ext cx="13041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② 可以重叠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705481" y="4834890"/>
              <a:ext cx="51389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 B、填槽 B 可与输出 A 重叠；B 用另一个槽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3494" y="5275898"/>
              <a:ext cx="13041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③ 仍需等待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705481" y="5292090"/>
              <a:ext cx="68543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同一出口不能同时读 A / B；覆盖槽 A 还要等它的旧读者结束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33400" y="5876925"/>
            <a:ext cx="11125200" cy="523875"/>
            <a:chOff x="533400" y="5876925"/>
            <a:chExt cx="11125200" cy="523875"/>
          </a:xfrm>
        </p:grpSpPr>
        <p:sp>
          <p:nvSpPr>
            <p:cNvPr id="49" name="Rectangle 49"/>
            <p:cNvSpPr/>
            <p:nvPr/>
          </p:nvSpPr>
          <p:spPr>
            <a:xfrm>
              <a:off x="533400" y="5876925"/>
              <a:ext cx="11125200" cy="523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804732" y="6009322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同页按依赖串行；跨页仅在不同资源、且缓冲可用时重叠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52" name="TextBox 52"/>
            <p:cNvSpPr txBox="1"/>
            <p:nvPr/>
          </p:nvSpPr>
          <p:spPr>
            <a:xfrm>
              <a:off x="527304" y="6566535"/>
              <a:ext cx="7200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时间向右，长短无数值比例；请求已准入、无写覆盖　｜　host 读完不清空缓存页，只解除覆盖约束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7115175" cy="1421511"/>
            <a:chOff x="515874" y="311468"/>
            <a:chExt cx="7115175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3790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05 输出、归因与边界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56083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算得出性能，也追得回原因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固定负载与统计口径，对比配置，并沿物理事件解释性能变化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2114550"/>
            <a:ext cx="3524250" cy="2505075"/>
            <a:chOff x="533400" y="2114550"/>
            <a:chExt cx="3524250" cy="2505075"/>
          </a:xfrm>
        </p:grpSpPr>
        <p:sp>
          <p:nvSpPr>
            <p:cNvPr id="6" name="Rectangle 6"/>
            <p:cNvSpPr/>
            <p:nvPr/>
          </p:nvSpPr>
          <p:spPr>
            <a:xfrm>
              <a:off x="533400" y="2114550"/>
              <a:ext cx="3524250" cy="1057275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1332" y="2297430"/>
              <a:ext cx="6015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HBM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2748915"/>
              <a:ext cx="2720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行命中 / 冲突，命令计数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3562350"/>
              <a:ext cx="3524250" cy="1057275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1332" y="3745230"/>
              <a:ext cx="5388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HBF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856" y="4196715"/>
              <a:ext cx="29745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缓存命中，读页 / program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286250" y="2390775"/>
            <a:ext cx="3771900" cy="1981200"/>
            <a:chOff x="4286250" y="2390775"/>
            <a:chExt cx="3771900" cy="1981200"/>
          </a:xfrm>
        </p:grpSpPr>
        <p:sp>
          <p:nvSpPr>
            <p:cNvPr id="13" name="Freeform 13"/>
            <p:cNvSpPr/>
            <p:nvPr/>
          </p:nvSpPr>
          <p:spPr>
            <a:xfrm>
              <a:off x="4286250" y="2647950"/>
              <a:ext cx="561975" cy="1447800"/>
            </a:xfrm>
            <a:custGeom>
              <a:avLst/>
              <a:gdLst/>
              <a:ahLst/>
              <a:cxnLst/>
              <a:rect l="l" t="t" r="r" b="b"/>
              <a:pathLst>
                <a:path w="561975" h="1447800">
                  <a:moveTo>
                    <a:pt x="0" y="0"/>
                  </a:moveTo>
                  <a:lnTo>
                    <a:pt x="257175" y="0"/>
                  </a:lnTo>
                  <a:lnTo>
                    <a:pt x="257175" y="723900"/>
                  </a:lnTo>
                  <a:moveTo>
                    <a:pt x="0" y="1447800"/>
                  </a:moveTo>
                  <a:lnTo>
                    <a:pt x="257175" y="1447800"/>
                  </a:lnTo>
                  <a:lnTo>
                    <a:pt x="257175" y="723900"/>
                  </a:lnTo>
                  <a:lnTo>
                    <a:pt x="561975" y="7239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010150" y="2390775"/>
              <a:ext cx="3048000" cy="1981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75376" y="262128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物理服务结果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16410" y="312039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完成时间 / 任务依赖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76900" y="35490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逻辑与物理字节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76989" y="3977640"/>
              <a:ext cx="21143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排队 / 各资源 busy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416671" y="2583180"/>
            <a:ext cx="3273003" cy="1731073"/>
            <a:chOff x="8416671" y="2583180"/>
            <a:chExt cx="3273003" cy="1731073"/>
          </a:xfrm>
        </p:grpSpPr>
        <p:sp>
          <p:nvSpPr>
            <p:cNvPr id="20" name="TextBox 20"/>
            <p:cNvSpPr txBox="1"/>
            <p:nvPr/>
          </p:nvSpPr>
          <p:spPr>
            <a:xfrm>
              <a:off x="8416671" y="3201352"/>
              <a:ext cx="214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28557" y="2583180"/>
              <a:ext cx="15087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 吞吐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28557" y="3249930"/>
              <a:ext cx="22119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 Token：TTFT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29319" y="3932872"/>
              <a:ext cx="26603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平均输出间隔：TPOT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3494" y="5028248"/>
            <a:ext cx="9186005" cy="745617"/>
            <a:chOff x="523494" y="5028248"/>
            <a:chExt cx="9186005" cy="745617"/>
          </a:xfrm>
        </p:grpSpPr>
        <p:sp>
          <p:nvSpPr>
            <p:cNvPr id="25" name="TextBox 25"/>
            <p:cNvSpPr txBox="1"/>
            <p:nvPr/>
          </p:nvSpPr>
          <p:spPr>
            <a:xfrm>
              <a:off x="523494" y="5028248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指标口径要分开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23844" y="5028248"/>
              <a:ext cx="63856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服务跨度 service_ns ≠ 资源 busy ≠ 总耗时 makespan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25368" y="5451158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服务跨度可以重叠；读资源占用，才能判断等待落在何处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5876925"/>
            <a:ext cx="11125200" cy="523875"/>
            <a:chOff x="533400" y="5876925"/>
            <a:chExt cx="11125200" cy="523875"/>
          </a:xfrm>
        </p:grpSpPr>
        <p:sp>
          <p:nvSpPr>
            <p:cNvPr id="29" name="Rectangle 29"/>
            <p:cNvSpPr/>
            <p:nvPr/>
          </p:nvSpPr>
          <p:spPr>
            <a:xfrm>
              <a:off x="533400" y="5876925"/>
              <a:ext cx="11125200" cy="523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209800" y="6025515"/>
              <a:ext cx="7772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参数分为标准参考、论文输入与研究假设；结果尚未经目标芯片实测校准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32" name="TextBox 32"/>
            <p:cNvSpPr txBox="1"/>
            <p:nvPr/>
          </p:nvSpPr>
          <p:spPr>
            <a:xfrm>
              <a:off x="527304" y="656653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用于机制分析与配置比较　｜　讲解备注附源码入口与参数范围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hbm_hbf_executive">
  <a:themeElements>
    <a:clrScheme name="hbm_hbf_executive">
      <a:dk1>
        <a:srgbClr val="11243A"/>
      </a:dk1>
      <a:lt1>
        <a:srgbClr val="F6F8FB"/>
      </a:lt1>
      <a:dk2>
        <a:srgbClr val="11243A"/>
      </a:dk2>
      <a:lt2>
        <a:srgbClr val="F6F8FB"/>
      </a:lt2>
      <a:accent1>
        <a:srgbClr val="007FBA"/>
      </a:accent1>
      <a:accent2>
        <a:srgbClr val="B96628"/>
      </a:accent2>
      <a:accent3>
        <a:srgbClr val="526479"/>
      </a:accent3>
      <a:accent4>
        <a:srgbClr val="007FBA"/>
      </a:accent4>
      <a:accent5>
        <a:srgbClr val="0C1B2B"/>
      </a:accent5>
      <a:accent6>
        <a:srgbClr val="B5C3CF"/>
      </a:accent6>
      <a:hlink>
        <a:srgbClr val="B96628"/>
      </a:hlink>
      <a:folHlink>
        <a:srgbClr val="526479"/>
      </a:folHlink>
    </a:clrScheme>
    <a:fontScheme name="hbm_hbf_executiv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bm_hbf_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bm_hbf_executive">
  <a:themeElements>
    <a:clrScheme name="hbm_hbf_executive">
      <a:dk1>
        <a:srgbClr val="11243A"/>
      </a:dk1>
      <a:lt1>
        <a:srgbClr val="F6F8FB"/>
      </a:lt1>
      <a:dk2>
        <a:srgbClr val="11243A"/>
      </a:dk2>
      <a:lt2>
        <a:srgbClr val="F6F8FB"/>
      </a:lt2>
      <a:accent1>
        <a:srgbClr val="007FBA"/>
      </a:accent1>
      <a:accent2>
        <a:srgbClr val="B96628"/>
      </a:accent2>
      <a:accent3>
        <a:srgbClr val="526479"/>
      </a:accent3>
      <a:accent4>
        <a:srgbClr val="007FBA"/>
      </a:accent4>
      <a:accent5>
        <a:srgbClr val="0C1B2B"/>
      </a:accent5>
      <a:accent6>
        <a:srgbClr val="B5C3CF"/>
      </a:accent6>
      <a:hlink>
        <a:srgbClr val="B96628"/>
      </a:hlink>
      <a:folHlink>
        <a:srgbClr val="526479"/>
      </a:folHlink>
    </a:clrScheme>
    <a:fontScheme name="hbm_hbf_executiv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bm_hbf_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2026-10-26T12:14:16Z</dcterms:created>
  <dcterms:modified xsi:type="dcterms:W3CDTF">2026-10-26T12:14:16Z</dcterms:modified>
  <cp:category/>
  <cp:contentStatus/>
</cp:coreProperties>
</file>