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可以先把两种存储理解为两种取货方式。HBM 的一个 bank 像柜子，row 像抽屉；柜子同时保持一行打开，读请求在该行中按小块传数据。HBF 的一页像整箱物品，读取先付整页的介质服务，再通过内部通道搬到临时读缓冲，最后送到出口。每个 plane 有两个读缓冲槽，类似两个临时装卸位。这里的柜子和货架只是帮助理解，图中大小和数量不表示实际容量或速度。</a:t>
            </a:r>
          </a:p>
          <a:p>
            <a:pPr/>
            <a:endParaRPr lang="zh-CN" dirty="0"/>
          </a:p>
          <a:p>
            <a:pPr/>
            <a:r>
              <a:rPr lang="zh-CN" dirty="0"/>
              <a:t>仿真过程先由模型、批量、上下文、精度和并行配置确定权重、KV 与激活的访问需求，再结合放置和分配器得到 owner、字节数和地址。物理 Core 在任务实际到达时计算服务与资源等待，完成事件推进后继任务，最终影响 Token 吞吐与延迟。因此，地址决定去哪个资源，状态和竞争决定何时完成。源码入口为 src/heterollm_sim/planner.py:8975、16306、19067，data_motion.py:1151、1330–1496，memory_mapping.py:172、212。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HBM 的关键不是只知道传了多少字节，还要知道目标行是否已经打开。本项目的 jedec_hbm 路径把请求拆成三十二字节 burst，再按地址映射到 channel、pseudo-channel，也就是 PC，以及 bank 和 row。行命中时直接发 RD，经过读流水延迟 RL，再进行 DQ 数据传输。bank 关闭时，要先 ACT 开行，等待 tRCD，再读。行冲突时，先 PRE 关闭旧行，等 tRP，再 ACT 打开新行，因此多付开关行和等待成本。图只表示顺序，不按时间比例，也省略 ACT 在具体时钟边沿上的精细锚点。</a:t>
            </a:r>
          </a:p>
          <a:p>
            <a:pPr/>
            <a:endParaRPr lang="zh-CN" dirty="0"/>
          </a:p>
          <a:p>
            <a:pPr/>
            <a:r>
              <a:rPr lang="zh-CN" dirty="0"/>
              <a:t>这些命令还需要满足 tCCD 列间隔、tRRD 与四激活窗口 tFAW、读写方向切换和刷新约束，写对应 WR 与 WL。请求完成取所有 burst 数据结束时间最大值，完整延迟含到达之后的等待。analytical 是另一种简化模式，不应把本页当成所有模式共同的精度承诺。源码是 src/heterollm_sim/memory_mapping.py:18、47、172，_hbm_control.py:121、145、183、206、279、490、547、584，以及 dram_core.py:90、483。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论文原生 HBF 例子每堆十六个 die，每 die 二十五个 plane，四 KiB 页。连续页先条带到 die 内部通道，再轮到不同 plane，几何决定可并行的阵列资源。缓存未命中时，先 PAGE_READ 阵列读取，再通过内部通道填到 slot，然后经 HOST_TRANSFER 出口返回。两槽读缓冲并不增加两倍阵列带宽，而是让阶段在依赖允许时可以重叠。</a:t>
            </a:r>
          </a:p>
          <a:p>
            <a:pPr/>
            <a:endParaRPr lang="zh-CN" dirty="0"/>
          </a:p>
          <a:p>
            <a:pPr/>
            <a:r>
              <a:rPr lang="zh-CN" dirty="0"/>
              <a:t>每槽记录页标识、ready 和 reader_end。填充完成前不能读取，旧读者结束前不能覆盖。缓存命中绕过阵列读取和内部填充，但仍需等 ready 和出口资源，不代表立即返回。写操作单独走 host、内部传输、program，program 结束才算完成；部分页写按配置拒绝或另付读改写成本。本例读一微秒、program 一百微秒是配置输入，本次没有新增性能测量。当前基线为 generic_nand，直接地址页服务，无默认 FTL、垃圾回收或自动擦除，也没有自主预测预取控制器。源码为 scripts/exploring_hbf_paper_config.py:153、272–342，src/heterollm_sim/memory_mapping.py:124、212，nand_core.py:647、666、1861、1900–1982。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时间线展示同一 plane 读页 A 和 B 的一种合法重叠：A 读完后内部填充槽 A，A 出口传输时可以读取页 B，再填另一个槽。输出 B 仍要等待 B 填充结束和同一出口可用。图的块长不表示数值，不承诺实际始终达到理想流水。页映射、请求准入、槽寿命和共享通道都会限制重叠。</a:t>
            </a:r>
          </a:p>
          <a:p>
            <a:pPr/>
            <a:endParaRPr lang="zh-CN" dirty="0"/>
          </a:p>
          <a:p>
            <a:pPr/>
            <a:r>
              <a:rPr lang="zh-CN" dirty="0"/>
              <a:t>可以把单个资源阶段的通用规则理解为：依赖就绪和资源空闲同时满足后开始，结束等于开始加该阶段时长。HBM 在这套资源原则之外还满足时钟对齐、bank 状态和具体命令时序。同 channel 的两个 PC 共享 Row CA 和 Column CA，各有独立 DQ，因此不能把所有访问简单串行相加，也不能假设所有访问都同时完成。源码为 src/heterollm_sim/memory_transfer.py:263–335，_hbm_control.py:60、105、121、206、569，以及 nand_core.py:1919、1923、1937。若 B 的内部填充选择的槽仍有旧读者，还必须额外等待 reader_end。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模型除了给 Token 指标，还保留能解释性能的物理观测。HBM 有行命中、冲突和 ACT、PRE、RD、WR、REF 命令；HBF 有缓存命中、实际读页和 program。两者输出完成时间、逻辑和物理字节、队列等待和各资源 busy。任务依赖再把这些结果连接到 Token 吞吐、首 Token 延迟 TTFT 和平均输出间隔 TPOT。TPOT 等于首末可见 Token 之间的时间除以输出数量减一，属于平均值。比较配置要固定负载并保持统计边界一致，不能把访问模式变化误认为介质本身性能变化。</a:t>
            </a:r>
          </a:p>
          <a:p>
            <a:pPr/>
            <a:endParaRPr lang="zh-CN" dirty="0"/>
          </a:p>
          <a:p>
            <a:pPr/>
            <a:r>
              <a:rPr lang="zh-CN" dirty="0"/>
              <a:t>三个时间口径必须分开：service_ns 累加任务和 owner 的服务跨度，跨度可能重叠；resource_totals 描述资源忙碌；makespan 是整体完成窗口。它们不能互相替代。配置还区分标准参考、论文输入和本地研究假设。例如论文原生 HBM4 的 tRRD 与 tFAW 借用 HBM3E 参考；NAND 的块几何、erase、内部带宽等含显式本地选择。因此结果可用于机制分析和配置比较，尚未经目标芯片实测校准。源码是 src/heterollm_sim/memory_types.py:899、911，memory_service.py:26–84，reporting.py:632、2113、2174–2246，以及 scripts/exploring_hbf_paper_config.py:207–258。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bm_hbf_executiv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bm_hbf_executiv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f8716adc895bce8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8474347" cy="1421511"/>
            <a:chOff x="515874" y="311468"/>
            <a:chExt cx="8474347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2830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01 总流程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4743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像管理两种仓库一样，建模 HBM / HBF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76335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把 LLM 访问落实到字节与地址，再按介质规则计算服务与排队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71750" y="1762125"/>
            <a:ext cx="7048500" cy="3524250"/>
            <a:chOff x="2571750" y="1762125"/>
            <a:chExt cx="7048500" cy="35242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1750" y="1762125"/>
              <a:ext cx="7048500" cy="35242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20446" y="2372678"/>
            <a:ext cx="1437132" cy="2296287"/>
            <a:chOff x="520446" y="2372678"/>
            <a:chExt cx="1437132" cy="2296287"/>
          </a:xfrm>
        </p:grpSpPr>
        <p:sp>
          <p:nvSpPr>
            <p:cNvPr id="8" name="TextBox 8"/>
            <p:cNvSpPr txBox="1"/>
            <p:nvPr/>
          </p:nvSpPr>
          <p:spPr>
            <a:xfrm>
              <a:off x="520446" y="2372678"/>
              <a:ext cx="730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2732" y="2878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按行打开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2732" y="33070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按小块传输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018" y="3974782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bank 像柜子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018" y="4346258"/>
              <a:ext cx="1160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row 像抽屉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97796" y="2372678"/>
            <a:ext cx="1576197" cy="2296287"/>
            <a:chOff x="9797796" y="2372678"/>
            <a:chExt cx="1576197" cy="2296287"/>
          </a:xfrm>
        </p:grpSpPr>
        <p:sp>
          <p:nvSpPr>
            <p:cNvPr id="14" name="TextBox 14"/>
            <p:cNvSpPr txBox="1"/>
            <p:nvPr/>
          </p:nvSpPr>
          <p:spPr>
            <a:xfrm>
              <a:off x="9797796" y="2372678"/>
              <a:ext cx="6543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00082" y="2878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整页读取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00082" y="33070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两槽暂存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02368" y="3974782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page 像整箱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02368" y="434625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读缓冲像装卸位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5387340"/>
            <a:ext cx="11125200" cy="1013460"/>
            <a:chOff x="533400" y="5387340"/>
            <a:chExt cx="11125200" cy="1013460"/>
          </a:xfrm>
        </p:grpSpPr>
        <p:sp>
          <p:nvSpPr>
            <p:cNvPr id="20" name="TextBox 20"/>
            <p:cNvSpPr txBox="1"/>
            <p:nvPr/>
          </p:nvSpPr>
          <p:spPr>
            <a:xfrm>
              <a:off x="2936748" y="538734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共同原则：地址决定去哪里，状态与资源竞争决定何时完成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838825"/>
              <a:ext cx="11125200" cy="5619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32665" y="5983605"/>
              <a:ext cx="81266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负载与配置　→　字节 / 地址　→　介质 + 排队　→　Token 指标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527304" y="6566535"/>
              <a:ext cx="4804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概念比喻，非芯片实物结构　｜　HBF 为每个 plane 两个读缓冲槽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8349211" cy="1421511"/>
            <a:chOff x="515874" y="311468"/>
            <a:chExt cx="8349211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647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02 HBM 命令与状态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34921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HBM：抽屉是否已打开，决定命令成本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81050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bank 同时保持一行打开；行命中、关闭与冲突，需要不同命令链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981200"/>
            <a:ext cx="11125200" cy="514350"/>
            <a:chOff x="533400" y="1981200"/>
            <a:chExt cx="11125200" cy="514350"/>
          </a:xfrm>
        </p:grpSpPr>
        <p:sp>
          <p:nvSpPr>
            <p:cNvPr id="6" name="Rectangle 6"/>
            <p:cNvSpPr/>
            <p:nvPr/>
          </p:nvSpPr>
          <p:spPr>
            <a:xfrm>
              <a:off x="533400" y="1981200"/>
              <a:ext cx="11125200" cy="51435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76787" y="2113598"/>
              <a:ext cx="76384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字节请求 → 32 B burst → 地址映射到 channel / PC / bank / row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732" y="2771775"/>
            <a:ext cx="11135868" cy="2611564"/>
            <a:chOff x="522732" y="2771775"/>
            <a:chExt cx="11135868" cy="2611564"/>
          </a:xfrm>
        </p:grpSpPr>
        <p:sp>
          <p:nvSpPr>
            <p:cNvPr id="9" name="TextBox 9"/>
            <p:cNvSpPr txBox="1"/>
            <p:nvPr/>
          </p:nvSpPr>
          <p:spPr>
            <a:xfrm>
              <a:off x="522732" y="283083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行命中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5018" y="3212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目标抽屉已开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33650" y="2771775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95067" y="2913698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62756" y="2929890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200650" y="2771775"/>
              <a:ext cx="205740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03316" y="2929890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33400" y="35909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2732" y="3754755"/>
              <a:ext cx="13288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bank 关闭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018" y="41367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先打开目标抽屉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33650" y="3695700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18790" y="3837622"/>
              <a:ext cx="4774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34181" y="3853815"/>
              <a:ext cx="1003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81625" y="3695700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43042" y="3837622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1681" y="3853815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29575" y="3695700"/>
              <a:ext cx="205740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2241" y="3853815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4514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2732" y="467868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行冲突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018" y="5060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关旧抽屉，再开新的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33650" y="4619625"/>
              <a:ext cx="876300" cy="53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51430" y="47777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25393" y="4793932"/>
              <a:ext cx="788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tRP 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62500" y="4619625"/>
              <a:ext cx="8763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80280" y="47777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4718" y="4793932"/>
              <a:ext cx="919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00900" y="4619625"/>
              <a:ext cx="8382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70038" y="47777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64068" y="4793932"/>
              <a:ext cx="6739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391650" y="4619625"/>
              <a:ext cx="226695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99091" y="4777740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4256" y="5482590"/>
            <a:ext cx="11134344" cy="918210"/>
            <a:chOff x="524256" y="5482590"/>
            <a:chExt cx="11134344" cy="918210"/>
          </a:xfrm>
        </p:grpSpPr>
        <p:sp>
          <p:nvSpPr>
            <p:cNvPr id="42" name="TextBox 42"/>
            <p:cNvSpPr txBox="1"/>
            <p:nvPr/>
          </p:nvSpPr>
          <p:spPr>
            <a:xfrm>
              <a:off x="524256" y="5482590"/>
              <a:ext cx="769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还计算命令间隔、ACT 速率、读写切换和刷新；写请求对应 WR / WL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29750" y="6009322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同样的字节数，行状态和排队也会改变访问延迟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46" name="TextBox 46"/>
            <p:cNvSpPr txBox="1"/>
            <p:nvPr/>
          </p:nvSpPr>
          <p:spPr>
            <a:xfrm>
              <a:off x="527304" y="6566535"/>
              <a:ext cx="6748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本页为 jedec_hbm 路径　｜　概念顺序，非按时长比例；ACT=开行，PRE=关行，RL=读延迟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9626489" cy="1421511"/>
            <a:chOff x="515874" y="311468"/>
            <a:chExt cx="9626489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991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03 HBF 页服务与读缓冲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73688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HBF：整页取货，用双缓冲衔接三段服务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96188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示例：16 die × 25 plane / 堆，4 KiB 页；连续页先分散到 die 通道，再轮换 plane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23494" y="1999298"/>
            <a:ext cx="11135106" cy="2069591"/>
            <a:chOff x="523494" y="1999298"/>
            <a:chExt cx="11135106" cy="2069591"/>
          </a:xfrm>
        </p:grpSpPr>
        <p:sp>
          <p:nvSpPr>
            <p:cNvPr id="6" name="TextBox 6"/>
            <p:cNvSpPr txBox="1"/>
            <p:nvPr/>
          </p:nvSpPr>
          <p:spPr>
            <a:xfrm>
              <a:off x="523494" y="1999298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缓存未命中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33400" y="2428875"/>
              <a:ext cx="2095500" cy="1200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5078" y="26498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阵列读取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91895" y="3127058"/>
              <a:ext cx="11785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PAGE_READ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35021" y="283940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333750" y="2428875"/>
              <a:ext cx="2095500" cy="120015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05428" y="26498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内部传输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84626" y="312705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占用 die 内部通道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25846" y="283940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134100" y="2428875"/>
              <a:ext cx="198120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325" y="2558415"/>
              <a:ext cx="14247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槽 A · ready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134100" y="3133725"/>
              <a:ext cx="1981200" cy="495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325" y="3263265"/>
              <a:ext cx="14247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槽 B · ready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1896" y="283940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20150" y="2428875"/>
              <a:ext cx="2838450" cy="1200150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63303" y="26498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出口传输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68485" y="3127058"/>
              <a:ext cx="1741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HOST_TRANSFER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25718" y="3746182"/>
              <a:ext cx="22602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plane 两槽读缓冲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3494" y="4180522"/>
            <a:ext cx="8433302" cy="787337"/>
            <a:chOff x="523494" y="4180522"/>
            <a:chExt cx="8433302" cy="787337"/>
          </a:xfrm>
        </p:grpSpPr>
        <p:sp>
          <p:nvSpPr>
            <p:cNvPr id="25" name="TextBox 25"/>
            <p:cNvSpPr txBox="1"/>
            <p:nvPr/>
          </p:nvSpPr>
          <p:spPr>
            <a:xfrm>
              <a:off x="523494" y="418052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缓存命中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76144" y="4180522"/>
              <a:ext cx="62806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跳过阵列与内部填充，但仍等 slot.ready 和出口资源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76906" y="4615815"/>
              <a:ext cx="54703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填完才能读；旧读者结束才能覆盖（reader_end）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3494" y="5199698"/>
            <a:ext cx="10108921" cy="381381"/>
            <a:chOff x="523494" y="5199698"/>
            <a:chExt cx="10108921" cy="381381"/>
          </a:xfrm>
        </p:grpSpPr>
        <p:sp>
          <p:nvSpPr>
            <p:cNvPr id="29" name="TextBox 29"/>
            <p:cNvSpPr txBox="1"/>
            <p:nvPr/>
          </p:nvSpPr>
          <p:spPr>
            <a:xfrm>
              <a:off x="523494" y="519969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写入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76144" y="5199698"/>
              <a:ext cx="39180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 → 内部传输 → program 结束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21243" y="5232082"/>
              <a:ext cx="22111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部分页写可另付 RMW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33" name="Rectangle 33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804732" y="6009322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双缓冲允许重叠，但填充、读者寿命和传输竞争都要计时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527304" y="6566535"/>
              <a:ext cx="7113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generic_nand 基线：无默认 FTL / GC　｜　示例输入：读页 1 μs，program 100 μs，非本次测量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7001637" cy="1421511"/>
            <a:chOff x="515874" y="311468"/>
            <a:chExt cx="7001637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214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04 资源时间线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700163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同一条路要排队，不同资源可重叠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68975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每个阶段都要等“数据已准备好”和“所需资源空闲”两个条件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3494" y="2076450"/>
            <a:ext cx="11135106" cy="2510409"/>
            <a:chOff x="523494" y="2076450"/>
            <a:chExt cx="11135106" cy="2510409"/>
          </a:xfrm>
        </p:grpSpPr>
        <p:sp>
          <p:nvSpPr>
            <p:cNvPr id="6" name="TextBox 6"/>
            <p:cNvSpPr txBox="1"/>
            <p:nvPr/>
          </p:nvSpPr>
          <p:spPr>
            <a:xfrm>
              <a:off x="523494" y="2132648"/>
              <a:ext cx="11424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 示例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5018" y="2526982"/>
              <a:ext cx="10829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同一 plane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5018" y="28698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及其传输资源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4006" y="215836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阵列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34006" y="2910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内部通道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34006" y="3663315"/>
              <a:ext cx="11087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 出口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714750" y="2419350"/>
              <a:ext cx="7943850" cy="9525"/>
            </a:xfrm>
            <a:custGeom>
              <a:avLst/>
              <a:gdLst/>
              <a:ahLst/>
              <a:cxnLst/>
              <a:rect l="l" t="t" r="r" b="b"/>
              <a:pathLst>
                <a:path w="7943850" h="9525">
                  <a:moveTo>
                    <a:pt x="0" y="0"/>
                  </a:moveTo>
                  <a:lnTo>
                    <a:pt x="79438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714750" y="3171825"/>
              <a:ext cx="7943850" cy="9525"/>
            </a:xfrm>
            <a:custGeom>
              <a:avLst/>
              <a:gdLst/>
              <a:ahLst/>
              <a:cxnLst/>
              <a:rect l="l" t="t" r="r" b="b"/>
              <a:pathLst>
                <a:path w="7943850" h="9525">
                  <a:moveTo>
                    <a:pt x="0" y="0"/>
                  </a:moveTo>
                  <a:lnTo>
                    <a:pt x="79438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714750" y="3924300"/>
              <a:ext cx="7943850" cy="9525"/>
            </a:xfrm>
            <a:custGeom>
              <a:avLst/>
              <a:gdLst/>
              <a:ahLst/>
              <a:cxnLst/>
              <a:rect l="l" t="t" r="r" b="b"/>
              <a:pathLst>
                <a:path w="7943850" h="9525">
                  <a:moveTo>
                    <a:pt x="0" y="0"/>
                  </a:moveTo>
                  <a:lnTo>
                    <a:pt x="79438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29050" y="2076450"/>
              <a:ext cx="1457325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178960" y="2177415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读页 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400800" y="2076450"/>
              <a:ext cx="1457325" cy="438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50710" y="2177415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读页 B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81625" y="2828925"/>
              <a:ext cx="895350" cy="438150"/>
            </a:xfrm>
            <a:prstGeom prst="rect">
              <a:avLst/>
            </a:prstGeom>
            <a:solidFill>
              <a:srgbClr val="FBECDD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83326" y="2929890"/>
              <a:ext cx="491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填 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953375" y="2828925"/>
              <a:ext cx="895350" cy="438150"/>
            </a:xfrm>
            <a:prstGeom prst="rect">
              <a:avLst/>
            </a:prstGeom>
            <a:solidFill>
              <a:srgbClr val="FBECDD"/>
            </a:solidFill>
            <a:ln w="9525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55076" y="2929890"/>
              <a:ext cx="491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填 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400800" y="3581400"/>
              <a:ext cx="2305050" cy="438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179335" y="3682365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A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972550" y="3581400"/>
              <a:ext cx="2305050" cy="438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51085" y="3682365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B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5286375" y="2524125"/>
              <a:ext cx="3686175" cy="1047750"/>
            </a:xfrm>
            <a:custGeom>
              <a:avLst/>
              <a:gdLst/>
              <a:ahLst/>
              <a:cxnLst/>
              <a:rect l="l" t="t" r="r" b="b"/>
              <a:pathLst>
                <a:path w="3686175" h="1047750">
                  <a:moveTo>
                    <a:pt x="0" y="0"/>
                  </a:moveTo>
                  <a:lnTo>
                    <a:pt x="95250" y="295275"/>
                  </a:lnTo>
                  <a:moveTo>
                    <a:pt x="990600" y="752475"/>
                  </a:moveTo>
                  <a:lnTo>
                    <a:pt x="1114425" y="1047750"/>
                  </a:lnTo>
                  <a:moveTo>
                    <a:pt x="2571750" y="0"/>
                  </a:moveTo>
                  <a:lnTo>
                    <a:pt x="2667000" y="295275"/>
                  </a:lnTo>
                  <a:moveTo>
                    <a:pt x="3562350" y="752475"/>
                  </a:moveTo>
                  <a:lnTo>
                    <a:pt x="3686175" y="10477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91656" y="4234815"/>
              <a:ext cx="44092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读 B 可与输出 A 重叠　｜　时间向右 →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3494" y="4771072"/>
            <a:ext cx="8890140" cy="840867"/>
            <a:chOff x="523494" y="4771072"/>
            <a:chExt cx="8890140" cy="840867"/>
          </a:xfrm>
        </p:grpSpPr>
        <p:sp>
          <p:nvSpPr>
            <p:cNvPr id="30" name="TextBox 30"/>
            <p:cNvSpPr txBox="1"/>
            <p:nvPr/>
          </p:nvSpPr>
          <p:spPr>
            <a:xfrm>
              <a:off x="523494" y="4771072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单阶段预约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2344" y="4771072"/>
              <a:ext cx="66612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 = max（依赖就绪，资源就绪）；结束 = 开始 + 时长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5018" y="5289232"/>
              <a:ext cx="8619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HBM：同 channel 共享 Row CA / Column CA，各 PC 独立 DQ；另满足时钟和命令时序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34" name="Rectangle 34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410968" y="6009322"/>
              <a:ext cx="73700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页映射、队列准入和槽可用性限制流水；双缓冲不保证始终满速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37" name="TextBox 37"/>
            <p:cNvSpPr txBox="1"/>
            <p:nvPr/>
          </p:nvSpPr>
          <p:spPr>
            <a:xfrm>
              <a:off x="527304" y="6566535"/>
              <a:ext cx="6312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概念时间线，长短不代表数值　｜　每条资源有自己的预约日历；图中无虚构性能测量值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7115175" cy="1421511"/>
            <a:chOff x="515874" y="311468"/>
            <a:chExt cx="7115175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790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05 输出、归因与边界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算得出性能，也追得回原因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固定负载与统计口径，对比配置，并沿物理事件解释性能变化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2114550"/>
            <a:ext cx="3524250" cy="2505075"/>
            <a:chOff x="533400" y="2114550"/>
            <a:chExt cx="3524250" cy="2505075"/>
          </a:xfrm>
        </p:grpSpPr>
        <p:sp>
          <p:nvSpPr>
            <p:cNvPr id="6" name="Rectangle 6"/>
            <p:cNvSpPr/>
            <p:nvPr/>
          </p:nvSpPr>
          <p:spPr>
            <a:xfrm>
              <a:off x="533400" y="2114550"/>
              <a:ext cx="3524250" cy="105727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2297430"/>
              <a:ext cx="60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2748915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行命中 / 冲突，命令计数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3562350"/>
              <a:ext cx="3524250" cy="1057275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332" y="3745230"/>
              <a:ext cx="5388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4196715"/>
              <a:ext cx="29745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缓存命中，读页 / program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86250" y="2390775"/>
            <a:ext cx="3771900" cy="1981200"/>
            <a:chOff x="4286250" y="2390775"/>
            <a:chExt cx="3771900" cy="1981200"/>
          </a:xfrm>
        </p:grpSpPr>
        <p:sp>
          <p:nvSpPr>
            <p:cNvPr id="13" name="Freeform 13"/>
            <p:cNvSpPr/>
            <p:nvPr/>
          </p:nvSpPr>
          <p:spPr>
            <a:xfrm>
              <a:off x="4286250" y="2647950"/>
              <a:ext cx="561975" cy="1447800"/>
            </a:xfrm>
            <a:custGeom>
              <a:avLst/>
              <a:gdLst/>
              <a:ahLst/>
              <a:cxnLst/>
              <a:rect l="l" t="t" r="r" b="b"/>
              <a:pathLst>
                <a:path w="561975" h="1447800">
                  <a:moveTo>
                    <a:pt x="0" y="0"/>
                  </a:moveTo>
                  <a:lnTo>
                    <a:pt x="257175" y="0"/>
                  </a:lnTo>
                  <a:lnTo>
                    <a:pt x="257175" y="723900"/>
                  </a:lnTo>
                  <a:moveTo>
                    <a:pt x="0" y="1447800"/>
                  </a:moveTo>
                  <a:lnTo>
                    <a:pt x="257175" y="1447800"/>
                  </a:lnTo>
                  <a:lnTo>
                    <a:pt x="257175" y="723900"/>
                  </a:lnTo>
                  <a:lnTo>
                    <a:pt x="561975" y="7239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010150" y="2390775"/>
              <a:ext cx="3048000" cy="198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75376" y="26212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物理服务结果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16410" y="31203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完成时间 / 任务依赖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76900" y="35490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逻辑与物理字节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76989" y="3977640"/>
              <a:ext cx="21143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排队 / 各资源 busy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16671" y="2583180"/>
            <a:ext cx="3273003" cy="1731073"/>
            <a:chOff x="8416671" y="2583180"/>
            <a:chExt cx="3273003" cy="1731073"/>
          </a:xfrm>
        </p:grpSpPr>
        <p:sp>
          <p:nvSpPr>
            <p:cNvPr id="20" name="TextBox 20"/>
            <p:cNvSpPr txBox="1"/>
            <p:nvPr/>
          </p:nvSpPr>
          <p:spPr>
            <a:xfrm>
              <a:off x="8416671" y="320135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28557" y="2583180"/>
              <a:ext cx="15087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吞吐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8557" y="3249930"/>
              <a:ext cx="22119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 Token：TTFT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9319" y="3932872"/>
              <a:ext cx="26603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平均输出间隔：TPOT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3494" y="5028248"/>
            <a:ext cx="9186005" cy="745617"/>
            <a:chOff x="523494" y="5028248"/>
            <a:chExt cx="9186005" cy="745617"/>
          </a:xfrm>
        </p:grpSpPr>
        <p:sp>
          <p:nvSpPr>
            <p:cNvPr id="25" name="TextBox 25"/>
            <p:cNvSpPr txBox="1"/>
            <p:nvPr/>
          </p:nvSpPr>
          <p:spPr>
            <a:xfrm>
              <a:off x="523494" y="50282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指标口径要分开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23844" y="5028248"/>
              <a:ext cx="63856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服务跨度 service_ns ≠ 资源 busy ≠ 总耗时 makespan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25368" y="5451158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服务跨度可以重叠；读资源占用，才能判断等待落在何处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29" name="Rectangle 29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09800" y="6025515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参数分为标准参考、论文输入与研究假设；结果尚未经目标芯片实测校准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527304" y="656653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用于机制分析与配置比较　｜　讲解备注附源码入口与参数范围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bm_hbf_executive">
  <a:themeElements>
    <a:clrScheme name="hbm_hbf_executive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B5C3CF"/>
      </a:accent6>
      <a:hlink>
        <a:srgbClr val="B96628"/>
      </a:hlink>
      <a:folHlink>
        <a:srgbClr val="526479"/>
      </a:folHlink>
    </a:clrScheme>
    <a:fontScheme name="hbm_hbf_executiv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bm_hbf_executive">
  <a:themeElements>
    <a:clrScheme name="hbm_hbf_executive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B5C3CF"/>
      </a:accent6>
      <a:hlink>
        <a:srgbClr val="B96628"/>
      </a:hlink>
      <a:folHlink>
        <a:srgbClr val="526479"/>
      </a:folHlink>
    </a:clrScheme>
    <a:fontScheme name="hbm_hbf_executiv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2026-10-26T09:42:25Z</dcterms:created>
  <dcterms:modified xsi:type="dcterms:W3CDTF">2026-10-26T09:42:25Z</dcterms:modified>
  <cp:category/>
  <cp:contentStatus/>
</cp:coreProperties>
</file>