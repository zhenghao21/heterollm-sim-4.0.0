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  <Relationship Id="rId25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这份演示解释当前工作区中的 HBM 和 HBF 建模实现。一条逻辑访存首先解析成带地址和字节数的物理请求，再分别进入 DramCore 或 NandCore。两条介质路径共同使用资源时间线，将介质状态、资源竞争与任务依赖转化成完成事件。理解结果时，需要同时追踪地址、状态与时间，而不能只看标称带宽。内容依据当前工作区源码；本次制作没有新增性能仿真，也不代表厂商芯片校准。核心入口为 src/heterollm_sim/data_motion.py:314、1330，以及 dram_core.py 与 nand_core.py。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完整链路分六步。模型、批量、上下文和并行配置决定权重、KV 与激活访问；planner 再组织任务、放置和依赖。分配器将缓冲区与偏移解析成物理 owner 和地址范围。任务真正到达时，运行上下文调用保持状态的物理 Core，而不是直接接受规划时的预览延迟。Core 返回完成时间和资源需求后，事件内核推进后继任务，reporting 汇总流量、资源忙碌与 Token 指标。对应源码是 src/heterollm_sim/planner.py:8975、16306、19067，data_motion.py:1151、1330–1496，event_kernel.py:685，以及 reporting.py:632、780。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HBM 由 DramConfig 配置、DramCore 执行，JEDEC HBM 路径按三十二字节 burst 服务，关键状态是打开的行、命令总线、数据总线以及刷新。HBF 使用 NandConfig 和 NandCore，当前论文原生配置按四 KiB 页服务，关键状态是 plane 阵列、读缓冲和各段传输。两条路径共同接收操作、地址、字节数和到达时间，最终返回完成时间。三十二字节属于 JEDEC HBM 模式，四 KiB 属于这里举例的论文原生配置，不能扩展成所有配置的固定要求。见 src/heterollm_sim/memory_types.py:243、404、659，memory_mapping.py:172、212。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三组输入分别决定需求、位置与服务约束。工作负载中，模型结构、精度、批量、上下文与并行配置决定访问量。放置配置给每个 rank 指定权重、KV 和激活端点，并约束分配释放以及缓冲区代次。硬件配置提供容量、通道与 bank 或 plane 几何、方向带宽、时延、队列和协议策略。容量决定是否可以容纳，地址与时序决定请求如何执行，接口峰值限制传输上限。组件汇总带宽不能覆盖物理 Core 的实际服务过程。见 src/heterollm_sim/physical_contract.py:154–200、260–292，以及 memory_types.py。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权重读取使用相应张量和 rank 分片的真实字节；KV 区分历史读取和新 token 追加；激活依据元素数量和存储位宽换算。每条 memory_accesses 描述给出 operation、physical_owner、byte_count，以及显式 address 或 buffer_id 加 offset_bytes。分配器在解析时检查容量、生命周期与分配代次。随后 HBM 拆 burst，HBF 拆 page，并映射到各自资源。逻辑有效字节和物理流量分别统计，因为部分 burst、传输粒度以及读改写可能增加实际流量。见 src/heterollm_sim/planner.py:16306、19067，data_motion.py:1151、1207–1235，以及 memory_mapping.py:172、212。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图中采用 HBM4 参考组织：每堆三十二个物理 channel，每个 channel 两个 pseudo-channel，也就是 PC。bank 地址继续包含 SID 与 bank group，再确定 row。标准组织中的 SID 已扩展 bank 地址，不能再把容量重复乘 die 数。默认 bank_interleaved 先分散 lane，然后推进 bank、column 和 row。当前 bank 步进在同一 SID 内先轮换 bank group，每组八个 bank 的例子是零、八、一、九。这样会改变同组与异组的连续访问关系，也会影响时序和并行机会。见 src/heterollm_sim/hbm_geometry.py:102、137，memory_mapping.py:18、47，以及 _hbm_control.py:60、105。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analytical 和 jedec_hbm 是两种不同的控制精度。analytical 使用简化 DRAM 服务规则，不模拟刷新与 tRAS。jedec_hbm 显式执行 ACT、PRE、RD、WR 和全 bank REF，将打开行、共享命令总线、PC 数据总线、列命令间隔、ACT 速率和方向切换都纳入时间线。后面几页解释的是 jedec_hbm。它覆盖正常工作命令，仍不包含训练、自动预充电和完整刷新推迟策略等电路与协议细节。执行加速只替换执行方式，不把 JEDEC 模型偷偷改成 analytical。见 src/heterollm_sim/dram_core.py:90、423、483，以及 _hbm_control.py:1。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行命中时目标行已经打开，读请求执行 RD，经过读流水延迟 RL，再占用 DQ 传输数据。bank 关闭时，要先发 ACT，等待 tRCD 后才能 RD。行冲突则先 PRE 关闭旧行，等待 tRP，再 ACT 打开新行，随后执行相同读取链。写操作对应 WR 与 WL。这说明相同字节数并不保证相同延迟。图只表达顺序，不按真实时长比例，且 ACT 的精细阵列锚点由控制器处理。一个请求完成于所有 burst 数据结束时间的最大值。见 src/heterollm_sim/_hbm_control.py:145、157、183、490、547、584。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同一个物理 channel 的两个 PC 共享 Row CA 与 Column CA，但各自拥有 DQ，所以两条数据传输可以部分重叠。命令并非到达就能发射，而是综合请求就绪、bank 可用、总线空闲与各项时序约束，再做时钟对齐。约束包括 tCCD、tRRD、四激活窗口 tFAW 和方向切换。当前实现有限前瞻后续 burst，提前 PRE 后续冲突行；all_bank 刷新也占用资源，tRASmax 即使关闭刷新也生效。图没有数值刻度，只展示共享和重叠。submit_many 的 FCFS、行命中优先或读写批处理选择的是整条请求，并不是逐命令 FR-FCFS。见 src/heterollm_sim/_hbm_control.py:25、121、206、279、318、364、458、569，dram_core.py:483。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当前论文原生 HBF 配置每堆十六个 die，每个 die 二十五个 plane，每页四 KiB。代码将每个实际 die 映成一个内部 channel，每个 plane 提供独立阵列资源，而不是根据目标带宽反推出并行度。连续页先分配到 base units，也就是这里的 die 通道，再轮转 plane，之后推进 block 内 page。因此七堆配置有一百一十二个内部通道和两千八百个独立阵列单元。内部通道与 host 出口还有自己的带宽限制；并行资源多也不会消除页读取延迟。见 scripts/exploring_hbf_paper_config.py:153、289、317，src/heterollm_sim/memory_mapping.py:124、132，memory_types.py:813。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请求先通过队列 credit 准入，再按页拆分、映射并查找对应 plane 的两个 slot。缓存未命中时，先在 plane 阵列执行 PAGE_READ，再通过内部通道执行 INTERNAL_TRANSFER，将数据填到 slot，最后 HOST_TRANSFER 返回数据。每段分别预约资源，同资源排队，独立资源可以在依赖允许时重叠。缓存命中会跳过阵列读取与内部搬运，但仍要等待 slot 填充就绪和 host 资源。请求完成时间取各页完成时间最大值，延迟从原始到达算起，因此包含准入等待。见 src/heterollm_sim/nand_core.py:537、549、553、1900、1919、1923、1937。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每个实际 plane 维护两个读缓存 slot，每槽保存 page 标识、填充完成时间和读者完成时间。命中时先等 ready；未命中时选空槽或最近最少使用的槽，覆盖前的内部搬运必须等待旧读者结束。这既允许流水重叠，也保留真实的覆盖等待。每堆容量为十六乘二十五乘二乘四千零九十六，总共三百二十七万六千八百字节，即三点一二五 MiB。它属于媒体页缓冲，与 Plus 配置每堆四十 MB 的中间数据 SRAM 分开；本基线也没有自主预测预取控制器，读请求驱动填充。见 src/heterollm_sim/nand_core.py:647、666、1900、1925，scripts/exploring_hbf_paper_config.py:276、325、334。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完整页写入依次经历 host 传输、内部传输、阵列 program，最后一个阶段结束才算完成。部分页写按配置拒绝，或者执行付费 read-modify-write，也就是先读旧页并内部搬运，再执行新页编程。显式 erase 按物理 block 去重并占用阵列资源。当前论文原生基线使用 generic_nand，是直接地址页服务，没有默认 FTL、垃圾回收和自动擦除。NandCore 也支持 OCP 模式，但 OCP 的 page 零自动 erase、顺序 program 等约束不能混进 generic 基线。见 src/heterollm_sim/nand_core.py:1861、1958、1964、1982，memory_mapping.py:216，memory_types.py:739。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跨端点 COPY 展开为源 Core 读取、链路传输、目标 Core 写入，目标写完成后搬运才结束。三个阶段分别支付介质与链路成本，物理 owner 的别名共享资源归属。不同请求在独立资源上可以重叠，同资源需要等待。同一地址的先写后读、先读后写和连续写必须保留 RAW、WAR、WAW 依赖，只读请求之间没有这类完成依赖。任务实际 dispatch 时提交有状态 Core，完成事件再释放后继。部分原生 kernel 使用其他资源跨度与 Core 内存跨度的最大值，加 dependency_ns 形成包络，仍属于任务级模型，不能解释为 GPU 指令级回放。见 src/heterollm_sim/data_motion.py:1261–1282、1330–1496、1730–1775、2573–2647，memory_transfer.py:263–335。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Core 同时输出完成时间、逻辑与物理流量、等待和各资源占用。HBM 关注行命中、冲突和 ACT、PRE、RD、WR、REF 次数，以及命令总线和数据总线忙碌。HBF 关注缓存命中、实际读页与 program 次数，以及 array、internal 和 host 三种资源。系统层再统计整体 makespan、吞吐以及边界一致的 TTFT 和 TPOT。请求延迟等于完成减到达，有效带宽是逻辑字节除以相应时间窗。service_ns 累加各任务各 owner 的服务跨度，这些跨度可能重叠，不能当整体耗时或总线忙碌；资源忙碌应读 resource_totals。见 src/heterollm_sim/memory_types.py:899、911，memory_service.py:26–84，reporting.py:632、2113、2174–2246。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仿真器通过减少执行开销来加速。HBM 可使用 Numba 数值路径、数组常驻状态和批量提交，仍执行所选 JEDEC 时序与资源预约。NAND 编译逐页循环，减少对象与明细成本，同时保留每页缓存访问、填充完成和读者覆盖依赖。两者都有适用条件与参考实现，不适用时使用参考执行方式。执行加速不意味着切换到 analytical，也不意味着参数已经与真实硬件测量校准。本页强调的是软件执行和物理模型的区分。见 src/heterollm_sim/dram_core.py:423、527，_compiled_hbm.py:92，_nand_acceleration.py:1、59，以及 tests/test_nand_generic_buffered_acceleration.py:63、109、203。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这一页只列项目输入，未展示本次测量结果。hardware_catalog 的 HBM4 配置每 GPU 八堆 HBM，读写接口预算都是十二点八 TB 每秒。HBF 配置每 GPU 七堆 HBF 加一堆 HBM，HBF 聚合读带宽十一点二 TB 每秒，写带宽一百一十二 GB 每秒；每堆十六 die、二十五 plane，读页一微秒、program 一百微秒。输入有来源层次。HBM4 的 tRRD 同异组与 tFAW 借用 HBM3E 参考，分别为四、六、二十纳秒。NAND 的二百五十六页每 block、两毫秒 erase、每 die 通道一百 GB 每秒，属于显式本地研究选择。它们不是已校准的厂商实测参数，聚合峰值也不是持续吞吐。见 scripts/exploring_hbf_paper_config.py:144–156、207–258、272–327。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理解仿真结果可以始终沿四个抓手检查：请求描述、物理地址、介质状态和资源时间线。HBM 重点看行状态、命令与共享总线；HBF 重点看页、双缓冲与阵列到内部再到 host 的三段传输。出现性能变化时，先确认访问量和放置，再追到地址分布、命中与冲突，最后确认等待落在哪种资源。配置和映射入口为 src/heterollm_sim/memory_types.py 与 memory_mapping.py，HBM 控制器为 _hbm_control.py，HBF 为 nand_core.py，系统连接与统计为 data_motion.py 和 reporting.py。每条解释都应有这条完整因果链支撑。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hbm_hbf_modelin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hbm_hbf_modeling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90550" y="726758"/>
            <a:ext cx="3742182" cy="4364926"/>
            <a:chOff x="590550" y="726758"/>
            <a:chExt cx="3742182" cy="4364926"/>
          </a:xfrm>
        </p:grpSpPr>
        <p:sp>
          <p:nvSpPr>
            <p:cNvPr id="2" name="TextBox 2"/>
            <p:cNvSpPr txBox="1"/>
            <p:nvPr/>
          </p:nvSpPr>
          <p:spPr>
            <a:xfrm>
              <a:off x="601218" y="726758"/>
              <a:ext cx="35295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CCD6DF"/>
                  </a:solidFill>
                  <a:latin typeface="+mn-lt"/>
                  <a:ea typeface="+mn-ea"/>
                  <a:cs typeface="+mn-cs"/>
                </a:rPr>
                <a:t>HeteroLLM-Sim · 当前工作区实现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1815465"/>
              <a:ext cx="337163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HBM / HBF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2625090"/>
              <a:ext cx="262280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建模流程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37794" y="3818572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同一条访存请求，两套物理规则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8556" y="4377690"/>
              <a:ext cx="27614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rgbClr val="CCD6DF"/>
                  </a:solidFill>
                  <a:latin typeface="+mn-lt"/>
                  <a:ea typeface="+mn-ea"/>
                  <a:cs typeface="+mn-cs"/>
                </a:rPr>
                <a:t>地址、介质状态与资源竞争</a:t>
              </a:r>
              <a:br/>
              <a:r>
                <a:rPr lang="zh-CN" sz="1800" dirty="0">
                  <a:solidFill>
                    <a:srgbClr val="CCD6DF"/>
                  </a:solidFill>
                  <a:latin typeface="+mn-lt"/>
                  <a:ea typeface="+mn-ea"/>
                  <a:cs typeface="+mn-cs"/>
                </a:rPr>
                <a:t>怎样共同决定完成时间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029450" y="1657350"/>
            <a:ext cx="4552950" cy="3714750"/>
            <a:chOff x="7029450" y="1657350"/>
            <a:chExt cx="4552950" cy="3714750"/>
          </a:xfrm>
        </p:grpSpPr>
        <p:sp>
          <p:nvSpPr>
            <p:cNvPr id="8" name="Rectangle 8"/>
            <p:cNvSpPr/>
            <p:nvPr/>
          </p:nvSpPr>
          <p:spPr>
            <a:xfrm>
              <a:off x="8039100" y="1657350"/>
              <a:ext cx="2381250" cy="5524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94801" y="18087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张量访问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7886700" y="2238375"/>
              <a:ext cx="2647950" cy="600075"/>
            </a:xfrm>
            <a:custGeom>
              <a:avLst/>
              <a:gdLst/>
              <a:ahLst/>
              <a:cxnLst/>
              <a:rect l="l" t="t" r="r" b="b"/>
              <a:pathLst>
                <a:path w="2647950" h="600075">
                  <a:moveTo>
                    <a:pt x="1343025" y="0"/>
                  </a:moveTo>
                  <a:lnTo>
                    <a:pt x="1343025" y="266700"/>
                  </a:lnTo>
                  <a:lnTo>
                    <a:pt x="0" y="266700"/>
                  </a:lnTo>
                  <a:lnTo>
                    <a:pt x="0" y="600075"/>
                  </a:lnTo>
                  <a:moveTo>
                    <a:pt x="1343025" y="266700"/>
                  </a:moveTo>
                  <a:lnTo>
                    <a:pt x="2647950" y="266700"/>
                  </a:lnTo>
                  <a:lnTo>
                    <a:pt x="2647950" y="600075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7029450" y="2857500"/>
              <a:ext cx="1905000" cy="114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38197" y="3036570"/>
              <a:ext cx="6875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HBM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07592" y="3510915"/>
              <a:ext cx="11487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DramCore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467850" y="2857500"/>
              <a:ext cx="2114550" cy="114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17216" y="3036570"/>
              <a:ext cx="6158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HBF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975342" y="3510915"/>
              <a:ext cx="10995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NandCore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7981950" y="4029075"/>
              <a:ext cx="2543175" cy="609600"/>
            </a:xfrm>
            <a:custGeom>
              <a:avLst/>
              <a:gdLst/>
              <a:ahLst/>
              <a:cxnLst/>
              <a:rect l="l" t="t" r="r" b="b"/>
              <a:pathLst>
                <a:path w="2543175" h="609600">
                  <a:moveTo>
                    <a:pt x="0" y="0"/>
                  </a:moveTo>
                  <a:lnTo>
                    <a:pt x="0" y="342900"/>
                  </a:lnTo>
                  <a:lnTo>
                    <a:pt x="1247775" y="342900"/>
                  </a:lnTo>
                  <a:moveTo>
                    <a:pt x="2543175" y="0"/>
                  </a:moveTo>
                  <a:lnTo>
                    <a:pt x="2543175" y="342900"/>
                  </a:lnTo>
                  <a:lnTo>
                    <a:pt x="1247775" y="342900"/>
                  </a:lnTo>
                  <a:lnTo>
                    <a:pt x="1247775" y="6096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00950" y="4657725"/>
              <a:ext cx="3238500" cy="7143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78061" y="4894898"/>
              <a:ext cx="268427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共享时间线 → 完成事件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3504" y="6388418"/>
            <a:ext cx="10985754" cy="264033"/>
            <a:chOff x="603504" y="6388418"/>
            <a:chExt cx="10985754" cy="264033"/>
          </a:xfrm>
        </p:grpSpPr>
        <p:sp>
          <p:nvSpPr>
            <p:cNvPr id="21" name="TextBox 21"/>
            <p:cNvSpPr txBox="1"/>
            <p:nvPr/>
          </p:nvSpPr>
          <p:spPr>
            <a:xfrm>
              <a:off x="603504" y="6404610"/>
              <a:ext cx="52623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D6DF"/>
                  </a:solidFill>
                  <a:latin typeface="+mn-lt"/>
                  <a:ea typeface="+mn-ea"/>
                  <a:cs typeface="+mn-cs"/>
                </a:rPr>
                <a:t>2026.10.26　｜　流程、结构与时序图解　｜　参数示例均标明配置范围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667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CCD6DF"/>
                  </a:solidFill>
                  <a:latin typeface="+mn-lt"/>
                  <a:ea typeface="+mn-ea"/>
                  <a:cs typeface="+mn-cs"/>
                </a:rPr>
                <a:t>01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3598" y="593408"/>
            <a:ext cx="342442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仿真器的完整链路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456" y="1196340"/>
            <a:ext cx="611276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先生成访问，再让有状态的物理 Core 计算实际完成时间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609600" y="1933575"/>
            <a:ext cx="11104912" cy="3305175"/>
            <a:chOff x="609600" y="1933575"/>
            <a:chExt cx="11104912" cy="3305175"/>
          </a:xfrm>
        </p:grpSpPr>
        <p:sp>
          <p:nvSpPr>
            <p:cNvPr id="4" name="Line 4"/>
            <p:cNvSpPr/>
            <p:nvPr/>
          </p:nvSpPr>
          <p:spPr>
            <a:xfrm>
              <a:off x="2095500" y="2619375"/>
              <a:ext cx="8001000" cy="9525"/>
            </a:xfrm>
            <a:custGeom>
              <a:avLst/>
              <a:gdLst/>
              <a:ahLst/>
              <a:cxnLst/>
              <a:rect l="l" t="t" r="r" b="b"/>
              <a:pathLst>
                <a:path w="8001000" h="9525">
                  <a:moveTo>
                    <a:pt x="0" y="0"/>
                  </a:moveTo>
                  <a:lnTo>
                    <a:pt x="8001000" y="0"/>
                  </a:lnTo>
                </a:path>
              </a:pathLst>
            </a:custGeom>
            <a:noFill/>
            <a:ln w="38100">
              <a:solidFill>
                <a:schemeClr val="accent6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0239375" y="2619375"/>
              <a:ext cx="9525" cy="1905000"/>
            </a:xfrm>
            <a:custGeom>
              <a:avLst/>
              <a:gdLst/>
              <a:ahLst/>
              <a:cxnLst/>
              <a:rect l="l" t="t" r="r" b="b"/>
              <a:pathLst>
                <a:path w="9525" h="1905000">
                  <a:moveTo>
                    <a:pt x="0" y="0"/>
                  </a:moveTo>
                  <a:lnTo>
                    <a:pt x="0" y="1905000"/>
                  </a:lnTo>
                </a:path>
              </a:pathLst>
            </a:custGeom>
            <a:noFill/>
            <a:ln w="38100">
              <a:solidFill>
                <a:schemeClr val="accent6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2095500" y="4524375"/>
              <a:ext cx="8001000" cy="9525"/>
            </a:xfrm>
            <a:custGeom>
              <a:avLst/>
              <a:gdLst/>
              <a:ahLst/>
              <a:cxnLst/>
              <a:rect l="l" t="t" r="r" b="b"/>
              <a:pathLst>
                <a:path w="8001000" h="9525">
                  <a:moveTo>
                    <a:pt x="0" y="0"/>
                  </a:moveTo>
                  <a:lnTo>
                    <a:pt x="8001000" y="0"/>
                  </a:lnTo>
                </a:path>
              </a:pathLst>
            </a:custGeom>
            <a:noFill/>
            <a:ln w="3810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52475" y="1933575"/>
              <a:ext cx="476250" cy="476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1134" y="20697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09600" y="2428875"/>
              <a:ext cx="3048000" cy="10763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8294" y="26088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工作负载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3031808"/>
              <a:ext cx="29819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模型 / Batch / 上下文 / 并行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4714875" y="1933575"/>
              <a:ext cx="476250" cy="476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883534" y="20697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72000" y="2428875"/>
              <a:ext cx="3048000" cy="10763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90694" y="2608898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任务与放置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92218" y="3031808"/>
              <a:ext cx="29621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权重 / KV / 激活 → 存储端点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8677275" y="1933575"/>
              <a:ext cx="476250" cy="476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45934" y="206978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534400" y="2428875"/>
              <a:ext cx="3048000" cy="10763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53094" y="2608898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物理地址绑定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54618" y="3031808"/>
              <a:ext cx="29598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owner + 地址范围 + 生命周期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534400" y="4086225"/>
              <a:ext cx="3048000" cy="1152525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753094" y="4266248"/>
              <a:ext cx="22873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　介质 Core 执行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54618" y="4717732"/>
              <a:ext cx="24223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HBM 命令 / HBF 页服务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572000" y="4086225"/>
              <a:ext cx="3048000" cy="11525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790694" y="4266248"/>
              <a:ext cx="2271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　事件与资源推进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92218" y="47177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并行、排队、完成后触发后继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" y="4086225"/>
              <a:ext cx="3048000" cy="11525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8294" y="4266248"/>
              <a:ext cx="14839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　结果统计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9818" y="4717732"/>
              <a:ext cx="32740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流量 / 忙碌 / 延迟 / Token 吞吐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50208" y="256984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12608" y="256984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12608" y="452247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950208" y="452247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←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599694" y="5694998"/>
            <a:ext cx="6888385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规划阶段的预览值，会在任务实际到达时由 Core 结果替换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603504" y="6388418"/>
            <a:ext cx="10985754" cy="264033"/>
            <a:chOff x="603504" y="6388418"/>
            <a:chExt cx="10985754" cy="264033"/>
          </a:xfrm>
        </p:grpSpPr>
        <p:sp>
          <p:nvSpPr>
            <p:cNvPr id="37" name="TextBox 37"/>
            <p:cNvSpPr txBox="1"/>
            <p:nvPr/>
          </p:nvSpPr>
          <p:spPr>
            <a:xfrm>
              <a:off x="603504" y="6404610"/>
              <a:ext cx="5456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源码：planner.py · data_motion.py · event_kernel.py · reporting.py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667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3598" y="593408"/>
            <a:ext cx="384848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两种介质的建模对象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456" y="1196340"/>
            <a:ext cx="437997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共用访问契约，分别维护介质自己的状态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09600" y="1943100"/>
            <a:ext cx="10972800" cy="3904679"/>
            <a:chOff x="609600" y="1943100"/>
            <a:chExt cx="10972800" cy="3904679"/>
          </a:xfrm>
        </p:grpSpPr>
        <p:sp>
          <p:nvSpPr>
            <p:cNvPr id="4" name="Rectangle 4"/>
            <p:cNvSpPr/>
            <p:nvPr/>
          </p:nvSpPr>
          <p:spPr>
            <a:xfrm>
              <a:off x="609600" y="1943100"/>
              <a:ext cx="5105400" cy="3171825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02208" y="2160270"/>
              <a:ext cx="30208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HBM　高带宽 DRAM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4494" y="2694622"/>
              <a:ext cx="29968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DramConfig → DramCore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4494" y="3199448"/>
              <a:ext cx="20542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服务粒度：burst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5256" y="3644265"/>
              <a:ext cx="29498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JEDEC HBM 路径固定 32 B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4494" y="4218622"/>
              <a:ext cx="3432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状态：打开的行、命令与刷新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477000" y="1943100"/>
              <a:ext cx="5105400" cy="3171825"/>
            </a:xfrm>
            <a:prstGeom prst="rect">
              <a:avLst/>
            </a:prstGeom>
            <a:solidFill>
              <a:srgbClr val="FBECD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69608" y="2160270"/>
              <a:ext cx="28774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HBF　NAND 页服务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1894" y="2694622"/>
              <a:ext cx="289057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NandConfig → NandCore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71894" y="3199448"/>
              <a:ext cx="190987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服务粒度：page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72656" y="3644265"/>
              <a:ext cx="29980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论文原生配置采用 4 KiB 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71894" y="4218622"/>
              <a:ext cx="33011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状态：plane、页缓冲、传输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3162300" y="513397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9029700" y="513397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542222" y="5466398"/>
              <a:ext cx="71075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输入：操作 / 地址 / 字节数 / 到达时间　→　输出：完成时间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3504" y="6388418"/>
            <a:ext cx="10985754" cy="264033"/>
            <a:chOff x="603504" y="6388418"/>
            <a:chExt cx="10985754" cy="264033"/>
          </a:xfrm>
        </p:grpSpPr>
        <p:sp>
          <p:nvSpPr>
            <p:cNvPr id="20" name="TextBox 20"/>
            <p:cNvSpPr txBox="1"/>
            <p:nvPr/>
          </p:nvSpPr>
          <p:spPr>
            <a:xfrm>
              <a:off x="603504" y="6404610"/>
              <a:ext cx="70151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源码：memory_types.py · dram_core.py · nand_core.py　｜　具体数值属于相应模式或配置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667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3598" y="593408"/>
            <a:ext cx="384848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配置先定义物理约束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456" y="1196340"/>
            <a:ext cx="486460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访问需求、数据位置与硬件参数分别进入模型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97408" y="2045970"/>
            <a:ext cx="10562330" cy="3526155"/>
            <a:chOff x="597408" y="2045970"/>
            <a:chExt cx="10562330" cy="3526155"/>
          </a:xfrm>
        </p:grpSpPr>
        <p:sp>
          <p:nvSpPr>
            <p:cNvPr id="4" name="TextBox 4"/>
            <p:cNvSpPr txBox="1"/>
            <p:nvPr/>
          </p:nvSpPr>
          <p:spPr>
            <a:xfrm>
              <a:off x="597408" y="20459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工作负载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9694" y="2561272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模型结构、精度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9694" y="2970848"/>
              <a:ext cx="23427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Batch、上下文长度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9694" y="3380422"/>
              <a:ext cx="304312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TP / EP / PP 等并行配置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3876675" y="2047875"/>
              <a:ext cx="9525" cy="1771650"/>
            </a:xfrm>
            <a:custGeom>
              <a:avLst/>
              <a:gdLst/>
              <a:ahLst/>
              <a:cxnLst/>
              <a:rect l="l" t="t" r="r" b="b"/>
              <a:pathLst>
                <a:path w="9525" h="1771650">
                  <a:moveTo>
                    <a:pt x="0" y="0"/>
                  </a:moveTo>
                  <a:lnTo>
                    <a:pt x="0" y="17716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235958" y="204597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放置与生命周期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38244" y="2561272"/>
              <a:ext cx="259240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每个 rank 的存储端点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38244" y="2970848"/>
              <a:ext cx="207233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权重 / KV / 激活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238244" y="3380422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分配、释放、缓冲区代次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7667625" y="2047875"/>
              <a:ext cx="9525" cy="1771650"/>
            </a:xfrm>
            <a:custGeom>
              <a:avLst/>
              <a:gdLst/>
              <a:ahLst/>
              <a:cxnLst/>
              <a:rect l="l" t="t" r="r" b="b"/>
              <a:pathLst>
                <a:path w="9525" h="1771650">
                  <a:moveTo>
                    <a:pt x="0" y="0"/>
                  </a:moveTo>
                  <a:lnTo>
                    <a:pt x="0" y="17716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26908" y="20459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硬件输入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29194" y="2561272"/>
              <a:ext cx="313054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容量、通道、bank / plane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29194" y="2970848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方向带宽、时延、队列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29194" y="3380422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控制模式、协议与策略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2333625" y="3962400"/>
              <a:ext cx="7286625" cy="771525"/>
            </a:xfrm>
            <a:custGeom>
              <a:avLst/>
              <a:gdLst/>
              <a:ahLst/>
              <a:cxnLst/>
              <a:rect l="l" t="t" r="r" b="b"/>
              <a:pathLst>
                <a:path w="7286625" h="771525">
                  <a:moveTo>
                    <a:pt x="0" y="0"/>
                  </a:moveTo>
                  <a:lnTo>
                    <a:pt x="0" y="419100"/>
                  </a:lnTo>
                  <a:lnTo>
                    <a:pt x="3762375" y="419100"/>
                  </a:lnTo>
                  <a:moveTo>
                    <a:pt x="7286625" y="0"/>
                  </a:moveTo>
                  <a:lnTo>
                    <a:pt x="7286625" y="419100"/>
                  </a:lnTo>
                  <a:lnTo>
                    <a:pt x="3762375" y="419100"/>
                  </a:lnTo>
                  <a:lnTo>
                    <a:pt x="3762375" y="771525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096000" y="396240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876550" y="4752975"/>
              <a:ext cx="6438900" cy="81915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66334" y="5037772"/>
              <a:ext cx="42593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可解析的物理请求 + 明确的资源预算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00456" y="578739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容量决定能否放下；地址与时序决定怎样服务；峰值带宽限定传输上限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603504" y="6388418"/>
            <a:ext cx="10985754" cy="264033"/>
            <a:chOff x="603504" y="6388418"/>
            <a:chExt cx="10985754" cy="264033"/>
          </a:xfrm>
        </p:grpSpPr>
        <p:sp>
          <p:nvSpPr>
            <p:cNvPr id="24" name="TextBox 24"/>
            <p:cNvSpPr txBox="1"/>
            <p:nvPr/>
          </p:nvSpPr>
          <p:spPr>
            <a:xfrm>
              <a:off x="603504" y="6404610"/>
              <a:ext cx="48100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源码：memory_types.py · physical_contract.py · planner.py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667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3598" y="593408"/>
            <a:ext cx="384848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张量访问到物理地址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456" y="1196340"/>
            <a:ext cx="631850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每条访问都要说明：在哪个端点、访问哪些字节、何时到达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99694" y="2000250"/>
            <a:ext cx="10982706" cy="3809429"/>
            <a:chOff x="599694" y="2000250"/>
            <a:chExt cx="10982706" cy="3809429"/>
          </a:xfrm>
        </p:grpSpPr>
        <p:sp>
          <p:nvSpPr>
            <p:cNvPr id="4" name="TextBox 4"/>
            <p:cNvSpPr txBox="1"/>
            <p:nvPr/>
          </p:nvSpPr>
          <p:spPr>
            <a:xfrm>
              <a:off x="599694" y="21516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权重读取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9694" y="2599372"/>
              <a:ext cx="30061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KV 历史读 / 新 token 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9694" y="3047048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激活与中间结果读写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759708" y="255079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438650" y="2000250"/>
              <a:ext cx="7143750" cy="1638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695444" y="2189798"/>
              <a:ext cx="51649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operation　physical_owner　byte_count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95444" y="2675572"/>
              <a:ext cx="508623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address　或　buffer_id + offset_bytes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96968" y="3155632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分配器解析地址，同时校验容量、分配代次与访问范围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8001000" y="3667125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438650" y="4076700"/>
              <a:ext cx="3181350" cy="1000125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95444" y="4256722"/>
              <a:ext cx="220333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HBM：拆成 burst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96968" y="4660582"/>
              <a:ext cx="23712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映射 lane / bank / row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115300" y="4076700"/>
              <a:ext cx="3467100" cy="1000125"/>
            </a:xfrm>
            <a:prstGeom prst="rect">
              <a:avLst/>
            </a:prstGeom>
            <a:solidFill>
              <a:srgbClr val="FBECD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72094" y="4256722"/>
              <a:ext cx="199807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HBF：拆成 page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73618" y="4660582"/>
              <a:ext cx="28821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映射 channel / plane / page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9694" y="5428298"/>
              <a:ext cx="24217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逻辑字节 ≠ 物理流量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29506" y="5444490"/>
              <a:ext cx="53881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对齐、整 burst、页传输与 RMW 都可能放大流量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3504" y="6388418"/>
            <a:ext cx="10985754" cy="264033"/>
            <a:chOff x="603504" y="6388418"/>
            <a:chExt cx="10985754" cy="264033"/>
          </a:xfrm>
        </p:grpSpPr>
        <p:sp>
          <p:nvSpPr>
            <p:cNvPr id="22" name="TextBox 22"/>
            <p:cNvSpPr txBox="1"/>
            <p:nvPr/>
          </p:nvSpPr>
          <p:spPr>
            <a:xfrm>
              <a:off x="603504" y="6404610"/>
              <a:ext cx="64981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源码：data_motion.py:1151 · memory_mapping.py:172,212 · memory_allocator.py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667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3598" y="593408"/>
            <a:ext cx="462793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HBM 地址映射与并行度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456" y="1196340"/>
            <a:ext cx="653658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地址落在哪个 lane、bank 与 row，决定并行机会和冲突位置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01218" y="2076450"/>
            <a:ext cx="10981182" cy="1811465"/>
            <a:chOff x="601218" y="2076450"/>
            <a:chExt cx="10981182" cy="1811465"/>
          </a:xfrm>
        </p:grpSpPr>
        <p:sp>
          <p:nvSpPr>
            <p:cNvPr id="4" name="Rectangle 4"/>
            <p:cNvSpPr/>
            <p:nvPr/>
          </p:nvSpPr>
          <p:spPr>
            <a:xfrm>
              <a:off x="609600" y="2076450"/>
              <a:ext cx="1809750" cy="1200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39533" y="2332672"/>
              <a:ext cx="74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Stack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447" y="2765108"/>
              <a:ext cx="7560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HBM 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635758" y="245554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200400" y="2076450"/>
              <a:ext cx="2190750" cy="1200150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511821" y="2332672"/>
              <a:ext cx="156790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Channel × 32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735857" y="2765108"/>
              <a:ext cx="11198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HBM4 每堆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69458" y="245554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115050" y="2076450"/>
              <a:ext cx="2209800" cy="1200150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21729" y="2332672"/>
              <a:ext cx="79644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PC × 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82" y="2765108"/>
              <a:ext cx="17715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每个物理 channel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3158" y="245554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048750" y="2076450"/>
              <a:ext cx="2533650" cy="1200150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612107" y="2332672"/>
              <a:ext cx="140693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Bank → Row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82232" y="2765108"/>
              <a:ext cx="2066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含 SID / bank group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1218" y="3565208"/>
              <a:ext cx="60029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SID 已体现在 bank 地址中，容量计算不再重复乘一遍 die 数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99694" y="4313872"/>
            <a:ext cx="8783174" cy="1421893"/>
            <a:chOff x="599694" y="4313872"/>
            <a:chExt cx="8783174" cy="1421893"/>
          </a:xfrm>
        </p:grpSpPr>
        <p:sp>
          <p:nvSpPr>
            <p:cNvPr id="21" name="TextBox 21"/>
            <p:cNvSpPr txBox="1"/>
            <p:nvPr/>
          </p:nvSpPr>
          <p:spPr>
            <a:xfrm>
              <a:off x="599694" y="4313872"/>
              <a:ext cx="230757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bank_interleaved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33494" y="4313872"/>
              <a:ext cx="42199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先分散 lane → bank → column → row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0456" y="4892040"/>
              <a:ext cx="28566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同 SID 内轮换 bank group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31208" y="4827270"/>
              <a:ext cx="367527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 → 8 → 1 → 9 → 2 → 10 → 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35018" y="5413058"/>
              <a:ext cx="50478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示意：每组 8 个 bank；持续访问不再一直落在同组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3504" y="6388418"/>
            <a:ext cx="10985754" cy="264033"/>
            <a:chOff x="603504" y="6388418"/>
            <a:chExt cx="10985754" cy="264033"/>
          </a:xfrm>
        </p:grpSpPr>
        <p:sp>
          <p:nvSpPr>
            <p:cNvPr id="27" name="TextBox 27"/>
            <p:cNvSpPr txBox="1"/>
            <p:nvPr/>
          </p:nvSpPr>
          <p:spPr>
            <a:xfrm>
              <a:off x="603504" y="6404610"/>
              <a:ext cx="66678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源码：hbm_geometry.py:102,137 · memory_mapping.py:18,47 · _hbm_control.py:60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667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3598" y="593408"/>
            <a:ext cx="417988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HBM 的两种控制模式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456" y="1196340"/>
            <a:ext cx="559155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模式决定建模精度；执行加速不会自动改变控制模式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97408" y="2076450"/>
            <a:ext cx="10984992" cy="1219200"/>
            <a:chOff x="597408" y="2076450"/>
            <a:chExt cx="10984992" cy="1219200"/>
          </a:xfrm>
        </p:grpSpPr>
        <p:sp>
          <p:nvSpPr>
            <p:cNvPr id="4" name="TextBox 4"/>
            <p:cNvSpPr txBox="1"/>
            <p:nvPr/>
          </p:nvSpPr>
          <p:spPr>
            <a:xfrm>
              <a:off x="597408" y="2122170"/>
              <a:ext cx="163578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analytical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0456" y="2644140"/>
              <a:ext cx="23225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简化 DRAM 服务模型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4267200" y="2076450"/>
              <a:ext cx="7315200" cy="1219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562094" y="2304098"/>
              <a:ext cx="433808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访问 → 简化行状态 / 传输约束 → 完成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562856" y="2796540"/>
              <a:ext cx="54492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不模拟刷新与 tRAS；不能套用完整命令时序解释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97408" y="3857625"/>
            <a:ext cx="10984992" cy="1638300"/>
            <a:chOff x="597408" y="3857625"/>
            <a:chExt cx="10984992" cy="1638300"/>
          </a:xfrm>
        </p:grpSpPr>
        <p:sp>
          <p:nvSpPr>
            <p:cNvPr id="10" name="TextBox 10"/>
            <p:cNvSpPr txBox="1"/>
            <p:nvPr/>
          </p:nvSpPr>
          <p:spPr>
            <a:xfrm>
              <a:off x="597408" y="3903345"/>
              <a:ext cx="16866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jedec_hbm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442531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显式正常工作命令控制器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267200" y="3857625"/>
              <a:ext cx="7315200" cy="1638300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62094" y="4075748"/>
              <a:ext cx="508177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访问 → ACT / PRE / RD / WR / REF → 完成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62856" y="4558665"/>
              <a:ext cx="42172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行状态、共享命令总线、PC 数据总线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62856" y="5006340"/>
              <a:ext cx="46140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列间隔、ACT 速率、刷新、读写方向切换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00456" y="5768340"/>
            <a:ext cx="837191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后续 HBM 时序图解释 jedec_hbm 路径；范围为正常工作命令，保留模型抽象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03504" y="6388418"/>
            <a:ext cx="10985754" cy="264033"/>
            <a:chOff x="603504" y="6388418"/>
            <a:chExt cx="10985754" cy="264033"/>
          </a:xfrm>
        </p:grpSpPr>
        <p:sp>
          <p:nvSpPr>
            <p:cNvPr id="18" name="TextBox 18"/>
            <p:cNvSpPr txBox="1"/>
            <p:nvPr/>
          </p:nvSpPr>
          <p:spPr>
            <a:xfrm>
              <a:off x="603504" y="6404610"/>
              <a:ext cx="4260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源码：dram_core.py:90,423,483 · _hbm_control.py:1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667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07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3598" y="593408"/>
            <a:ext cx="417988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HBM 行状态与命令链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456" y="1196340"/>
            <a:ext cx="486460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同样的读取字节数，可能经历不同命令与等待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599694" y="2143125"/>
            <a:ext cx="10982706" cy="3573590"/>
            <a:chOff x="599694" y="2143125"/>
            <a:chExt cx="10982706" cy="3573590"/>
          </a:xfrm>
        </p:grpSpPr>
        <p:sp>
          <p:nvSpPr>
            <p:cNvPr id="4" name="TextBox 4"/>
            <p:cNvSpPr txBox="1"/>
            <p:nvPr/>
          </p:nvSpPr>
          <p:spPr>
            <a:xfrm>
              <a:off x="599694" y="2237422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行命中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1218" y="26222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目标行已打开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2647950" y="2143125"/>
              <a:ext cx="1066800" cy="5619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031388" y="2320290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924681" y="2320290"/>
              <a:ext cx="735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RL →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257800" y="2143125"/>
              <a:ext cx="1962150" cy="561975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12841" y="2320290"/>
              <a:ext cx="14520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DQ 数据传输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3105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9694" y="3351848"/>
              <a:ext cx="12339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bank 关闭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1218" y="373665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先打开目标行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647950" y="3276600"/>
              <a:ext cx="1066800" cy="5619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960980" y="3453765"/>
              <a:ext cx="4407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67531" y="3453765"/>
              <a:ext cx="10034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tRCD →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467350" y="3276600"/>
              <a:ext cx="1066800" cy="5619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50788" y="3453765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05981" y="3453765"/>
              <a:ext cx="735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RL →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039100" y="3276600"/>
              <a:ext cx="1962150" cy="561975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94141" y="3453765"/>
              <a:ext cx="14520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DQ 数据传输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42386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9694" y="4494848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行冲突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1218" y="487965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先关旧行，再开新行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647950" y="4419600"/>
              <a:ext cx="895350" cy="5619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75255" y="4596765"/>
              <a:ext cx="4407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68268" y="4612958"/>
              <a:ext cx="7889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tRP →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876800" y="4419600"/>
              <a:ext cx="895350" cy="5619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104105" y="4596765"/>
              <a:ext cx="4407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897118" y="4612958"/>
              <a:ext cx="9198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tRCD →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334250" y="4419600"/>
              <a:ext cx="857250" cy="5619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12913" y="4596765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16468" y="4612958"/>
              <a:ext cx="6739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RL →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525000" y="4419600"/>
              <a:ext cx="2057400" cy="561975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827666" y="4596765"/>
              <a:ext cx="14520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DQ 数据传输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639568" y="5394008"/>
              <a:ext cx="69391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写操作对应 WR / WL；请求完成取所有 burst 数据结束时间的最大值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3504" y="6388418"/>
            <a:ext cx="10985754" cy="264033"/>
            <a:chOff x="603504" y="6388418"/>
            <a:chExt cx="10985754" cy="264033"/>
          </a:xfrm>
        </p:grpSpPr>
        <p:sp>
          <p:nvSpPr>
            <p:cNvPr id="38" name="TextBox 38"/>
            <p:cNvSpPr txBox="1"/>
            <p:nvPr/>
          </p:nvSpPr>
          <p:spPr>
            <a:xfrm>
              <a:off x="603504" y="6404610"/>
              <a:ext cx="71201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源码：_hbm_control.py:145,183,490,547　｜　概念顺序图，非按时长比例；省略精细时钟锚点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9667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08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3598" y="593408"/>
            <a:ext cx="417988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HBM 共享资源时间线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456" y="1196340"/>
            <a:ext cx="63732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同一 channel 的两个 PC 共享命令总线，各自拥有数据总线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00456" y="2047875"/>
            <a:ext cx="10981944" cy="2919984"/>
            <a:chOff x="600456" y="2047875"/>
            <a:chExt cx="10981944" cy="2919984"/>
          </a:xfrm>
        </p:grpSpPr>
        <p:sp>
          <p:nvSpPr>
            <p:cNvPr id="4" name="TextBox 4"/>
            <p:cNvSpPr txBox="1"/>
            <p:nvPr/>
          </p:nvSpPr>
          <p:spPr>
            <a:xfrm>
              <a:off x="600456" y="2129790"/>
              <a:ext cx="15841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Row CA　共享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0456" y="2748915"/>
              <a:ext cx="19113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Column CA　共享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3368040"/>
              <a:ext cx="16184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PC0 DQ　独立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456" y="3987165"/>
              <a:ext cx="16184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PC1 DQ　独立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952750" y="2381250"/>
              <a:ext cx="8629650" cy="9525"/>
            </a:xfrm>
            <a:custGeom>
              <a:avLst/>
              <a:gdLst/>
              <a:ahLst/>
              <a:cxnLst/>
              <a:rect l="l" t="t" r="r" b="b"/>
              <a:pathLst>
                <a:path w="8629650" h="9525">
                  <a:moveTo>
                    <a:pt x="0" y="0"/>
                  </a:moveTo>
                  <a:lnTo>
                    <a:pt x="86296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2952750" y="3000375"/>
              <a:ext cx="8629650" cy="9525"/>
            </a:xfrm>
            <a:custGeom>
              <a:avLst/>
              <a:gdLst/>
              <a:ahLst/>
              <a:cxnLst/>
              <a:rect l="l" t="t" r="r" b="b"/>
              <a:pathLst>
                <a:path w="8629650" h="9525">
                  <a:moveTo>
                    <a:pt x="0" y="0"/>
                  </a:moveTo>
                  <a:lnTo>
                    <a:pt x="86296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952750" y="3619500"/>
              <a:ext cx="8629650" cy="9525"/>
            </a:xfrm>
            <a:custGeom>
              <a:avLst/>
              <a:gdLst/>
              <a:ahLst/>
              <a:cxnLst/>
              <a:rect l="l" t="t" r="r" b="b"/>
              <a:pathLst>
                <a:path w="8629650" h="9525">
                  <a:moveTo>
                    <a:pt x="0" y="0"/>
                  </a:moveTo>
                  <a:lnTo>
                    <a:pt x="86296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952750" y="4238625"/>
              <a:ext cx="8629650" cy="9525"/>
            </a:xfrm>
            <a:custGeom>
              <a:avLst/>
              <a:gdLst/>
              <a:ahLst/>
              <a:cxnLst/>
              <a:rect l="l" t="t" r="r" b="b"/>
              <a:pathLst>
                <a:path w="8629650" h="9525">
                  <a:moveTo>
                    <a:pt x="0" y="0"/>
                  </a:moveTo>
                  <a:lnTo>
                    <a:pt x="86296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3105150" y="2047875"/>
              <a:ext cx="1038225" cy="4095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317748" y="2145982"/>
              <a:ext cx="6035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ACT 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657725" y="2047875"/>
              <a:ext cx="1038225" cy="4095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870323" y="2145982"/>
              <a:ext cx="6035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ACT 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91150" y="2667000"/>
              <a:ext cx="1038225" cy="409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68289" y="2765108"/>
              <a:ext cx="4744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RD 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924675" y="2667000"/>
              <a:ext cx="1038225" cy="409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01814" y="2765108"/>
              <a:ext cx="4744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RD 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524625" y="3286125"/>
              <a:ext cx="2095500" cy="409575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00468" y="3384232"/>
              <a:ext cx="9438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PC0 数据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039100" y="3905250"/>
              <a:ext cx="2095500" cy="409575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14943" y="4003358"/>
              <a:ext cx="9438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PC1 数据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29356" y="4615815"/>
              <a:ext cx="50705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时间向右 →　示意共享与重叠，长短不代表数值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99694" y="5247322"/>
            <a:ext cx="7574661" cy="802767"/>
            <a:chOff x="599694" y="5247322"/>
            <a:chExt cx="7574661" cy="802767"/>
          </a:xfrm>
        </p:grpSpPr>
        <p:sp>
          <p:nvSpPr>
            <p:cNvPr id="26" name="TextBox 26"/>
            <p:cNvSpPr txBox="1"/>
            <p:nvPr/>
          </p:nvSpPr>
          <p:spPr>
            <a:xfrm>
              <a:off x="599694" y="5247322"/>
              <a:ext cx="704849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发射 = 时钟对齐后的 max（请求、bank、总线、时序约束）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1218" y="5727382"/>
              <a:ext cx="75731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tCCD / tRRD / tFAW / 方向切换；前瞻 PRE 与 all_bank 刷新也进入时间线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3504" y="6388418"/>
            <a:ext cx="10985754" cy="264033"/>
            <a:chOff x="603504" y="6388418"/>
            <a:chExt cx="10985754" cy="264033"/>
          </a:xfrm>
        </p:grpSpPr>
        <p:sp>
          <p:nvSpPr>
            <p:cNvPr id="29" name="TextBox 29"/>
            <p:cNvSpPr txBox="1"/>
            <p:nvPr/>
          </p:nvSpPr>
          <p:spPr>
            <a:xfrm>
              <a:off x="603504" y="6404610"/>
              <a:ext cx="683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源码：_hbm_control.py:25,60,121,206,279,569　｜　请求级重排不等于逐命令 FR-FCFS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667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09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3598" y="593408"/>
            <a:ext cx="408579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HBF 几何与资源映射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456" y="1196340"/>
            <a:ext cx="596714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论文原生配置：资源数由 stack / die / plane 几何产生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00456" y="2057400"/>
            <a:ext cx="10981944" cy="1919859"/>
            <a:chOff x="600456" y="2057400"/>
            <a:chExt cx="10981944" cy="1919859"/>
          </a:xfrm>
        </p:grpSpPr>
        <p:sp>
          <p:nvSpPr>
            <p:cNvPr id="4" name="Rectangle 4"/>
            <p:cNvSpPr/>
            <p:nvPr/>
          </p:nvSpPr>
          <p:spPr>
            <a:xfrm>
              <a:off x="609600" y="2057400"/>
              <a:ext cx="1809750" cy="1257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34230" y="2323148"/>
              <a:ext cx="136049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 Stack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73042" y="2774632"/>
              <a:ext cx="12828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一组真实 die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635758" y="247459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200400" y="2057400"/>
              <a:ext cx="2190750" cy="1257300"/>
            </a:xfrm>
            <a:prstGeom prst="rect">
              <a:avLst/>
            </a:prstGeom>
            <a:solidFill>
              <a:srgbClr val="FBECD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911422" y="2323148"/>
              <a:ext cx="76870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16 Die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187884" y="2774632"/>
              <a:ext cx="22157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各自映射内部 channel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69458" y="247459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115050" y="2057400"/>
              <a:ext cx="2209800" cy="1257300"/>
            </a:xfrm>
            <a:prstGeom prst="rect">
              <a:avLst/>
            </a:prstGeom>
            <a:solidFill>
              <a:srgbClr val="FBECDD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351472" y="2323148"/>
              <a:ext cx="17369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25 Plane / Die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23076" y="27746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独立阵列服务资源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3158" y="247459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048750" y="2057400"/>
              <a:ext cx="2533650" cy="1257300"/>
            </a:xfrm>
            <a:prstGeom prst="rect">
              <a:avLst/>
            </a:prstGeom>
            <a:solidFill>
              <a:srgbClr val="FBECD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528172" y="2323148"/>
              <a:ext cx="157480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Block → Page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98047" y="2774632"/>
              <a:ext cx="8350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4 KiB 页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0456" y="3625215"/>
              <a:ext cx="71423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连续页先条带到 die 通道，再轮转 plane，之后推进 block 内 page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97408" y="4531995"/>
            <a:ext cx="10302392" cy="1435989"/>
            <a:chOff x="597408" y="4531995"/>
            <a:chExt cx="10302392" cy="1435989"/>
          </a:xfrm>
        </p:grpSpPr>
        <p:sp>
          <p:nvSpPr>
            <p:cNvPr id="21" name="TextBox 21"/>
            <p:cNvSpPr txBox="1"/>
            <p:nvPr/>
          </p:nvSpPr>
          <p:spPr>
            <a:xfrm>
              <a:off x="597408" y="4531995"/>
              <a:ext cx="215969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 堆 HBF 配置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31208" y="4531995"/>
              <a:ext cx="226984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112 个内部通道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74558" y="4531995"/>
              <a:ext cx="262524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2,800 个阵列单元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34256" y="5073015"/>
              <a:ext cx="6967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 × 16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77606" y="5073015"/>
              <a:ext cx="12419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 × 16 × 25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0456" y="5615940"/>
              <a:ext cx="65123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传输带宽分别限制内部通道和 host 出口，阵列延迟仍然存在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3504" y="6388418"/>
            <a:ext cx="10985754" cy="264033"/>
            <a:chOff x="603504" y="6388418"/>
            <a:chExt cx="10985754" cy="264033"/>
          </a:xfrm>
        </p:grpSpPr>
        <p:sp>
          <p:nvSpPr>
            <p:cNvPr id="28" name="TextBox 28"/>
            <p:cNvSpPr txBox="1"/>
            <p:nvPr/>
          </p:nvSpPr>
          <p:spPr>
            <a:xfrm>
              <a:off x="603504" y="6404610"/>
              <a:ext cx="7709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源码：exploring_hbf_paper_config.py:153,289 · memory_mapping.py:124 · memory_types.py:813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667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3598" y="593408"/>
            <a:ext cx="453384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HBF 读请求的三段服务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456" y="1196340"/>
            <a:ext cx="641543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队列准入 → 按页拆分和映射 → 查询该 plane 的两个读缓冲槽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99694" y="2085022"/>
            <a:ext cx="10982706" cy="1658303"/>
            <a:chOff x="599694" y="2085022"/>
            <a:chExt cx="10982706" cy="1658303"/>
          </a:xfrm>
        </p:grpSpPr>
        <p:sp>
          <p:nvSpPr>
            <p:cNvPr id="4" name="TextBox 4"/>
            <p:cNvSpPr txBox="1"/>
            <p:nvPr/>
          </p:nvSpPr>
          <p:spPr>
            <a:xfrm>
              <a:off x="599694" y="2085022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缓存未命中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09600" y="2600325"/>
              <a:ext cx="3048000" cy="1143000"/>
            </a:xfrm>
            <a:prstGeom prst="rect">
              <a:avLst/>
            </a:prstGeom>
            <a:solidFill>
              <a:srgbClr val="FBECDD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402884" y="2799398"/>
              <a:ext cx="14614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PAGE_READ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00582" y="3253740"/>
              <a:ext cx="16660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plane 阵列读取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912108" y="301752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572000" y="2600325"/>
              <a:ext cx="3048000" cy="1143000"/>
            </a:xfrm>
            <a:prstGeom prst="rect">
              <a:avLst/>
            </a:prstGeom>
            <a:solidFill>
              <a:srgbClr val="FBECD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863663" y="2815590"/>
              <a:ext cx="24646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INTERNAL_TRANSFER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87302" y="3253740"/>
              <a:ext cx="20173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内部通道搬入 slot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74508" y="301752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534400" y="2600325"/>
              <a:ext cx="3048000" cy="114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61293" y="2815590"/>
              <a:ext cx="19942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HOST_TRANSFER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19413" y="3253740"/>
              <a:ext cx="20779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host 出口返回数据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9694" y="4428172"/>
            <a:ext cx="10982706" cy="1549337"/>
            <a:chOff x="599694" y="4428172"/>
            <a:chExt cx="10982706" cy="1549337"/>
          </a:xfrm>
        </p:grpSpPr>
        <p:sp>
          <p:nvSpPr>
            <p:cNvPr id="17" name="TextBox 17"/>
            <p:cNvSpPr txBox="1"/>
            <p:nvPr/>
          </p:nvSpPr>
          <p:spPr>
            <a:xfrm>
              <a:off x="599694" y="4428172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缓存命中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52394" y="4428172"/>
              <a:ext cx="599236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等待 slot.ready 与 host 资源 → HOST_TRANSFER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" y="499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9694" y="5199698"/>
              <a:ext cx="42199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同资源排队，独立资源可按依赖重叠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0456" y="5625465"/>
              <a:ext cx="73241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一条请求的完成时间 = 各页完成时间的最大值；延迟仍包含准入等待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3504" y="6388418"/>
            <a:ext cx="10985754" cy="264033"/>
            <a:chOff x="603504" y="6388418"/>
            <a:chExt cx="10985754" cy="264033"/>
          </a:xfrm>
        </p:grpSpPr>
        <p:sp>
          <p:nvSpPr>
            <p:cNvPr id="23" name="TextBox 23"/>
            <p:cNvSpPr txBox="1"/>
            <p:nvPr/>
          </p:nvSpPr>
          <p:spPr>
            <a:xfrm>
              <a:off x="603504" y="6404610"/>
              <a:ext cx="6934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源码：nand_core.py:537,549,553,1900,1919,1923,1937　｜　generic_nand 双缓冲读路径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667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11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3598" y="593408"/>
            <a:ext cx="395661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每个 plane 的双缓冲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456" y="1196340"/>
            <a:ext cx="51069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填充完成前不可读；旧读者结束前不可覆盖该槽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09600" y="2038350"/>
            <a:ext cx="10972800" cy="2200275"/>
            <a:chOff x="609600" y="2038350"/>
            <a:chExt cx="10972800" cy="2200275"/>
          </a:xfrm>
        </p:grpSpPr>
        <p:sp>
          <p:nvSpPr>
            <p:cNvPr id="4" name="Rectangle 4"/>
            <p:cNvSpPr/>
            <p:nvPr/>
          </p:nvSpPr>
          <p:spPr>
            <a:xfrm>
              <a:off x="609600" y="2486025"/>
              <a:ext cx="2190750" cy="952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76287" y="2685098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阵列与内部通道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30224" y="30794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请求触发填充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2819400" y="2419350"/>
              <a:ext cx="1085850" cy="1343025"/>
            </a:xfrm>
            <a:custGeom>
              <a:avLst/>
              <a:gdLst/>
              <a:ahLst/>
              <a:cxnLst/>
              <a:rect l="l" t="t" r="r" b="b"/>
              <a:pathLst>
                <a:path w="1085850" h="1343025">
                  <a:moveTo>
                    <a:pt x="0" y="542925"/>
                  </a:moveTo>
                  <a:lnTo>
                    <a:pt x="533400" y="542925"/>
                  </a:lnTo>
                  <a:lnTo>
                    <a:pt x="533400" y="0"/>
                  </a:lnTo>
                  <a:lnTo>
                    <a:pt x="1085850" y="0"/>
                  </a:lnTo>
                  <a:moveTo>
                    <a:pt x="533400" y="542925"/>
                  </a:moveTo>
                  <a:lnTo>
                    <a:pt x="533400" y="1343025"/>
                  </a:lnTo>
                  <a:lnTo>
                    <a:pt x="1085850" y="1343025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3924300" y="2038350"/>
              <a:ext cx="3790950" cy="866775"/>
            </a:xfrm>
            <a:prstGeom prst="rect">
              <a:avLst/>
            </a:prstGeom>
            <a:solidFill>
              <a:srgbClr val="FBECDD"/>
            </a:solidFill>
            <a:ln w="19050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162044" y="2189798"/>
              <a:ext cx="80906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Slot 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163568" y="2555558"/>
              <a:ext cx="33597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page 标识 + ready + reader_end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924300" y="3371850"/>
              <a:ext cx="3790950" cy="866775"/>
            </a:xfrm>
            <a:prstGeom prst="rect">
              <a:avLst/>
            </a:prstGeom>
            <a:solidFill>
              <a:srgbClr val="FBECDD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162044" y="3523298"/>
              <a:ext cx="80906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Slot 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63568" y="3889058"/>
              <a:ext cx="33597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page 标识 + ready + reader_end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7734300" y="2419350"/>
              <a:ext cx="1085850" cy="1343025"/>
            </a:xfrm>
            <a:custGeom>
              <a:avLst/>
              <a:gdLst/>
              <a:ahLst/>
              <a:cxnLst/>
              <a:rect l="l" t="t" r="r" b="b"/>
              <a:pathLst>
                <a:path w="1085850" h="1343025">
                  <a:moveTo>
                    <a:pt x="0" y="0"/>
                  </a:moveTo>
                  <a:lnTo>
                    <a:pt x="581025" y="0"/>
                  </a:lnTo>
                  <a:lnTo>
                    <a:pt x="581025" y="542925"/>
                  </a:lnTo>
                  <a:lnTo>
                    <a:pt x="1085850" y="542925"/>
                  </a:lnTo>
                  <a:moveTo>
                    <a:pt x="0" y="1343025"/>
                  </a:moveTo>
                  <a:lnTo>
                    <a:pt x="581025" y="1343025"/>
                  </a:lnTo>
                  <a:lnTo>
                    <a:pt x="581025" y="542925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8839200" y="2486025"/>
              <a:ext cx="2743200" cy="952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81567" y="2685098"/>
              <a:ext cx="205846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HOST_TRANSFER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202864" y="30794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旧读者结束才可覆盖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97408" y="4779645"/>
            <a:ext cx="8099222" cy="1308544"/>
            <a:chOff x="597408" y="4779645"/>
            <a:chExt cx="8099222" cy="1308544"/>
          </a:xfrm>
        </p:grpSpPr>
        <p:sp>
          <p:nvSpPr>
            <p:cNvPr id="19" name="TextBox 19"/>
            <p:cNvSpPr txBox="1"/>
            <p:nvPr/>
          </p:nvSpPr>
          <p:spPr>
            <a:xfrm>
              <a:off x="597408" y="4779645"/>
              <a:ext cx="243756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每堆 3.125 MiB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19219" y="4828222"/>
              <a:ext cx="427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16 × 25 × 2 × 4096 = 3,276,800 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0456" y="5368290"/>
              <a:ext cx="55226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媒体页缓冲与 Plus 的每堆 40 MB 中间 SRAM 分开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1218" y="5765482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填充由读请求驱动；当前基线未建自主预测预取控制器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3504" y="6388418"/>
            <a:ext cx="10985754" cy="264033"/>
            <a:chOff x="603504" y="6388418"/>
            <a:chExt cx="10985754" cy="264033"/>
          </a:xfrm>
        </p:grpSpPr>
        <p:sp>
          <p:nvSpPr>
            <p:cNvPr id="24" name="TextBox 24"/>
            <p:cNvSpPr txBox="1"/>
            <p:nvPr/>
          </p:nvSpPr>
          <p:spPr>
            <a:xfrm>
              <a:off x="603504" y="6404610"/>
              <a:ext cx="65143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源码：nand_core.py:647,666,1900,1925 · exploring_hbf_paper_config.py:276,325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667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12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3598" y="593408"/>
            <a:ext cx="408579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HBF 写入与协议边界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456" y="1196340"/>
            <a:ext cx="55485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完整页写入的完成点，落在 PAGE_PROGRAM 结束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09600" y="2076450"/>
            <a:ext cx="10972800" cy="952500"/>
            <a:chOff x="609600" y="2076450"/>
            <a:chExt cx="10972800" cy="952500"/>
          </a:xfrm>
        </p:grpSpPr>
        <p:sp>
          <p:nvSpPr>
            <p:cNvPr id="4" name="Rectangle 4"/>
            <p:cNvSpPr/>
            <p:nvPr/>
          </p:nvSpPr>
          <p:spPr>
            <a:xfrm>
              <a:off x="609600" y="2076450"/>
              <a:ext cx="3048000" cy="952500"/>
            </a:xfrm>
            <a:prstGeom prst="rect">
              <a:avLst/>
            </a:prstGeom>
            <a:solidFill>
              <a:srgbClr val="FBECDD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36493" y="2282190"/>
              <a:ext cx="19942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HOST_TRANSFER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458849" y="26603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数据进入接口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912108" y="239839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572000" y="2076450"/>
              <a:ext cx="3048000" cy="952500"/>
            </a:xfrm>
            <a:prstGeom prst="rect">
              <a:avLst/>
            </a:prstGeom>
            <a:solidFill>
              <a:srgbClr val="FBECD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863663" y="2282190"/>
              <a:ext cx="24646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INTERNAL_TRANSFER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43372" y="2660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内部搬运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74508" y="239839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534400" y="2076450"/>
              <a:ext cx="3048000" cy="952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08338" y="2282190"/>
              <a:ext cx="19001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PAGE_PROGRAM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50464" y="26603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阵列编程结束才完成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99694" y="3732848"/>
            <a:ext cx="10982706" cy="2393441"/>
            <a:chOff x="599694" y="3732848"/>
            <a:chExt cx="10982706" cy="2393441"/>
          </a:xfrm>
        </p:grpSpPr>
        <p:sp>
          <p:nvSpPr>
            <p:cNvPr id="16" name="TextBox 16"/>
            <p:cNvSpPr txBox="1"/>
            <p:nvPr/>
          </p:nvSpPr>
          <p:spPr>
            <a:xfrm>
              <a:off x="599694" y="3732848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部分页写入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47719" y="3732848"/>
              <a:ext cx="463997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reject　或　付费 read-modify-write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49243" y="4155758"/>
              <a:ext cx="46927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RMW 支付旧页读取、内部搬运与新页 program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9694" y="46662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显式擦除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47719" y="4666298"/>
              <a:ext cx="39836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按物理 block 去重，占用阵列资源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09600" y="52101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9694" y="5409248"/>
              <a:ext cx="360765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论文原生基线：generic_nand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1218" y="5803582"/>
              <a:ext cx="81489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直接地址页服务，无默认 FTL / GC 或自动擦除；OCP 约束属于另一个协议模式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3504" y="6388418"/>
            <a:ext cx="10985754" cy="264033"/>
            <a:chOff x="603504" y="6388418"/>
            <a:chExt cx="10985754" cy="264033"/>
          </a:xfrm>
        </p:grpSpPr>
        <p:sp>
          <p:nvSpPr>
            <p:cNvPr id="25" name="TextBox 25"/>
            <p:cNvSpPr txBox="1"/>
            <p:nvPr/>
          </p:nvSpPr>
          <p:spPr>
            <a:xfrm>
              <a:off x="603504" y="6404610"/>
              <a:ext cx="73866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源码：nand_core.py:1861,1958,1964,1982 · memory_mapping.py:216 · memory_types.py:739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667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13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3598" y="593408"/>
            <a:ext cx="427253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跨端点数据搬运与依赖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456" y="1196340"/>
            <a:ext cx="787847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COPY 展开为源读取、链路传输、目标写入，各自进入物理资源时间线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00456" y="2209800"/>
            <a:ext cx="10981944" cy="1691259"/>
            <a:chOff x="600456" y="2209800"/>
            <a:chExt cx="10981944" cy="1691259"/>
          </a:xfrm>
        </p:grpSpPr>
        <p:sp>
          <p:nvSpPr>
            <p:cNvPr id="4" name="Rectangle 4"/>
            <p:cNvSpPr/>
            <p:nvPr/>
          </p:nvSpPr>
          <p:spPr>
            <a:xfrm>
              <a:off x="609600" y="2209800"/>
              <a:ext cx="3048000" cy="1066800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466121" y="2427922"/>
              <a:ext cx="13349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源 Core 读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25664" y="287940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源介质的时序与流量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912108" y="256984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572000" y="2209800"/>
              <a:ext cx="3048000" cy="1066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561076" y="2427922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链路传输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99126" y="2879408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带宽、共享与排队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74508" y="2569845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534400" y="2209800"/>
              <a:ext cx="3048000" cy="1066800"/>
            </a:xfrm>
            <a:prstGeom prst="rect">
              <a:avLst/>
            </a:prstGeom>
            <a:solidFill>
              <a:srgbClr val="FBECDD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57809" y="2427922"/>
              <a:ext cx="16011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目标 Core 写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28342" y="2879408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目标写完成后才完成搬运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0456" y="354901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独立请求与独立资源可以重叠；同资源按其可用时间等待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99694" y="4361498"/>
            <a:ext cx="8921020" cy="1764791"/>
            <a:chOff x="599694" y="4361498"/>
            <a:chExt cx="8921020" cy="1764791"/>
          </a:xfrm>
        </p:grpSpPr>
        <p:sp>
          <p:nvSpPr>
            <p:cNvPr id="17" name="TextBox 17"/>
            <p:cNvSpPr txBox="1"/>
            <p:nvPr/>
          </p:nvSpPr>
          <p:spPr>
            <a:xfrm>
              <a:off x="599694" y="4361498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同一地址的读写依赖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62119" y="4361498"/>
              <a:ext cx="225262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RAW / WAR / WAW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62881" y="4787265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先写后读、先读后写、连续写必须保留顺序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9694" y="5323522"/>
              <a:ext cx="22964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任务实际 dispatch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62119" y="5323522"/>
              <a:ext cx="47585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提交有状态 Core → 完成事件 → 后继任务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1218" y="5803582"/>
              <a:ext cx="73023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部分原生 kernel 采用计算 / 内存跨度的执行包络，仍属于任务级模型抽象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3504" y="6388418"/>
            <a:ext cx="10985754" cy="264033"/>
            <a:chOff x="603504" y="6388418"/>
            <a:chExt cx="10985754" cy="264033"/>
          </a:xfrm>
        </p:grpSpPr>
        <p:sp>
          <p:nvSpPr>
            <p:cNvPr id="24" name="TextBox 24"/>
            <p:cNvSpPr txBox="1"/>
            <p:nvPr/>
          </p:nvSpPr>
          <p:spPr>
            <a:xfrm>
              <a:off x="603504" y="6404610"/>
              <a:ext cx="75482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源码：data_motion.py:1261,1330,1730,2573 · memory_transfer.py:263 · event_kernel.py:685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667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14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3598" y="593408"/>
            <a:ext cx="384848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输出指标与瓶颈判断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456" y="1196340"/>
            <a:ext cx="51069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把完成时间、字节流量与资源忙碌放在一起阅读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09600" y="2133600"/>
            <a:ext cx="9350902" cy="2668715"/>
            <a:chOff x="609600" y="2133600"/>
            <a:chExt cx="9350902" cy="2668715"/>
          </a:xfrm>
        </p:grpSpPr>
        <p:sp>
          <p:nvSpPr>
            <p:cNvPr id="4" name="Rectangle 4"/>
            <p:cNvSpPr/>
            <p:nvPr/>
          </p:nvSpPr>
          <p:spPr>
            <a:xfrm>
              <a:off x="609600" y="2133600"/>
              <a:ext cx="2571750" cy="2171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25569" y="2417445"/>
              <a:ext cx="15398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Core 结果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20051" y="3015615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完成时间 / 流量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20051" y="3453765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等待 / 资源占用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3209925" y="2381250"/>
              <a:ext cx="1123950" cy="1800225"/>
            </a:xfrm>
            <a:custGeom>
              <a:avLst/>
              <a:gdLst/>
              <a:ahLst/>
              <a:cxnLst/>
              <a:rect l="l" t="t" r="r" b="b"/>
              <a:pathLst>
                <a:path w="1123950" h="1800225">
                  <a:moveTo>
                    <a:pt x="0" y="838200"/>
                  </a:moveTo>
                  <a:lnTo>
                    <a:pt x="504825" y="838200"/>
                  </a:lnTo>
                  <a:lnTo>
                    <a:pt x="504825" y="0"/>
                  </a:lnTo>
                  <a:lnTo>
                    <a:pt x="1123950" y="0"/>
                  </a:lnTo>
                  <a:moveTo>
                    <a:pt x="504825" y="838200"/>
                  </a:moveTo>
                  <a:lnTo>
                    <a:pt x="1123950" y="838200"/>
                  </a:lnTo>
                  <a:moveTo>
                    <a:pt x="504825" y="838200"/>
                  </a:moveTo>
                  <a:lnTo>
                    <a:pt x="504825" y="1800225"/>
                  </a:lnTo>
                  <a:lnTo>
                    <a:pt x="1123950" y="1800225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533519" y="2161222"/>
              <a:ext cx="39445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HBM：行命中 / 冲突与命令计数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35043" y="2546032"/>
              <a:ext cx="45346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ACT / PRE / RD / WR / REF，CA 与 DQ 忙碌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33519" y="3132772"/>
              <a:ext cx="27192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HBF：缓存与三段资源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35043" y="3517582"/>
              <a:ext cx="54254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命中、实际读页 / program、array / internal / host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33519" y="4094798"/>
              <a:ext cx="35248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系统：事件完成与可见 Token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35043" y="4479608"/>
              <a:ext cx="54186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整体 makespan、吞吐、TTFT / TPOT（按统计边界）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99694" y="5256848"/>
            <a:ext cx="9893427" cy="825436"/>
            <a:chOff x="599694" y="5256848"/>
            <a:chExt cx="9893427" cy="825436"/>
          </a:xfrm>
        </p:grpSpPr>
        <p:sp>
          <p:nvSpPr>
            <p:cNvPr id="16" name="TextBox 16"/>
            <p:cNvSpPr txBox="1"/>
            <p:nvPr/>
          </p:nvSpPr>
          <p:spPr>
            <a:xfrm>
              <a:off x="599694" y="5256848"/>
              <a:ext cx="75275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请求延迟 = 完成 − 到达　｜　有效带宽 = 逻辑字节 / 相应时间窗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0456" y="5730240"/>
              <a:ext cx="98926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service_ns 累加的服务跨度可能重叠；资源忙碌看 resource_totals，总耗时看 makespan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3504" y="6388418"/>
            <a:ext cx="10985754" cy="264033"/>
            <a:chOff x="603504" y="6388418"/>
            <a:chExt cx="10985754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603504" y="6404610"/>
              <a:ext cx="73139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源码：memory_types.py:899,911 · memory_service.py:26–84 · reporting.py:632,2113,2174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667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15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3598" y="593408"/>
            <a:ext cx="384848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快速仿真与物理语义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456" y="1196340"/>
            <a:ext cx="559155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降低模拟器执行开销，保留所选模型的物理时序规则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97408" y="2255520"/>
            <a:ext cx="10252710" cy="3226689"/>
            <a:chOff x="597408" y="2255520"/>
            <a:chExt cx="10252710" cy="3226689"/>
          </a:xfrm>
        </p:grpSpPr>
        <p:sp>
          <p:nvSpPr>
            <p:cNvPr id="4" name="TextBox 4"/>
            <p:cNvSpPr txBox="1"/>
            <p:nvPr/>
          </p:nvSpPr>
          <p:spPr>
            <a:xfrm>
              <a:off x="597408" y="2255520"/>
              <a:ext cx="21605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HBM 数值路径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9694" y="2789872"/>
              <a:ext cx="34577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Numba、数组状态、批量提交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322516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仍计算命令约束与资源预约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7408" y="4160520"/>
              <a:ext cx="29687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NAND 逐页编译路径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9694" y="4694872"/>
              <a:ext cx="395744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编译页循环，减少对象和明细开销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0456" y="5130165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保留缓存访问、填充与读者寿命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924550" y="2924175"/>
              <a:ext cx="1181100" cy="1905000"/>
            </a:xfrm>
            <a:custGeom>
              <a:avLst/>
              <a:gdLst/>
              <a:ahLst/>
              <a:cxnLst/>
              <a:rect l="l" t="t" r="r" b="b"/>
              <a:pathLst>
                <a:path w="1181100" h="1905000">
                  <a:moveTo>
                    <a:pt x="0" y="0"/>
                  </a:moveTo>
                  <a:lnTo>
                    <a:pt x="609600" y="0"/>
                  </a:lnTo>
                  <a:lnTo>
                    <a:pt x="609600" y="904875"/>
                  </a:lnTo>
                  <a:lnTo>
                    <a:pt x="1181100" y="904875"/>
                  </a:lnTo>
                  <a:moveTo>
                    <a:pt x="0" y="1905000"/>
                  </a:moveTo>
                  <a:lnTo>
                    <a:pt x="609600" y="1905000"/>
                  </a:lnTo>
                  <a:lnTo>
                    <a:pt x="609600" y="904875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36358" y="3027045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相同的介质模型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38644" y="3589972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同一组输入与资源约束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39406" y="40728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有适用条件，配有语义对照测试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00456" y="5758815"/>
            <a:ext cx="873892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加速路径不适用时执行参考实现；HBM 不会因此从 jedec_hbm 切换到 analytical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03504" y="6388418"/>
            <a:ext cx="10985754" cy="264033"/>
            <a:chOff x="603504" y="6388418"/>
            <a:chExt cx="10985754" cy="264033"/>
          </a:xfrm>
        </p:grpSpPr>
        <p:sp>
          <p:nvSpPr>
            <p:cNvPr id="16" name="TextBox 16"/>
            <p:cNvSpPr txBox="1"/>
            <p:nvPr/>
          </p:nvSpPr>
          <p:spPr>
            <a:xfrm>
              <a:off x="603504" y="6404610"/>
              <a:ext cx="65789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源码：dram_core.py:423,527 · _compiled_hbm.py:92 · _nand_acceleration.py:1,59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667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16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3598" y="593408"/>
            <a:ext cx="342442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一组配置输入示例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0456" y="1196340"/>
            <a:ext cx="728776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项目中的论文原生对照配置；以下是输入参数，未展示本次性能测量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09600" y="2000250"/>
            <a:ext cx="10972800" cy="2590800"/>
            <a:chOff x="609600" y="2000250"/>
            <a:chExt cx="10972800" cy="2590800"/>
          </a:xfrm>
        </p:grpSpPr>
        <p:sp>
          <p:nvSpPr>
            <p:cNvPr id="4" name="Rectangle 4"/>
            <p:cNvSpPr/>
            <p:nvPr/>
          </p:nvSpPr>
          <p:spPr>
            <a:xfrm>
              <a:off x="609600" y="2000250"/>
              <a:ext cx="5105400" cy="2590800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83158" y="2169795"/>
              <a:ext cx="16749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HBM4 配置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85444" y="2732722"/>
              <a:ext cx="190591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堆 HBM / GPU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85444" y="3189922"/>
              <a:ext cx="352034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 / 写接口预算：12.8 TB/s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6206" y="3663315"/>
              <a:ext cx="40379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HBM4 标准参考组织与正常工作时序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6968" y="4079558"/>
              <a:ext cx="26805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采用显式 JEDEC 控制路径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477000" y="2000250"/>
              <a:ext cx="5105400" cy="2590800"/>
            </a:xfrm>
            <a:prstGeom prst="rect">
              <a:avLst/>
            </a:prstGeom>
            <a:solidFill>
              <a:srgbClr val="FBECD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0558" y="2169795"/>
              <a:ext cx="140610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HBF 配置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2844" y="2732722"/>
              <a:ext cx="327888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 堆 HBF + 1 堆 HBM / GPU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52844" y="3189922"/>
              <a:ext cx="39663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HBF 读 11.2 TB/s；写 112 GB/s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53606" y="3663315"/>
              <a:ext cx="30835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读页 1 μs；program 100 μs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54368" y="4079558"/>
              <a:ext cx="32819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16 die × 25 plane / 堆；4 KiB 页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99694" y="5075872"/>
            <a:ext cx="7856220" cy="1088517"/>
            <a:chOff x="599694" y="5075872"/>
            <a:chExt cx="7856220" cy="1088517"/>
          </a:xfrm>
        </p:grpSpPr>
        <p:sp>
          <p:nvSpPr>
            <p:cNvPr id="17" name="TextBox 17"/>
            <p:cNvSpPr txBox="1"/>
            <p:nvPr/>
          </p:nvSpPr>
          <p:spPr>
            <a:xfrm>
              <a:off x="599694" y="5075872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显式研究假设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1218" y="5508308"/>
              <a:ext cx="68112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HBM4 的 tRRD_S / L = 4 / 6 ns、tFAW = 20 ns，借用 HBM3E 参考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1218" y="5841682"/>
              <a:ext cx="78546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NAND：256 页 / block、erase 2 ms、每 die 内部通道 100 GB/s 等为本地选择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3504" y="6388418"/>
            <a:ext cx="10985754" cy="264033"/>
            <a:chOff x="603504" y="6388418"/>
            <a:chExt cx="10985754" cy="264033"/>
          </a:xfrm>
        </p:grpSpPr>
        <p:sp>
          <p:nvSpPr>
            <p:cNvPr id="21" name="TextBox 21"/>
            <p:cNvSpPr txBox="1"/>
            <p:nvPr/>
          </p:nvSpPr>
          <p:spPr>
            <a:xfrm>
              <a:off x="603504" y="6404610"/>
              <a:ext cx="77905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源码：scripts/exploring_hbf_paper_config.py:144,207,232,272　｜　带宽均为聚合上限，非持续吞吐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667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17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3598" y="641033"/>
            <a:ext cx="384848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理解模型的四个抓手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90550" y="1958340"/>
            <a:ext cx="7548281" cy="1384363"/>
            <a:chOff x="590550" y="1958340"/>
            <a:chExt cx="7548281" cy="1384363"/>
          </a:xfrm>
        </p:grpSpPr>
        <p:sp>
          <p:nvSpPr>
            <p:cNvPr id="3" name="TextBox 3"/>
            <p:cNvSpPr txBox="1"/>
            <p:nvPr/>
          </p:nvSpPr>
          <p:spPr>
            <a:xfrm>
              <a:off x="590550" y="1958340"/>
              <a:ext cx="754828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请求 → 地址 → 状态 → 时间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9694" y="2961322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CCD6DF"/>
                  </a:solidFill>
                  <a:latin typeface="+mn-lt"/>
                  <a:ea typeface="+mn-ea"/>
                  <a:cs typeface="+mn-cs"/>
                </a:rPr>
                <a:t>每个性能变化，都应沿这条链路追溯原因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97408" y="3979545"/>
            <a:ext cx="9981438" cy="469392"/>
            <a:chOff x="597408" y="3979545"/>
            <a:chExt cx="9981438" cy="469392"/>
          </a:xfrm>
        </p:grpSpPr>
        <p:sp>
          <p:nvSpPr>
            <p:cNvPr id="6" name="TextBox 6"/>
            <p:cNvSpPr txBox="1"/>
            <p:nvPr/>
          </p:nvSpPr>
          <p:spPr>
            <a:xfrm>
              <a:off x="597408" y="3979545"/>
              <a:ext cx="6875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HBM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114169" y="4028122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CCD6DF"/>
                  </a:solidFill>
                  <a:latin typeface="+mn-lt"/>
                  <a:ea typeface="+mn-ea"/>
                  <a:cs typeface="+mn-cs"/>
                </a:rPr>
                <a:t>行状态、命令与总线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617208" y="3979545"/>
              <a:ext cx="6158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HBF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33944" y="4028122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CCD6DF"/>
                  </a:solidFill>
                  <a:latin typeface="+mn-lt"/>
                  <a:ea typeface="+mn-ea"/>
                  <a:cs typeface="+mn-cs"/>
                </a:rPr>
                <a:t>页、双缓冲与三段传输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5057775"/>
            <a:ext cx="10981182" cy="906590"/>
            <a:chOff x="601218" y="5057775"/>
            <a:chExt cx="10981182" cy="906590"/>
          </a:xfrm>
        </p:grpSpPr>
        <p:sp>
          <p:nvSpPr>
            <p:cNvPr id="11" name="Line 11"/>
            <p:cNvSpPr/>
            <p:nvPr/>
          </p:nvSpPr>
          <p:spPr>
            <a:xfrm>
              <a:off x="609600" y="50577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01218" y="5289232"/>
              <a:ext cx="5680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CCD6DF"/>
                  </a:solidFill>
                  <a:latin typeface="+mn-lt"/>
                  <a:ea typeface="+mn-ea"/>
                  <a:cs typeface="+mn-cs"/>
                </a:rPr>
                <a:t>配置与映射：memory_types.py / memory_mapping.py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1218" y="5641658"/>
              <a:ext cx="85129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CCD6DF"/>
                  </a:solidFill>
                  <a:latin typeface="+mn-lt"/>
                  <a:ea typeface="+mn-ea"/>
                  <a:cs typeface="+mn-cs"/>
                </a:rPr>
                <a:t>介质与系统：_hbm_control.py / nand_core.py / data_motion.py / reporting.py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3504" y="6388418"/>
            <a:ext cx="10985754" cy="264033"/>
            <a:chOff x="603504" y="6388418"/>
            <a:chExt cx="10985754" cy="264033"/>
          </a:xfrm>
        </p:grpSpPr>
        <p:sp>
          <p:nvSpPr>
            <p:cNvPr id="15" name="TextBox 15"/>
            <p:cNvSpPr txBox="1"/>
            <p:nvPr/>
          </p:nvSpPr>
          <p:spPr>
            <a:xfrm>
              <a:off x="603504" y="6404610"/>
              <a:ext cx="48570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D6DF"/>
                  </a:solidFill>
                  <a:latin typeface="+mn-lt"/>
                  <a:ea typeface="+mn-ea"/>
                  <a:cs typeface="+mn-cs"/>
                </a:rPr>
                <a:t>HeteroLLM-Sim　｜　基于当前工作区实现，逐页备注附源码定位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667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CCD6DF"/>
                  </a:solidFill>
                  <a:latin typeface="+mn-lt"/>
                  <a:ea typeface="+mn-ea"/>
                  <a:cs typeface="+mn-cs"/>
                </a:rPr>
                <a:t>18 / 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hbm_hbf_modeling">
  <a:themeElements>
    <a:clrScheme name="hbm_hbf_modeling">
      <a:dk1>
        <a:srgbClr val="11243A"/>
      </a:dk1>
      <a:lt1>
        <a:srgbClr val="F6F8FB"/>
      </a:lt1>
      <a:dk2>
        <a:srgbClr val="11243A"/>
      </a:dk2>
      <a:lt2>
        <a:srgbClr val="F6F8FB"/>
      </a:lt2>
      <a:accent1>
        <a:srgbClr val="007FBA"/>
      </a:accent1>
      <a:accent2>
        <a:srgbClr val="B96628"/>
      </a:accent2>
      <a:accent3>
        <a:srgbClr val="526479"/>
      </a:accent3>
      <a:accent4>
        <a:srgbClr val="007FBA"/>
      </a:accent4>
      <a:accent5>
        <a:srgbClr val="0C1B2B"/>
      </a:accent5>
      <a:accent6>
        <a:srgbClr val="CCD6DF"/>
      </a:accent6>
      <a:hlink>
        <a:srgbClr val="B96628"/>
      </a:hlink>
      <a:folHlink>
        <a:srgbClr val="526479"/>
      </a:folHlink>
    </a:clrScheme>
    <a:fontScheme name="hbm_hbf_modeling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bm_hbf_model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hbm_hbf_modeling">
  <a:themeElements>
    <a:clrScheme name="hbm_hbf_modeling">
      <a:dk1>
        <a:srgbClr val="11243A"/>
      </a:dk1>
      <a:lt1>
        <a:srgbClr val="F6F8FB"/>
      </a:lt1>
      <a:dk2>
        <a:srgbClr val="11243A"/>
      </a:dk2>
      <a:lt2>
        <a:srgbClr val="F6F8FB"/>
      </a:lt2>
      <a:accent1>
        <a:srgbClr val="007FBA"/>
      </a:accent1>
      <a:accent2>
        <a:srgbClr val="B96628"/>
      </a:accent2>
      <a:accent3>
        <a:srgbClr val="526479"/>
      </a:accent3>
      <a:accent4>
        <a:srgbClr val="007FBA"/>
      </a:accent4>
      <a:accent5>
        <a:srgbClr val="0C1B2B"/>
      </a:accent5>
      <a:accent6>
        <a:srgbClr val="CCD6DF"/>
      </a:accent6>
      <a:hlink>
        <a:srgbClr val="B96628"/>
      </a:hlink>
      <a:folHlink>
        <a:srgbClr val="526479"/>
      </a:folHlink>
    </a:clrScheme>
    <a:fontScheme name="hbm_hbf_modeling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bm_hbf_model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2026-10-26T09:11:00Z</dcterms:created>
  <dcterms:modified xsi:type="dcterms:W3CDTF">2026-10-26T09:11:00Z</dcterms:modified>
  <cp:category/>
  <cp:contentStatus/>
</cp:coreProperties>
</file>